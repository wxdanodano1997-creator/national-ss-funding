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ab316af51548f6" /><Relationship Type="http://schemas.openxmlformats.org/officeDocument/2006/relationships/extended-properties" Target="/docProps/app.xml" Id="R89075582108747cb" /><Relationship Type="http://schemas.openxmlformats.org/officeDocument/2006/relationships/officeDocument" Target="/ppt/presentation.xml" Id="R5a47cf23e5ae42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335f4538e241a0"/>
  </p:sldMasterIdLst>
  <p:notesMasterIdLst>
    <p:notesMasterId xmlns:r="http://schemas.openxmlformats.org/officeDocument/2006/relationships" r:id="R1a8ef0db96c34acd"/>
  </p:notesMasterIdLst>
  <p:sldIdLst>
    <p:sldId xmlns:r="http://schemas.openxmlformats.org/officeDocument/2006/relationships" id="256" r:id="R5d7d8e71f8b546f1"/>
    <p:sldId xmlns:r="http://schemas.openxmlformats.org/officeDocument/2006/relationships" id="257" r:id="Rcf283f441e784fcc"/>
    <p:sldId xmlns:r="http://schemas.openxmlformats.org/officeDocument/2006/relationships" id="258" r:id="Rd8056bfb2cfa45f9"/>
    <p:sldId xmlns:r="http://schemas.openxmlformats.org/officeDocument/2006/relationships" id="259" r:id="R6edda8d5e13b497c"/>
    <p:sldId xmlns:r="http://schemas.openxmlformats.org/officeDocument/2006/relationships" id="260" r:id="R33d98e20427f40ef"/>
    <p:sldId xmlns:r="http://schemas.openxmlformats.org/officeDocument/2006/relationships" id="261" r:id="Rc7c2c976a33141b3"/>
    <p:sldId xmlns:r="http://schemas.openxmlformats.org/officeDocument/2006/relationships" id="262" r:id="Re7738163cb3e42ad"/>
    <p:sldId xmlns:r="http://schemas.openxmlformats.org/officeDocument/2006/relationships" id="263" r:id="R48464a0fc4ba4ad1"/>
    <p:sldId xmlns:r="http://schemas.openxmlformats.org/officeDocument/2006/relationships" id="264" r:id="R2b39ac9ba22f491b"/>
    <p:sldId xmlns:r="http://schemas.openxmlformats.org/officeDocument/2006/relationships" id="265" r:id="R76e8b36d92424ce0"/>
    <p:sldId xmlns:r="http://schemas.openxmlformats.org/officeDocument/2006/relationships" id="266" r:id="Rd91b099aa5fc4205"/>
    <p:sldId xmlns:r="http://schemas.openxmlformats.org/officeDocument/2006/relationships" id="267" r:id="R231f719582d84095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7bf830cf034699" /><Relationship Type="http://schemas.openxmlformats.org/officeDocument/2006/relationships/slideMaster" Target="/ppt/slideMasters/slideMaster1.xml" Id="Rdb335f4538e241a0" /><Relationship Type="http://schemas.openxmlformats.org/officeDocument/2006/relationships/notesMaster" Target="/ppt/notesMasters/notesMaster1.xml" Id="R1a8ef0db96c34acd" /><Relationship Type="http://schemas.openxmlformats.org/officeDocument/2006/relationships/presProps" Target="/ppt/presProps.xml" Id="R05030871a1e7418a" /><Relationship Type="http://schemas.openxmlformats.org/officeDocument/2006/relationships/tableStyles" Target="/ppt/tableStyles.xml" Id="R417343f15c084276" /><Relationship Type="http://schemas.openxmlformats.org/officeDocument/2006/relationships/slide" Target="/ppt/slides/slide1.xml" Id="R5d7d8e71f8b546f1" /><Relationship Type="http://schemas.openxmlformats.org/officeDocument/2006/relationships/slide" Target="/ppt/slides/slide2.xml" Id="Rcf283f441e784fcc" /><Relationship Type="http://schemas.openxmlformats.org/officeDocument/2006/relationships/slide" Target="/ppt/slides/slide3.xml" Id="Rd8056bfb2cfa45f9" /><Relationship Type="http://schemas.openxmlformats.org/officeDocument/2006/relationships/slide" Target="/ppt/slides/slide4.xml" Id="R6edda8d5e13b497c" /><Relationship Type="http://schemas.openxmlformats.org/officeDocument/2006/relationships/slide" Target="/ppt/slides/slide5.xml" Id="R33d98e20427f40ef" /><Relationship Type="http://schemas.openxmlformats.org/officeDocument/2006/relationships/slide" Target="/ppt/slides/slide6.xml" Id="Rc7c2c976a33141b3" /><Relationship Type="http://schemas.openxmlformats.org/officeDocument/2006/relationships/slide" Target="/ppt/slides/slide7.xml" Id="Re7738163cb3e42ad" /><Relationship Type="http://schemas.openxmlformats.org/officeDocument/2006/relationships/slide" Target="/ppt/slides/slide8.xml" Id="R48464a0fc4ba4ad1" /><Relationship Type="http://schemas.openxmlformats.org/officeDocument/2006/relationships/slide" Target="/ppt/slides/slide9.xml" Id="R2b39ac9ba22f491b" /><Relationship Type="http://schemas.openxmlformats.org/officeDocument/2006/relationships/slide" Target="/ppt/slides/slide10.xml" Id="R76e8b36d92424ce0" /><Relationship Type="http://schemas.openxmlformats.org/officeDocument/2006/relationships/slide" Target="/ppt/slides/slide11.xml" Id="Rd91b099aa5fc4205" /><Relationship Type="http://schemas.openxmlformats.org/officeDocument/2006/relationships/slide" Target="/ppt/slides/slide12.xml" Id="R231f719582d840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3d30a1b5e447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97675b709447ee" /><Relationship Type="http://schemas.openxmlformats.org/officeDocument/2006/relationships/notesMaster" Target="/ppt/notesMasters/notesMaster1.xml" Id="R2c390bccfe8441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a206e20f76403f" /><Relationship Type="http://schemas.openxmlformats.org/officeDocument/2006/relationships/notesMaster" Target="/ppt/notesMasters/notesMaster1.xml" Id="Re84940eb8e114d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4af06c316149e3" /><Relationship Type="http://schemas.openxmlformats.org/officeDocument/2006/relationships/notesMaster" Target="/ppt/notesMasters/notesMaster1.xml" Id="Rb228665ea45e48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1db2feaedb4fe1" /><Relationship Type="http://schemas.openxmlformats.org/officeDocument/2006/relationships/notesMaster" Target="/ppt/notesMasters/notesMaster1.xml" Id="R03dfd5a360ea46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63911126c24141" /><Relationship Type="http://schemas.openxmlformats.org/officeDocument/2006/relationships/notesMaster" Target="/ppt/notesMasters/notesMaster1.xml" Id="R39ab3acf179543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8e5ed9b8ac4414" /><Relationship Type="http://schemas.openxmlformats.org/officeDocument/2006/relationships/notesMaster" Target="/ppt/notesMasters/notesMaster1.xml" Id="Rf6307879785744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25053f840240dd" /><Relationship Type="http://schemas.openxmlformats.org/officeDocument/2006/relationships/notesMaster" Target="/ppt/notesMasters/notesMaster1.xml" Id="R572fd85b775841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a28d9fd83a4cdc" /><Relationship Type="http://schemas.openxmlformats.org/officeDocument/2006/relationships/notesMaster" Target="/ppt/notesMasters/notesMaster1.xml" Id="Ra65f15b086644d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afb8e5733748e5" /><Relationship Type="http://schemas.openxmlformats.org/officeDocument/2006/relationships/notesMaster" Target="/ppt/notesMasters/notesMaster1.xml" Id="R1fbd1d1f25fb45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b65efd7d36434b" /><Relationship Type="http://schemas.openxmlformats.org/officeDocument/2006/relationships/notesMaster" Target="/ppt/notesMasters/notesMaster1.xml" Id="R992ad1efa87945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7422802d39455e" /><Relationship Type="http://schemas.openxmlformats.org/officeDocument/2006/relationships/notesMaster" Target="/ppt/notesMasters/notesMaster1.xml" Id="Rc3a491e299ac46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a1f9bba67a4802" /><Relationship Type="http://schemas.openxmlformats.org/officeDocument/2006/relationships/notesMaster" Target="/ppt/notesMasters/notesMaster1.xml" Id="R8cff02751cf44e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a809dc36034a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3c75ca32fa4f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214439d9804d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1e0841cf94b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0cac270d8247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c0cdfb6ed42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D05FA9-27D0-48C7-A7A0-1D9A46CB59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E98EE3-5E7E-42CE-AE97-4B480F0D72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33C5A69-A38E-4AF2-85B1-1875DE9321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19B1BD-88A8-4875-B061-FDAAAC4425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82B3F9-4090-4FB2-897D-31100B618F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9EFC04-B818-4698-836C-ECA4A6E094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3D9183-5689-4F75-9149-445D689262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C40DD8F-EE4A-4DC7-B50D-CBCA498D586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75B813-DAF0-4E5F-A434-1CC43FC75A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BE9AF5-D7C9-41C2-BEDA-1B41E5B2A5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64a6ea65114e4d" /><Relationship Type="http://schemas.openxmlformats.org/officeDocument/2006/relationships/slideLayout" Target="/ppt/slideLayouts/slideLayout1.xml" Id="Rf775ae558f414fea" /><Relationship Type="http://schemas.openxmlformats.org/officeDocument/2006/relationships/slideLayout" Target="/ppt/slideLayouts/slideLayout2.xml" Id="Rd633c765be6d4a80" /><Relationship Type="http://schemas.openxmlformats.org/officeDocument/2006/relationships/slideLayout" Target="/ppt/slideLayouts/slideLayout3.xml" Id="R24fa8d86b1dc4e17" /><Relationship Type="http://schemas.openxmlformats.org/officeDocument/2006/relationships/slideLayout" Target="/ppt/slideLayouts/slideLayout4.xml" Id="R476663a716b2493a" /><Relationship Type="http://schemas.openxmlformats.org/officeDocument/2006/relationships/slideLayout" Target="/ppt/slideLayouts/slideLayout5.xml" Id="Rafd76b68447049c4" /><Relationship Type="http://schemas.openxmlformats.org/officeDocument/2006/relationships/slideLayout" Target="/ppt/slideLayouts/slideLayout6.xml" Id="R9b9913bdf73241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75ae558f414fea"/>
    <p:sldLayoutId xmlns:r="http://schemas.openxmlformats.org/officeDocument/2006/relationships" id="2147483650" r:id="Rd633c765be6d4a80"/>
    <p:sldLayoutId xmlns:r="http://schemas.openxmlformats.org/officeDocument/2006/relationships" id="2147483651" r:id="R24fa8d86b1dc4e17"/>
    <p:sldLayoutId xmlns:r="http://schemas.openxmlformats.org/officeDocument/2006/relationships" id="2147483652" r:id="R476663a716b2493a"/>
    <p:sldLayoutId xmlns:r="http://schemas.openxmlformats.org/officeDocument/2006/relationships" id="2147483653" r:id="Rafd76b68447049c4"/>
    <p:sldLayoutId xmlns:r="http://schemas.openxmlformats.org/officeDocument/2006/relationships" id="2147483654" r:id="R9b9913bdf73241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c1908466a44ddc" /><Relationship Type="http://schemas.openxmlformats.org/officeDocument/2006/relationships/notesSlide" Target="/ppt/notesSlides/notesSlide1.xml" Id="R5ef596535ca846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a9ed41a7f4292" /><Relationship Type="http://schemas.openxmlformats.org/officeDocument/2006/relationships/notesSlide" Target="/ppt/notesSlides/notesSlide2.xml" Id="R39b6c11df9c843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ac31f82b704c44" /><Relationship Type="http://schemas.openxmlformats.org/officeDocument/2006/relationships/notesSlide" Target="/ppt/notesSlides/notesSlide3.xml" Id="R46a20b0220e241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6597221170443c" /><Relationship Type="http://schemas.openxmlformats.org/officeDocument/2006/relationships/notesSlide" Target="/ppt/notesSlides/notesSlide4.xml" Id="Rd4a553c8dad04c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f62d3aade4edb" /><Relationship Type="http://schemas.openxmlformats.org/officeDocument/2006/relationships/notesSlide" Target="/ppt/notesSlides/notesSlide5.xml" Id="Rbd6b116db45b42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902ffa56584285" /><Relationship Type="http://schemas.openxmlformats.org/officeDocument/2006/relationships/notesSlide" Target="/ppt/notesSlides/notesSlide6.xml" Id="Rbce1cd03848144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f34b6609f64d2e" /><Relationship Type="http://schemas.openxmlformats.org/officeDocument/2006/relationships/notesSlide" Target="/ppt/notesSlides/notesSlide7.xml" Id="R0669578f551a4d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1ccf142e754482" /><Relationship Type="http://schemas.openxmlformats.org/officeDocument/2006/relationships/notesSlide" Target="/ppt/notesSlides/notesSlide8.xml" Id="R2c089faba3014f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aca91493424222" /><Relationship Type="http://schemas.openxmlformats.org/officeDocument/2006/relationships/notesSlide" Target="/ppt/notesSlides/notesSlide9.xml" Id="Rc3ddf6022f3743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f11fc4d5c04c70" /><Relationship Type="http://schemas.openxmlformats.org/officeDocument/2006/relationships/notesSlide" Target="/ppt/notesSlides/notesSlide10.xml" Id="Re83a492b7b5e40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bb9045b52a48e9" /><Relationship Type="http://schemas.openxmlformats.org/officeDocument/2006/relationships/notesSlide" Target="/ppt/notesSlides/notesSlide11.xml" Id="Rdc229fc5dee14b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15ef7dc1254684" /><Relationship Type="http://schemas.openxmlformats.org/officeDocument/2006/relationships/notesSlide" Target="/ppt/notesSlides/notesSlide12.xml" Id="R8e8341e0c2a844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DD6E2-AB78-4DBD-A8FE-BE65E58E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648AA-ACE6-45CA-902C-31D0E6E8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80250-9EBA-49A2-8E34-51587F9A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‘Did I repeat so many English words?’: Stability of L1 and L2 word association responses over time and across response positions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14A3D-7EFE-456D-8C5A-C4991475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Xin Wang · Ping Zhang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6E930-B276-42E1-9E9E-E84CB911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Lingua 310 (2024) 103804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DOI: 10.1016/j.lingua.2024.103804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0D4F7-D3F8-44DE-8EE4-8EC9B5F3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资助项目：国家社会科学基金（23BYY178）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江苏省教育厅重大项目（2022SJZD126）</a:t>
            </a:r>
          </a:p>
        </p:txBody>
      </p:sp>
    </p:spTree>
    <p:extLst>
      <p:ext uri="{BB962C8B-B14F-4D97-AF65-F5344CB8AC3E}">
        <p14:creationId xmlns:p14="http://schemas.microsoft.com/office/powerpoint/2010/main" val="3259208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43713-968E-4778-B7BC-36D34E04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065BD-279B-49FC-B33C-7115589F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DE437-4CF9-41EA-99B4-7820023E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研究背景与研究空白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25BA2-42CD-4CFB-BD6E-87FF4189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924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研究背景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词汇联想测试（word association test, WAT）常用于比较双语者的母语和二语心理词库。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5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既有研究主要分析反应类型和群体共性，较少追踪同一学习者在不同时间是否产生相同的联想反应。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98301-204D-46AE-B3C5-A879F150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7924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研究空白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6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母语与二语的整体联想稳定性（associative stability, AS）是否存在差异，尚缺少直接比较。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6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两种语言的稳定性是否在个体层面和刺激词层面呈现一致关系，尚不清楚。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6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连续词汇联想任务中，不同反应位置的稳定性变化及其跨语言差异，尚未得到系统检验。</a:t>
            </a:r>
          </a:p>
        </p:txBody>
      </p:sp>
    </p:spTree>
    <p:extLst>
      <p:ext uri="{BB962C8B-B14F-4D97-AF65-F5344CB8AC3E}">
        <p14:creationId xmlns:p14="http://schemas.microsoft.com/office/powerpoint/2010/main" val="615011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189A1-8DA0-4089-9415-8057BF4B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0AFA4-761D-4870-8779-A15F830F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43EAD-6798-49F3-8822-1AB85C25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69100-9C21-4BFB-B46D-B2EFDB69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9248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40000"/>
              </a:lnSpc>
              <a:spcAft>
                <a:spcPts val="20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</a:t>
            </a: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母语与二语的整体联想稳定性是否存在差异？</a:t>
            </a:r>
          </a:p>
          <a:p xmlns:a="http://schemas.openxmlformats.org/drawingml/2006/main">
            <a:pPr>
              <a:lnSpc>
                <a:spcPct val="140000"/>
              </a:lnSpc>
              <a:spcAft>
                <a:spcPts val="20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</a:t>
            </a: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母语与二语的联想稳定性在被试层面和刺激词层面是否相关？</a:t>
            </a:r>
          </a:p>
          <a:p xmlns:a="http://schemas.openxmlformats.org/drawingml/2006/main">
            <a:pPr>
              <a:lnSpc>
                <a:spcPct val="140000"/>
              </a:lnSpc>
              <a:spcAft>
                <a:spcPts val="20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</a:t>
            </a: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反应位置是否影响母语与二语的联想稳定性？</a:t>
            </a:r>
          </a:p>
        </p:txBody>
      </p:sp>
    </p:spTree>
    <p:extLst>
      <p:ext uri="{BB962C8B-B14F-4D97-AF65-F5344CB8AC3E}">
        <p14:creationId xmlns:p14="http://schemas.microsoft.com/office/powerpoint/2010/main" val="1786742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AC12F-8771-424B-BA0E-698B0733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C39DA-D0F8-4EB2-B249-007928EC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E414D-FE87-4B71-AD18-A05D20E3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参与者与实验材料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49DF1-7017-4855-B36A-674C9F90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924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参与者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招募40名本科生，来自中国西南和中部地区3所高校，平均年龄19.73岁。参与者均为英语或英语教育专业，已通过大学英语四级，平均英语学习年限为12.10年，无海外学习经历。1名参与者在第二轮退出，最终有效样本为39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309B1-44B1-47AB-A7B1-31DDE2A1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7924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实验材料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采用30组汉英翻译对应的高频刺激词，覆盖名词、动词和形容词，并平衡具体词与抽象词。英语刺激词选自高频词表，词长控制在3至10个字母；汉语刺激词依据三部英汉词典确定。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示例：kitchen / 厨房，smile / 微笑，value / 价值。</a:t>
            </a:r>
          </a:p>
        </p:txBody>
      </p:sp>
    </p:spTree>
    <p:extLst>
      <p:ext uri="{BB962C8B-B14F-4D97-AF65-F5344CB8AC3E}">
        <p14:creationId xmlns:p14="http://schemas.microsoft.com/office/powerpoint/2010/main" val="9493339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61EBA-BE3E-499F-A176-47C6ADEF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D9940-92D1-4BE3-9822-670C40E2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DB588-4CBA-41ED-9F60-AE151CEE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实验任务与过程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27849-DC8E-496D-B025-76CA8309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9248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连续词汇联想任务（continuous WAT）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在线程序逐个呈现30个刺激词。参与者针对每个刺激词输入最先想到的3个同语种反应词。任务不设时间限制，但要求尽快作答；所有任务均通过手机完成。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0E18C-22EE-4516-A65D-38AAA25D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7924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测试安排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第一轮包含一次中文任务和一次英文任务，两次相隔1周；1周后开始第二轮，并以相同的测试时间、刺激词顺序和指导语重测两种语言。对同一语言而言，两次测试间隔2周。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参与者事先不知道第二轮会重复相同任务，以减少有意识记忆和作答策略的影响。</a:t>
            </a:r>
          </a:p>
        </p:txBody>
      </p:sp>
    </p:spTree>
    <p:extLst>
      <p:ext uri="{BB962C8B-B14F-4D97-AF65-F5344CB8AC3E}">
        <p14:creationId xmlns:p14="http://schemas.microsoft.com/office/powerpoint/2010/main" val="1290584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5E22D-8209-4829-82BA-82426C2C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7E3FB-96D1-4141-8841-E5BADF28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C2607-3B19-4134-87EB-FD77DC5D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测量指标与数据分析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FA072-2612-482D-9BA6-B20AAE93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9248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联想稳定性（associative stability, AS）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同一刺激词在两次测试中重复出现的反应比例，即重复反应数除以总反应数。分析前对反应词进行词形还原并校正明显拼写错误。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09A92-CCFB-43F7-88DB-11129091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7924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数据分析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分别以被试和刺激词为分析单位。整体差异采用独立样本 t 检验；跨语言关系采用 Pearson 相关。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针对3个反应位置，分别在被试层面和刺激词层面检验语言、反应位置及其交互作用；必要时采用 Welch 方差分析和 Tukey 事后比较。统计分析使用 R 4.1.2。</a:t>
            </a:r>
          </a:p>
        </p:txBody>
      </p:sp>
    </p:spTree>
    <p:extLst>
      <p:ext uri="{BB962C8B-B14F-4D97-AF65-F5344CB8AC3E}">
        <p14:creationId xmlns:p14="http://schemas.microsoft.com/office/powerpoint/2010/main" val="2116378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66A27-1089-4206-93EA-3906BF3A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9D15F-6E70-45DA-84FC-0374F0A0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88D32-4AB6-4590-873B-6FE46F8E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主要结果：总体联想稳定性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4DC1C-3903-4CA6-89E7-F26CCE317469}"/>
              </a:ext>
            </a:extLst>
          </p:cNvPr>
          <p:cNvGraphicFramePr/>
          <p:nvPr/>
        </p:nvGraphicFramePr>
        <p:xfrm>
          <a:off xmlns:a="http://schemas.openxmlformats.org/drawingml/2006/main" x="457200" y="1257300"/>
          <a:ext xmlns:a="http://schemas.openxmlformats.org/drawingml/2006/main" cx="82296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14450"/>
                <a:gridCol w="1790700"/>
                <a:gridCol w="1790700"/>
                <a:gridCol w="1000125"/>
                <a:gridCol w="2333625"/>
              </a:tblGrid>
              <a:tr h="5397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分析层面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母语中文 M（SD）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二语英语 M（SD）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差值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显著性与效应量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被试层面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31.74（10.46）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39.09（10.86）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+7.35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p &lt; .01，d = .703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刺激词层面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62.68（6.76）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68.55（5.37）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+5.87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p &lt; .001，d = .868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54D11-8ECB-488F-9349-E61775A7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792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二语联想反应的重复率显著高于母语；刺激词层面的稳定性高于个体层面。</a:t>
            </a:r>
          </a:p>
        </p:txBody>
      </p:sp>
    </p:spTree>
    <p:extLst>
      <p:ext uri="{BB962C8B-B14F-4D97-AF65-F5344CB8AC3E}">
        <p14:creationId xmlns:p14="http://schemas.microsoft.com/office/powerpoint/2010/main" val="11820023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6F63E-7E0F-4EEE-B0D0-25063F4D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3CBE7-72ED-452D-81AF-68DA138C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9AA43-ACFA-440A-B6C1-A8B8B178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主要结果：母语与二语的相关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4E7B3-D07F-4C0A-AEF0-050CD16A6D47}"/>
              </a:ext>
            </a:extLst>
          </p:cNvPr>
          <p:cNvGraphicFramePr/>
          <p:nvPr/>
        </p:nvGraphicFramePr>
        <p:xfrm>
          <a:off xmlns:a="http://schemas.openxmlformats.org/drawingml/2006/main" x="762000" y="1257300"/>
          <a:ext xmlns:a="http://schemas.openxmlformats.org/drawingml/2006/main" cx="76200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1000125"/>
                <a:gridCol w="1095375"/>
                <a:gridCol w="2000250"/>
                <a:gridCol w="1905000"/>
              </a:tblGrid>
              <a:tr h="53975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分析层面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95% CI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结果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被试层面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.636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&lt; .001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[.400, .792]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显著正相关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刺激词层面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.155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.414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[-.218, .488]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不显著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F8E97-1F7F-41A3-AD06-2F6C96AC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7924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个体在母语中表现出的稳定或不稳定倾向，会在二语中同步出现；翻译对应的刺激词则不一定具有相近的稳定性。</a:t>
            </a:r>
          </a:p>
        </p:txBody>
      </p:sp>
    </p:spTree>
    <p:extLst>
      <p:ext uri="{BB962C8B-B14F-4D97-AF65-F5344CB8AC3E}">
        <p14:creationId xmlns:p14="http://schemas.microsoft.com/office/powerpoint/2010/main" val="3603818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83267-0395-4808-AC6E-55D7AB4C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0E70B-0FFD-4DFC-A5E6-187B10CB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BACE7-20F3-4328-BF99-2929BD2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主要结果：反应位置效应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E57D3-DFC2-4446-9495-3CF0A0952E76}"/>
              </a:ext>
            </a:extLst>
          </p:cNvPr>
          <p:cNvGraphicFramePr/>
          <p:nvPr/>
        </p:nvGraphicFramePr>
        <p:xfrm>
          <a:off xmlns:a="http://schemas.openxmlformats.org/drawingml/2006/main" x="723900" y="1123950"/>
          <a:ext xmlns:a="http://schemas.openxmlformats.org/drawingml/2006/main" cx="76962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028700"/>
                <a:gridCol w="1647825"/>
                <a:gridCol w="1647825"/>
                <a:gridCol w="165735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分析层面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语言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第一反应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第二反应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第三反应</a:t>
                      </a:r>
                    </a:p>
                  </a:txBody>
                  <a:tcPr marL="57150" marR="57150" marT="47625" marB="47625" anchor="ctr">
                    <a:solidFill>
                      <a:srgbClr val="1B3A5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被试层面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母语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33.50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12.73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6.67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被试层面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二语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38.72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15.73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8.46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刺激词层面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母语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64.96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44.27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31.37</a:t>
                      </a:r>
                    </a:p>
                  </a:txBody>
                  <a:tcPr marL="57150" marR="57150" marT="47625" marB="47625" anchor="ctr">
                    <a:solidFill>
                      <a:srgbClr val="EAF2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刺激词层面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二语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70.34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52.74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37.69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1D8D0-13CA-403D-A95D-AB18663B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792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两个层面均呈现第一反应 &gt; 第二反应 &gt; 第三反应。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反应位置主效应显著（p &lt; .001），语言主效应和交互作用均不显著。</a:t>
            </a:r>
          </a:p>
        </p:txBody>
      </p:sp>
    </p:spTree>
    <p:extLst>
      <p:ext uri="{BB962C8B-B14F-4D97-AF65-F5344CB8AC3E}">
        <p14:creationId xmlns:p14="http://schemas.microsoft.com/office/powerpoint/2010/main" val="5931227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74B7B-F5A4-4707-8DBF-80DC12EF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6DE8E-6BB7-4D78-8750-AFA3CD34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59960-93E5-45E4-A23C-3A7DC35E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结果解释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519EA-78DD-477F-8181-20D4D40A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9248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二语稳定性更高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研究者认为，二语词汇量相对较小，语义连接较少或较弱，少数较早建立的表征更容易在两次测试中反复被激活。母语词汇网络中的可竞争反应更多，因此重复率较低。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ED08E-C4BF-46F8-99F8-F2D75C3C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792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反应位置效应与个体一致性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随着联想过程继续，激活逐步扩散到较弱、个人化程度更高的联系，反应稳定性从第一位置到第三位置持续下降。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被试层面的跨语言相关说明，个体的联想稳定倾向可能与个人的词汇组织方式或作答策略有关。</a:t>
            </a:r>
          </a:p>
        </p:txBody>
      </p:sp>
    </p:spTree>
    <p:extLst>
      <p:ext uri="{BB962C8B-B14F-4D97-AF65-F5344CB8AC3E}">
        <p14:creationId xmlns:p14="http://schemas.microsoft.com/office/powerpoint/2010/main" val="4685433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98B9A-C10D-41A6-8868-394EB274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50C6D-DAFF-4269-89D5-AE1DC030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B7487-1BA8-4F3C-8AC0-C91046ED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研究贡献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1A5B9-FE3B-4D91-A1DF-1446DC42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9248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方法与证据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研究在同一批双语学习者中直接比较母语和二语的联想稳定性，并同时采用被试分析和刺激词分析。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连续词汇联想任务进一步揭示了不同反应位置的稳定性差异，补充了只分析首个反应的研究。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EC948-C03C-42ED-B51F-A649DE2D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7924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理论意义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联想稳定性可以作为观察语义表征可及性的指标。研究结果既显示母语与二语词汇组织的差异，也显示同一个体在两种语言中的联想行为具有一致性。</a:t>
            </a:r>
          </a:p>
        </p:txBody>
      </p:sp>
    </p:spTree>
    <p:extLst>
      <p:ext uri="{BB962C8B-B14F-4D97-AF65-F5344CB8AC3E}">
        <p14:creationId xmlns:p14="http://schemas.microsoft.com/office/powerpoint/2010/main" val="14801886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E3879-9BD6-4177-B66C-5426E492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50643-39D8-4D95-9542-B2F524D8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BEF23-97D6-4D42-B6A3-1B86A7C8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结论与研究局限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4635F-BD6E-4C7A-AEF1-9BAEB8A0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924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主要结论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二语联想稳定性高于母语；个体层面的母语与二语稳定性显著相关；两种语言的稳定性均从第一反应到第三反应显著下降。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A040F-83DB-4275-8D83-2C42D689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7924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研究局限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研究只考察了2周的重测间隔，尚不能说明更长时间尺度下的稳定性。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刺激词均为高频词，结果能否推广到低频词仍需验证。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7"/>
              </a:spcAft>
              <a:buNone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研究尚未比较稳定反应和不稳定反应的语义关系类型。</a:t>
            </a:r>
          </a:p>
        </p:txBody>
      </p:sp>
    </p:spTree>
    <p:extLst>
      <p:ext uri="{BB962C8B-B14F-4D97-AF65-F5344CB8AC3E}">
        <p14:creationId xmlns:p14="http://schemas.microsoft.com/office/powerpoint/2010/main" val="437000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2026-10-10T11:05:59.0600000Z</dcterms:created>
  <dcterms:modified xsi:type="dcterms:W3CDTF">2026-10-10T11:05:59.0600000Z</dcterms:modified>
</coreProperties>
</file>