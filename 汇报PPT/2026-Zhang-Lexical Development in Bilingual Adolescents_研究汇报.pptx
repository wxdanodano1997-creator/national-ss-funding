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916170b94c45cb" /><Relationship Type="http://schemas.openxmlformats.org/officeDocument/2006/relationships/extended-properties" Target="/docProps/app.xml" Id="R65c5b61d984442e8" /><Relationship Type="http://schemas.openxmlformats.org/officeDocument/2006/relationships/officeDocument" Target="/ppt/presentation.xml" Id="R983f4f4b82e141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733a9b74364f55"/>
  </p:sldMasterIdLst>
  <p:notesMasterIdLst>
    <p:notesMasterId xmlns:r="http://schemas.openxmlformats.org/officeDocument/2006/relationships" r:id="R95a0dce0a46c4c67"/>
  </p:notesMasterIdLst>
  <p:sldIdLst>
    <p:sldId xmlns:r="http://schemas.openxmlformats.org/officeDocument/2006/relationships" id="256" r:id="R0af3e36cfba44a74"/>
    <p:sldId xmlns:r="http://schemas.openxmlformats.org/officeDocument/2006/relationships" id="257" r:id="R89ce23486be4484f"/>
    <p:sldId xmlns:r="http://schemas.openxmlformats.org/officeDocument/2006/relationships" id="258" r:id="R02da4769c4694daf"/>
    <p:sldId xmlns:r="http://schemas.openxmlformats.org/officeDocument/2006/relationships" id="259" r:id="R9999c282d29e4b4a"/>
    <p:sldId xmlns:r="http://schemas.openxmlformats.org/officeDocument/2006/relationships" id="260" r:id="R892604ae68dc4737"/>
    <p:sldId xmlns:r="http://schemas.openxmlformats.org/officeDocument/2006/relationships" id="261" r:id="R6d0bf7120d2f4110"/>
    <p:sldId xmlns:r="http://schemas.openxmlformats.org/officeDocument/2006/relationships" id="262" r:id="R6592f3158fab4030"/>
    <p:sldId xmlns:r="http://schemas.openxmlformats.org/officeDocument/2006/relationships" id="263" r:id="R5076a189c96a45f8"/>
    <p:sldId xmlns:r="http://schemas.openxmlformats.org/officeDocument/2006/relationships" id="264" r:id="Re3f8d1b5da5343a6"/>
    <p:sldId xmlns:r="http://schemas.openxmlformats.org/officeDocument/2006/relationships" id="265" r:id="Rb6c8383e53cc4c11"/>
    <p:sldId xmlns:r="http://schemas.openxmlformats.org/officeDocument/2006/relationships" id="266" r:id="R4c9389d4742f468d"/>
    <p:sldId xmlns:r="http://schemas.openxmlformats.org/officeDocument/2006/relationships" id="267" r:id="R72d53b6d09974842"/>
    <p:sldId xmlns:r="http://schemas.openxmlformats.org/officeDocument/2006/relationships" id="268" r:id="R4a6392ca3dd147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ba8faabe5c4fb6" /><Relationship Type="http://schemas.openxmlformats.org/officeDocument/2006/relationships/slideMaster" Target="/ppt/slideMasters/slideMaster1.xml" Id="R4e733a9b74364f55" /><Relationship Type="http://schemas.openxmlformats.org/officeDocument/2006/relationships/notesMaster" Target="/ppt/notesMasters/notesMaster1.xml" Id="R95a0dce0a46c4c67" /><Relationship Type="http://schemas.openxmlformats.org/officeDocument/2006/relationships/presProps" Target="/ppt/presProps.xml" Id="R2a35c377f2624c5c" /><Relationship Type="http://schemas.openxmlformats.org/officeDocument/2006/relationships/viewProps" Target="/ppt/viewProps.xml" Id="R6e74b684bda54060" /><Relationship Type="http://schemas.openxmlformats.org/officeDocument/2006/relationships/tableStyles" Target="/ppt/tableStyles.xml" Id="R4b4e9102a61148f6" /><Relationship Type="http://schemas.openxmlformats.org/officeDocument/2006/relationships/slide" Target="/ppt/slides/slide1.xml" Id="R0af3e36cfba44a74" /><Relationship Type="http://schemas.openxmlformats.org/officeDocument/2006/relationships/slide" Target="/ppt/slides/slide2.xml" Id="R89ce23486be4484f" /><Relationship Type="http://schemas.openxmlformats.org/officeDocument/2006/relationships/slide" Target="/ppt/slides/slide3.xml" Id="R02da4769c4694daf" /><Relationship Type="http://schemas.openxmlformats.org/officeDocument/2006/relationships/slide" Target="/ppt/slides/slide4.xml" Id="R9999c282d29e4b4a" /><Relationship Type="http://schemas.openxmlformats.org/officeDocument/2006/relationships/slide" Target="/ppt/slides/slide5.xml" Id="R892604ae68dc4737" /><Relationship Type="http://schemas.openxmlformats.org/officeDocument/2006/relationships/slide" Target="/ppt/slides/slide6.xml" Id="R6d0bf7120d2f4110" /><Relationship Type="http://schemas.openxmlformats.org/officeDocument/2006/relationships/slide" Target="/ppt/slides/slide7.xml" Id="R6592f3158fab4030" /><Relationship Type="http://schemas.openxmlformats.org/officeDocument/2006/relationships/slide" Target="/ppt/slides/slide8.xml" Id="R5076a189c96a45f8" /><Relationship Type="http://schemas.openxmlformats.org/officeDocument/2006/relationships/slide" Target="/ppt/slides/slide9.xml" Id="Re3f8d1b5da5343a6" /><Relationship Type="http://schemas.openxmlformats.org/officeDocument/2006/relationships/slide" Target="/ppt/slides/slide10.xml" Id="Rb6c8383e53cc4c11" /><Relationship Type="http://schemas.openxmlformats.org/officeDocument/2006/relationships/slide" Target="/ppt/slides/slide11.xml" Id="R4c9389d4742f468d" /><Relationship Type="http://schemas.openxmlformats.org/officeDocument/2006/relationships/slide" Target="/ppt/slides/slide12.xml" Id="R72d53b6d09974842" /><Relationship Type="http://schemas.openxmlformats.org/officeDocument/2006/relationships/slide" Target="/ppt/slides/slide13.xml" Id="R4a6392ca3dd147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34b0e969f4e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45a11389214659" /><Relationship Type="http://schemas.openxmlformats.org/officeDocument/2006/relationships/notesMaster" Target="/ppt/notesMasters/notesMaster1.xml" Id="Rbd1f5d71df8442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5b5c10d5249cf" /><Relationship Type="http://schemas.openxmlformats.org/officeDocument/2006/relationships/notesMaster" Target="/ppt/notesMasters/notesMaster1.xml" Id="R20e538de127049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08b80533a34c25" /><Relationship Type="http://schemas.openxmlformats.org/officeDocument/2006/relationships/notesMaster" Target="/ppt/notesMasters/notesMaster1.xml" Id="Rc5507c843fb34f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41a5f21dd04485" /><Relationship Type="http://schemas.openxmlformats.org/officeDocument/2006/relationships/notesMaster" Target="/ppt/notesMasters/notesMaster1.xml" Id="R37fa77f21ec047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fc635dae8f49f6" /><Relationship Type="http://schemas.openxmlformats.org/officeDocument/2006/relationships/notesMaster" Target="/ppt/notesMasters/notesMaster1.xml" Id="R02753eaafb0c42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93029f01a94b72" /><Relationship Type="http://schemas.openxmlformats.org/officeDocument/2006/relationships/notesMaster" Target="/ppt/notesMasters/notesMaster1.xml" Id="R1c703324e4b44a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cb8eab8f3a4aad" /><Relationship Type="http://schemas.openxmlformats.org/officeDocument/2006/relationships/notesMaster" Target="/ppt/notesMasters/notesMaster1.xml" Id="Rde914eb7326b4b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ea0bdf5cf2424e" /><Relationship Type="http://schemas.openxmlformats.org/officeDocument/2006/relationships/notesMaster" Target="/ppt/notesMasters/notesMaster1.xml" Id="R8512e431588e4c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6a1147859e461a" /><Relationship Type="http://schemas.openxmlformats.org/officeDocument/2006/relationships/notesMaster" Target="/ppt/notesMasters/notesMaster1.xml" Id="R505abccc2faa42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ad244a96f34f52" /><Relationship Type="http://schemas.openxmlformats.org/officeDocument/2006/relationships/notesMaster" Target="/ppt/notesMasters/notesMaster1.xml" Id="Rcdc9afb2471742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c0c4e5b5ee41fe" /><Relationship Type="http://schemas.openxmlformats.org/officeDocument/2006/relationships/notesMaster" Target="/ppt/notesMasters/notesMaster1.xml" Id="Rab8ce2852a8840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fcf99f098f4038" /><Relationship Type="http://schemas.openxmlformats.org/officeDocument/2006/relationships/notesMaster" Target="/ppt/notesMasters/notesMaster1.xml" Id="R93c023fa2fa54a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bbc7ce51cc4495" /><Relationship Type="http://schemas.openxmlformats.org/officeDocument/2006/relationships/notesMaster" Target="/ppt/notesMasters/notesMaster1.xml" Id="Rf66e1604735341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b39577ef8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da8195134544d7" /><Relationship Type="http://schemas.openxmlformats.org/officeDocument/2006/relationships/slideLayout" Target="/ppt/slideLayouts/slideLayout1.xml" Id="R3ccefffd2b74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cefffd2b74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34253eb9e48aa" /><Relationship Type="http://schemas.openxmlformats.org/officeDocument/2006/relationships/notesSlide" Target="/ppt/notesSlides/notesSlide1.xml" Id="R7851798cff8341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7b57912324bbc" /><Relationship Type="http://schemas.openxmlformats.org/officeDocument/2006/relationships/notesSlide" Target="/ppt/notesSlides/notesSlide2.xml" Id="Rd5df404cbd504a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e7cae7c6a483b" /><Relationship Type="http://schemas.openxmlformats.org/officeDocument/2006/relationships/notesSlide" Target="/ppt/notesSlides/notesSlide3.xml" Id="Re61959603b7c4f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7b91cd86e4358" /><Relationship Type="http://schemas.openxmlformats.org/officeDocument/2006/relationships/notesSlide" Target="/ppt/notesSlides/notesSlide4.xml" Id="R46bf00ab1a7045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67357630c4505" /><Relationship Type="http://schemas.openxmlformats.org/officeDocument/2006/relationships/notesSlide" Target="/ppt/notesSlides/notesSlide5.xml" Id="R00fb2d4d113c48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d59c6284d4900" /><Relationship Type="http://schemas.openxmlformats.org/officeDocument/2006/relationships/notesSlide" Target="/ppt/notesSlides/notesSlide6.xml" Id="R056ab1eab1f246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ccc4208f04efc" /><Relationship Type="http://schemas.openxmlformats.org/officeDocument/2006/relationships/notesSlide" Target="/ppt/notesSlides/notesSlide7.xml" Id="R490a6383a38546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34fff9baa4392" /><Relationship Type="http://schemas.openxmlformats.org/officeDocument/2006/relationships/chart" Target="/ppt/slides/charts/chart1.xml" Id="R7a607a6053684c5f" /><Relationship Type="http://schemas.openxmlformats.org/officeDocument/2006/relationships/notesSlide" Target="/ppt/notesSlides/notesSlide8.xml" Id="R8d6296e6959f4e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f809d880e452c" /><Relationship Type="http://schemas.openxmlformats.org/officeDocument/2006/relationships/notesSlide" Target="/ppt/notesSlides/notesSlide9.xml" Id="Re9c005bf08bc4c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f15b2c9974ddd" /><Relationship Type="http://schemas.openxmlformats.org/officeDocument/2006/relationships/chart" Target="/ppt/slides/charts/chart2.xml" Id="Raf5d66e4ad9a4954" /><Relationship Type="http://schemas.openxmlformats.org/officeDocument/2006/relationships/notesSlide" Target="/ppt/notesSlides/notesSlide10.xml" Id="R43652a3f5e6248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e038808e64734" /><Relationship Type="http://schemas.openxmlformats.org/officeDocument/2006/relationships/notesSlide" Target="/ppt/notesSlides/notesSlide11.xml" Id="R30741b13c26143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3131ccc8a4a4b" /><Relationship Type="http://schemas.openxmlformats.org/officeDocument/2006/relationships/notesSlide" Target="/ppt/notesSlides/notesSlide12.xml" Id="R0c8f2f2fd1ce49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88378536c4aa3" /><Relationship Type="http://schemas.openxmlformats.org/officeDocument/2006/relationships/notesSlide" Target="/ppt/notesSlides/notesSlide13.xml" Id="R7e612a0849bf4e19" /></Relationships>
</file>

<file path=ppt/slides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-001.xlsx"/></Relationships>
</file>

<file path=ppt/slides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-002.xlsx"/></Relationships>
</file>

<file path=ppt/slides/charts/chart1.xml><?xml version="1.0" encoding="utf-8"?>
<c:chartSpace xmlns:r="http://schemas.openxmlformats.org/officeDocument/2006/relationships"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L1 汉语</c:v>
          </c:tx>
          <c:spPr>
            <a:solidFill xmlns:a="http://schemas.openxmlformats.org/drawingml/2006/main">
              <a:srgbClr val="2A5B7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Grade 8</c:v>
                </c:pt>
                <c:pt idx="1">
                  <c:v>Grade 11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480</c:v>
                </c:pt>
                <c:pt idx="1">
                  <c:v>470</c:v>
                </c:pt>
              </c:numCache>
            </c:numRef>
          </c:val>
        </c:ser>
        <c:ser>
          <c:idx val="1"/>
          <c:order val="1"/>
          <c:tx>
            <c:v>L2 英语</c:v>
          </c:tx>
          <c:spPr>
            <a:solidFill xmlns:a="http://schemas.openxmlformats.org/drawingml/2006/main">
              <a:srgbClr val="C17845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Grade 8</c:v>
                </c:pt>
                <c:pt idx="1">
                  <c:v>Grade 11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368</c:v>
                </c:pt>
                <c:pt idx="1">
                  <c:v>429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1">
    <c:autoUpdate val="0"/>
  </c:externalData>
</c:chartSpace>
</file>

<file path=ppt/slides/charts/chart2.xml><?xml version="1.0" encoding="utf-8"?>
<c:chartSpace xmlns:r="http://schemas.openxmlformats.org/officeDocument/2006/relationships"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L1 汉语</c:v>
          </c:tx>
          <c:spPr>
            <a:ln xmlns:a="http://schemas.openxmlformats.org/drawingml/2006/main" w="28575">
              <a:solidFill>
                <a:srgbClr val="2A5B78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A5B78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Grade 8</c:v>
                </c:pt>
                <c:pt idx="1">
                  <c:v>Grade 11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0.928</c:v>
                </c:pt>
                <c:pt idx="1">
                  <c:v>0.917</c:v>
                </c:pt>
              </c:numCache>
            </c:numRef>
          </c:val>
          <c:smooth val="1"/>
        </c:ser>
        <c:ser>
          <c:idx val="1"/>
          <c:order val="1"/>
          <c:tx>
            <c:v>L2 英语</c:v>
          </c:tx>
          <c:spPr>
            <a:ln xmlns:a="http://schemas.openxmlformats.org/drawingml/2006/main" w="28575">
              <a:solidFill>
                <a:srgbClr val="C17845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C17845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Grade 8</c:v>
                </c:pt>
                <c:pt idx="1">
                  <c:v>Grade 11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0.868</c:v>
                </c:pt>
                <c:pt idx="1">
                  <c:v>0.906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0.94"/>
          <c:min val="0.84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3CB7D4-5E8E-494F-AD4B-E3F975E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5CA7F7B-8B48-42E5-B7A5-BC53CE1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5B78"/>
                </a:solidFill>
                <a:latin typeface="Aptos"/>
                <a:ea typeface="Aptos"/>
                <a:cs typeface="Aptos"/>
              </a:rPr>
              <a:t>Journal of Child Language Article Presentation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F43B4DF-F035-4B14-A04F-C5A42B2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71599"/>
            <a:ext cx="10362644" cy="197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Lexical Development in Bilingual Adolescents: A Study of Chinese–English Word Association Networks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9D7FECA-8035-441B-B236-6235CCC3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DB6FAA-5543-4AA1-AB42-F450FDE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4735"/>
            <a:ext cx="5018314" cy="53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Ping Zhang · Xin Wang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AC98C-1F2A-4189-BEBE-F8C8047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6542314" cy="422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Journal of Child Language (2026), 1–25  DOI 10.1017/S0305000926100695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DC405-A457-4A7D-8681-14179D2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B723F-EBAF-41A8-AEE9-3CD412B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A42E5-61FB-4B09-9ACF-15EE57F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88157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4B031D-020E-4B7F-BE4F-2FFC18D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B7C34-C6FD-407B-B08A-0724088B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9E765C-440B-4A29-8C59-82633A6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Table of Contents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9C57E24-F39A-4CC4-9645-261828B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588FDF0-8554-4E4C-AC52-B8F924F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A73601C-2491-429D-9952-F382A41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3FF4F2A-5B23-4484-A0A3-4718BB3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5E26E9-1297-497A-A264-F8EFF41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1D49EBF-3E14-4E4E-8D44-9B5A39E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2F647A1D-DB82-45C9-A1B3-726D182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569BA4-A148-4164-93D6-C725E2C2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1BC809D-50F5-4D93-8CB6-114EC71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0F08158-AFD1-47CF-8ACE-AE5089C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A162656-DA17-46F4-8FA9-6B1DFC6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4248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F12E822-816B-4B09-B3F1-856EB317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4D0A663-D9F3-4E44-9A67-20B1DBC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575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1580B-2E46-4E38-9887-07EFDDF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0679F-0ECD-4F6B-A1ED-AD07BE1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88232-9534-4EF8-9567-047D20D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9D737-1823-4517-B8D5-4C7DF9D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574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研究背景与研究问题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F8B8B-0681-4122-9C88-3E88F89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3EE86-BA28-4464-97C5-3FCBAAA0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4213E-2710-43C2-ABDD-AE8151A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72B8B-14F5-497C-9954-4B80D7B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参与者与材料、实验流程、网络构建与分析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D5169-AB1D-4535-B4C4-F4B4A57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C7DE4-A167-4A58-AB08-3EE22FE1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61946-F2AB-4E3B-A07E-2D0DE67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90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2FE48-A969-4877-A933-6FA97A0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L1 稳定化、L2 重组与跨语言接近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E650B-2F53-4F44-86DF-B7359AA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F3682-4A4F-4632-9DBD-25F171C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7C0EF-6BE9-4BA9-AB90-DB6B0E78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7AF24-B739-472B-BD77-372349AC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结果解释、研究贡献、局限与结论</a:t>
            </a:r>
          </a:p>
        </p:txBody>
      </p:sp>
    </p:spTree>
    <p:extLst>
      <p:ext uri="{BB962C8B-B14F-4D97-AF65-F5344CB8AC3E}">
        <p14:creationId xmlns:p14="http://schemas.microsoft.com/office/powerpoint/2010/main" val="436412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8EBE4A2-CFFE-41DE-AED9-3B6BF58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BD5022-AABC-4D5F-A46F-D53F10B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2576DA-310B-432A-A3FA-E0C81C09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Background and Research Gap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9F45281-8080-4B00-9359-19A5C14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7AA38E2-3C90-494F-8DD5-90C65730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19274A-A7C0-465C-B1D1-755EB65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核心概念（Core Concept）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7A41497-31AE-4F3A-B943-57030B2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Bilingual Lexical Network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FC124C-79E1-4BA8-BDCB-E9573D3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248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词汇联想网络以反应词为节点，以同一刺激词下的反应共现为边。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06E776A-AC8F-48A3-89FE-EF6C0FCF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网络规模、连接效率、局部聚集和模块化共同反映词汇系统的组织方式。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645813-4E41-4895-9565-677EFAB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研究问题（Research Gap）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59BA60A-10EC-4682-BD12-D157FEA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F099DA2-08AA-45F2-B985-C155C8B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青少年双语词汇网络的整体结构缺少发展证据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3CD270C4-25CB-4F5D-B75C-F5C897E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7529E0-2819-4C8D-A2C9-7539E34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在同一年龄阶段可能遵循不同发展轨迹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A868AFA-B59D-4348-8CDF-89FA623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E6914A5-D8CC-4462-9D3E-571BFDF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现有研究多比较儿童与成人，初中到高中阶段长期被忽视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2595616-3718-491D-84CF-96235FE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研究比较初二与高二学生的 L1 汉语和 L2 英语词汇网络。</a:t>
            </a:r>
          </a:p>
        </p:txBody>
      </p:sp>
    </p:spTree>
    <p:extLst>
      <p:ext uri="{BB962C8B-B14F-4D97-AF65-F5344CB8AC3E}">
        <p14:creationId xmlns:p14="http://schemas.microsoft.com/office/powerpoint/2010/main" val="1247854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BD98526-3D6E-443A-A75F-1700E7EA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41A8C-8A48-47C3-8A2A-F20F5AC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213A3F-EE5A-4115-894E-461E06D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Research Questions</a:t>
            </a:r>
            <a:endParaRPr sz="2850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9913482-D929-4B77-B346-D878DB2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8116FEF-EC63-40D0-B103-D1DDBA3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3B75D-8A43-4D0D-82FA-4447329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L1 发展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E129F1-5F3B-4623-AACA-0E3CF57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初二到高二，L1 汉语网络的结构如何变化？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112D6C-1DD9-4A25-A5E1-872E036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9875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017A04-A5BC-48B8-9AA2-FC2E29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F88155-59AE-46DE-A86B-95288EC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L2 发展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C544AA5-C5D1-487E-B70D-4080B44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575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初二到高二，L2 英语网络的结构如何变化？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D151D334-096C-4C9E-9BCA-6C7D221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479C95E-5EEC-43A4-80C1-A5C1B1E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900090-ED51-48DB-BEC2-974F189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跨语言差异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BC9B7B-6BCB-49E8-AE21-42B8D0C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两个年级中，L1 与 L2 的网络结构差异是否缩小？</a:t>
            </a:r>
          </a:p>
        </p:txBody>
      </p:sp>
    </p:spTree>
    <p:extLst>
      <p:ext uri="{BB962C8B-B14F-4D97-AF65-F5344CB8AC3E}">
        <p14:creationId xmlns:p14="http://schemas.microsoft.com/office/powerpoint/2010/main" val="1618371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B54F813-6E5F-4B9C-B8BD-843D3F15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4507B8-3EA5-4D00-8EE2-60C0A4E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AC45661-D1C6-4322-8DBB-B030DF7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Participants and Materials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0A1AD52-CD53-424E-8FB3-CFC19EB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ACF1B3C-0709-433D-A27A-C4F1204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4FF415-ADA7-49AD-8CBE-6DE0441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3EF0FF-1800-468B-B8C1-9051D02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88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1BAE94-3B2F-4C11-BC7D-2E8A0A6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汉英双语青少年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5294B0FA-78D1-43CD-B207-CC4191A0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1B8BBE-3C01-4C32-8179-9D1F582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总样本  N = 88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3364F-807D-4B19-B6FD-DF5BBDA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来自同一所公立学校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母语均为普通话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自小学三年级开始学习英语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统计功效  power = .913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158528AB-A259-41FB-9248-698BC56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086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87738A7-2C82-430C-A850-1FB8E50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年级组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8B5461F-23DE-4938-A7A3-974B5C6D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515DA17-F994-4092-848C-0031364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两个青少年年级组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466461-7182-455E-B024-F2DF93A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Grade 8  初二   n = 44   M age = 13.21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F4002-EAA6-404C-A987-F7BB626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Grade 11  高二   n = 44   M age = 16.18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AB54FAC-CE00-46E4-9EA8-51AC529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708085E-627D-451D-973B-C3D83D2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78E36B9-7426-4206-9D68-FB086E2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111F8-4391-465C-963B-895042E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01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年龄范围：13–14 岁 / 16–17 岁</a:t>
            </a:r>
          </a:p>
        </p:txBody>
      </p:sp>
    </p:spTree>
    <p:extLst>
      <p:ext uri="{BB962C8B-B14F-4D97-AF65-F5344CB8AC3E}">
        <p14:creationId xmlns:p14="http://schemas.microsoft.com/office/powerpoint/2010/main" val="2134837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51ED586-EB61-4DC3-A237-E366697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5EBAB9-B4B9-4542-B8C7-7369E38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AAB59B0-1C69-4BE8-8E6C-ED24D38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Procedure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253A86-0704-4EE3-AE67-2F60588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纸笔词汇联想任务（word association task）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3A1CE3C-1906-4A4A-AF77-8DB50AB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E870174E-D690-4785-8FD9-C5E9C05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82870EB1-DF6A-4FC1-8BD3-F4B2D91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0AA9D2-7330-4A6A-BE50-BD2954F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D57FAD-75C3-4320-9366-641093A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英语任务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57160-4E89-4B12-B02B-3172CB4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先完成 L2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8C0C960-C2BB-4F2E-925C-551D7AA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E5EA205-B1F1-4DC0-8848-7693908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BE63A1-22E3-4B9E-A1B9-6AAD337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间隔 2 周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FF2226F-B245-4EA6-B408-59F3824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降低跨语言启动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913442D2-5068-4102-8789-7F652D4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13C8ACE-6DE7-4ACB-AB30-9684E5D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EEF491F-ACB1-43A0-98BD-9BAE91F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汉语任务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B81532E-469D-4327-B6EA-BD20B4B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后完成 L1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9EADA70C-42D0-437D-B239-2B08249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568B45-7ABA-4B91-ABC9-A74B18A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840E341-678D-4D00-880C-4CAF1DB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数据整理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14EA7E1-66A9-4C01-A3B7-CD27BFD4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拼写、词形与形式统一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EF35D30E-AA9A-45DB-A4D3-CD0AD60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0DE9D88-317C-4E68-B684-66A03A0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每种语言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14EA942-F2EA-4155-8F8B-4D7C113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 个高频刺激词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5B6CEC5-6F54-4860-AA3A-28E7788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每个刺激词写下首先想到的 3 个词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1AD26E7-7F0F-4FF3-99D2-73C4712F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不得查词典或修改答案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987B3BD-93E1-48F9-9BB4-96D4993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刺激词匹配词性、具体性与词长；两项任务均在常规课堂内完成。</a:t>
            </a:r>
          </a:p>
        </p:txBody>
      </p:sp>
    </p:spTree>
    <p:extLst>
      <p:ext uri="{BB962C8B-B14F-4D97-AF65-F5344CB8AC3E}">
        <p14:creationId xmlns:p14="http://schemas.microsoft.com/office/powerpoint/2010/main" val="1020202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CDB6FCA-5BD8-4D4B-ACD0-A384A28C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3E15F-E754-4F92-B2C7-3793FAC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E2F8F7-548E-4863-BFA6-A111205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Network Construction and Analysis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F275DE4-9B0B-4533-89FF-BA079CE8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6A29F09-936D-4D7F-B178-71FAEF7C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19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59DAE1-F7B8-4CBF-82B3-1EF4B61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R–R 网络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10A7AC3-F70B-48F0-8762-C5180CE1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4171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节点：独特反应词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边：同一刺激词下的反应共现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0224558-6AFF-406B-9AD8-F61814A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剔除单人反应，边权记录跨刺激词的共现频次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C79335D-EBA8-4E06-9897-51B7822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44B17C-A28B-49B6-A1B3-4809751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网络指标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90A021-1674-4D3E-B2AD-434B0CA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规模与效率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3D73D33-B0B8-4077-8B65-2CBEF49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节点 n、边 m、平均度 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密度 D、最短路径 ASPL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59DB286-DBDD-4426-98CB-1D108BD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局部与社群结构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83BD94-B2DF-4D24-ACFB-B5A4377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聚类系数 CC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模块度 Q、小世界指数 S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698438A5-EACD-444E-B5B5-6F9586E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7A0CD62-B4B9-4CDC-A1D8-AE1983B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统计比较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F5B39A-DC72-4B35-A5E5-AD972F4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BFS 子图抽样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71270C8-E251-46AC-9CC0-C4D9DD8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每个子图 200 个节点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0BD03F1-8A19-499E-A5FC-1BB4E4D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每个网络抽取 100 次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22ACD23-413A-4C1D-8091-1E0D492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随机网络基线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48AB43-C9C4-4607-BBCA-26B39B8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100 个等规模随机图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75B694-DE54-4B38-BB5F-5351036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检验小世界特征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D7B64DD-74F8-42A1-83E5-700EBC74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统计检验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CFDCC9-43D5-41D8-B639-BC06CDF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独立样本 t 检验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5E8061D-1530-4EB5-A816-6763776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Scheirer–Ray–Hare 检验</a:t>
            </a:r>
          </a:p>
        </p:txBody>
      </p:sp>
    </p:spTree>
    <p:extLst>
      <p:ext uri="{BB962C8B-B14F-4D97-AF65-F5344CB8AC3E}">
        <p14:creationId xmlns:p14="http://schemas.microsoft.com/office/powerpoint/2010/main" val="136243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D94F7A0-D9CF-45D5-B565-299C9AC4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676DF2-7DEC-453B-943F-4B6D380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279471-B3AA-4D15-8E19-42511D7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L2 Network Expansion Narrows the Size Gap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4DDEE7-79A0-4E77-BC10-646A31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节点数略降，L2 节点数增加 61 个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93C83BF3-D16A-4DC2-A03E-F3D48F8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607a6053684c5f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0C3F6A1-79EF-44C4-A2E6-9EB1583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048EC4-01C3-4D03-9D9D-7E8369D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Grade 8 差距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3FF2EB2-F594-488D-A1FB-F6AFD94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112 个节点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DB5827-8497-4B18-AE01-5EEBFD6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CA79A81-A929-440E-9C68-ADF4A37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4AF9D44-3AF4-43F4-A978-2DC02CD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Grade 11 差距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198217E-7784-48A5-9AC3-70A1FBD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41 个节点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34ABD-8762-4C70-AEC7-514A082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7183F0-FBBB-41FB-9051-85900F7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L1–L2 节点差距从 112 缩小至 41，L2 规模快速接近 L1。</a:t>
            </a:r>
          </a:p>
        </p:txBody>
      </p:sp>
    </p:spTree>
    <p:extLst>
      <p:ext uri="{BB962C8B-B14F-4D97-AF65-F5344CB8AC3E}">
        <p14:creationId xmlns:p14="http://schemas.microsoft.com/office/powerpoint/2010/main" val="148426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DC152C0-CAA0-4759-94D3-3D617ED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5B8FFE0-35F4-4B56-A88B-6152DA5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1E26ED-76B2-4FDF-9500-A3E467F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Distinct Developmental Trajectories in L1 and L2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D6896F-DC6C-4AA5-9F4C-881ABD2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E1551BD-05BA-4CC8-BE03-764DA89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95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1654E0-CC57-4A63-8076-751231E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汉语网络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F23D6C-9B82-4BEA-8317-9D60C22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&lt;k&gt; +0.380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B000F4-67D3-4372-9BDC-5805052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节点数从 480 降至 470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EA1C83-FFE0-4EC9-ADCA-3197679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CC 与 Q 均小幅下降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458482A-2E12-4A60-A206-016AE61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高二组的反应更趋一致，网络连接略增，整体结构保持稳定。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7260380-D1BA-43D5-AE42-8C3A3B1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5276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0BC5D9-79FA-4F9F-8EBE-2284AE8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英语网络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71CEEA4-446D-49C2-8ED4-9D51E9FC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节点数 +61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8A098F-49B1-4312-A90C-FD834F8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边数增加 408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61CF569-C4CD-45BC-9164-44379F09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ASPL 增加 0.325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FA243E-D1B6-43EA-83F5-B55F3DB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CC 与 Q 明显上升，网络规模扩张并形成更清晰的社群结构。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A75DE71-C2EE-4F8E-AEBE-7BE715A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进入稳定化阶段，L2 仍处于快速扩张与重组阶段。</a:t>
            </a:r>
          </a:p>
        </p:txBody>
      </p:sp>
    </p:spTree>
    <p:extLst>
      <p:ext uri="{BB962C8B-B14F-4D97-AF65-F5344CB8AC3E}">
        <p14:creationId xmlns:p14="http://schemas.microsoft.com/office/powerpoint/2010/main" val="1674317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B5E215-B49E-4F89-8523-340BBC9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73C01F6-1CF8-41AE-9583-6AFB83E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0B0125-EDAF-438E-80ED-538718FA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Clustering and Modularity Diverge Across Languages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980B87-1CC8-441C-8E43-3ECEF2B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的聚类与模块化略降，L2 的两项指标同时上升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8F88BE5-56B6-4ECC-B21A-DAC7BF9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5d66e4ad9a4954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6324B79-C855-4F96-B86B-5EF6FDC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495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07F0C-8B64-4A90-B786-03BF187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95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稳定化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0FC2C5C-A556-41A1-ACA0-FAE0B561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CC  −.011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4D2CF04-5196-4586-9EC4-8E50D444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Q  −.019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4586835-2822-416F-9355-9260D3D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955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A87782-1F4D-4A54-BC5B-BCC16A8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结构成熟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0D94F3-C218-42CB-914B-15F8489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43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CC  +.038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7444464-F553-4959-8625-77F0426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Q  +.148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09FF198-9C44-46CD-A008-8B4F2A0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L2 的变化幅度更大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EEB9BA5-15F9-4F35-BAC7-4E7D379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跨语言差距在高二明显缩小，英语网络更加接近汉语网络。</a:t>
            </a:r>
          </a:p>
        </p:txBody>
      </p:sp>
    </p:spTree>
    <p:extLst>
      <p:ext uri="{BB962C8B-B14F-4D97-AF65-F5344CB8AC3E}">
        <p14:creationId xmlns:p14="http://schemas.microsoft.com/office/powerpoint/2010/main" val="1499157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0335850-DC86-4BA8-AC0D-190B0B2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8ED591-970C-4C09-84F0-0F987538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3660A5F-7DA1-4400-B61F-EE4FEA6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Stabilization and Restructuring in Adolescence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76AF51-4145-4DB4-B031-18BE61A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主要表现为趋同与整合，L2 主要表现为规模增长与结构成熟。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BA43DC1-00E8-48C7-85E8-CAF8CA5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354561-FA3C-48F7-AEE8-C70B0DF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819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FF0393-21A0-4293-9F91-E0F1961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稳定化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Stabilization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244A61-F54D-4A17-A1FF-A86EBB8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独特反应类型减少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平均度小幅上升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聚类与模块化略降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52B86A-F60A-4A69-973F-EBF821B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学校共同知识框架可能推动关联向高频、共享概念集中。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9149842-68D6-4EAA-9EEF-E763C89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5334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304631E-4F6D-4E88-B024-0B071AA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重组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Structural reorganization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167105-4DC2-4625-B57D-7571512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节点与边明显增加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局部聚集增强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语义社群边界更清晰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D4733B6-7475-4AE8-9380-35A9CD7C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持续课堂输入支持词汇扩张，并促进更有组织的语义连接。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EB2B183-024B-466B-97E2-8EB84A3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48A9F7-2E49-4385-8EEF-48E9CB0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两种语言处于不同发展阶段，L2 的结构变化幅度明显更大。</a:t>
            </a:r>
          </a:p>
        </p:txBody>
      </p:sp>
    </p:spTree>
    <p:extLst>
      <p:ext uri="{BB962C8B-B14F-4D97-AF65-F5344CB8AC3E}">
        <p14:creationId xmlns:p14="http://schemas.microsoft.com/office/powerpoint/2010/main" val="745633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9CD57E7-B6D1-488B-A70C-9B7684E2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335C1-52E7-4A51-845A-429CC95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3DD1B7-1555-462D-87D2-8F91848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Contributions and Implications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0309F03-74C9-4EEB-9B49-6A2951B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B46DE7D-95F7-4AE8-9AF4-84392F1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13D6D0-F920-49DF-B142-1097606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BAEC774-79D2-4D94-A9BF-C1E221B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青少年视角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E6D02D5-9490-4DC8-BE73-A04481D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聚焦 13–17 岁，补充青少年词汇网络的发展证据。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4369E45-1FC8-4CA8-A846-44A2C1B8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A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CFC6B1-B771-4F98-94C5-43167D4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141A5F-6B95-43AA-A3DF-A0AE8C4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方法贡献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4C3C4BE-CEEA-4E91-A425-1CDB44F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双语 R–R 网络结合随机图与 BFS 子图抽样，兼顾整体结构与统计比较。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A9D75B4-E326-4B65-81CB-7DB4445D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D9C7BF-F734-491D-A33E-8F10387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FEA178-6099-4D5D-A51B-29D0F0C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发展启示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4A582-D494-4661-B831-9821F68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正式英语教学推动 L2 快速扩张，使其网络结构逐渐接近 L1。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5C5F2F-A1AF-4970-9F53-CAB41F2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两个年级的 L1 与 L2 网络均保持清晰的小世界特征。</a:t>
            </a:r>
          </a:p>
        </p:txBody>
      </p:sp>
    </p:spTree>
    <p:extLst>
      <p:ext uri="{BB962C8B-B14F-4D97-AF65-F5344CB8AC3E}">
        <p14:creationId xmlns:p14="http://schemas.microsoft.com/office/powerpoint/2010/main" val="96670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D927867-3207-4DCA-8D2A-3D129D9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134273C-6E32-4585-A5DD-A2F1092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AD3B54-06BE-42B6-92DB-1C7E8AC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Limitations and Conclusions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AD0629F-1516-4B43-B333-8BC4D86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65511F-C54A-422E-9238-99973B0C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C3AACE-2D0C-4C11-B8F7-91FF906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3B417A-4583-4E9E-9538-986B1C3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未同时分析联想反应类型与趋同性，无法判断不同发展维度是否同步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DD172559-6ABA-48BD-941B-9471663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66170B-000D-42C3-87ED-1FCAE05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R–R 网络强调跨刺激词共现，仍需与 S–S、S–R 方法进行比较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F10DAFD-CA93-44F3-9516-6B9A9A5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C909B0A-87FE-4E15-9BCB-FAB5635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横断面群体网络无法追踪个体内部的长期变化与差异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8A31A3B5-D0E3-4BB7-AB72-DC8BE9D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8FCBB1-11EA-4385-8985-55A62A9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5E61D0-C6AF-42A8-A1A2-732261B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L1 反应趋同性增强，整体网络结构保持稳定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8F9F04-77F0-44D9-B9F6-E57F1E2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L2 规模扩张，局部聚集与模块化明显增强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DC76DB6-C71D-4ACE-8DCA-442F9C1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L1 优势仍然存在，但两种语言的结构差距缩小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1B9DC117-A808-449F-BCB0-391449D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6A6A6B5-070E-4032-BCA2-E870337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青少年时期的 L1 与 L2 呈现不同速度的网络发展，并共同保持小世界结构。</a:t>
            </a:r>
          </a:p>
        </p:txBody>
      </p:sp>
    </p:spTree>
    <p:extLst>
      <p:ext uri="{BB962C8B-B14F-4D97-AF65-F5344CB8AC3E}">
        <p14:creationId xmlns:p14="http://schemas.microsoft.com/office/powerpoint/2010/main" val="1344331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2026-10-01T14:34:21.1080000Z</dcterms:created>
  <dcterms:modified xsi:type="dcterms:W3CDTF">2026-10-01T14:34:21.1090000Z</dcterms:modified>
</coreProperties>
</file>