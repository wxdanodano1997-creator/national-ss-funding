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005840"/>
            <a:ext cx="4846320" cy="4846320"/>
          </a:xfrm>
          <a:prstGeom prst="ellipse">
            <a:avLst/>
          </a:prstGeom>
          <a:ln w="177800">
            <a:solidFill>
              <a:srgbClr val="F7EC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4206240"/>
            <a:ext cx="1920240" cy="1920240"/>
          </a:xfrm>
          <a:prstGeom prst="ellipse">
            <a:avLst/>
          </a:prstGeom>
          <a:solidFill>
            <a:srgbClr val="FBF4ED"/>
          </a:solidFill>
          <a:ln/>
        </p:spPr>
      </p:sp>
      <p:pic>
        <p:nvPicPr>
          <p:cNvPr id="4" name="Image 0" descr="/tmp/claude-0/-home-user-NATIONAL-SS-Funding/d399dd62-2b1c-5986-baf9-d080933e5780/scratchpad/ppt-work/assets/logo-sud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45920" y="484632"/>
            <a:ext cx="47548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spc="1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School of Foreign Languages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66928" y="1783080"/>
            <a:ext cx="6766560" cy="0"/>
          </a:xfrm>
          <a:prstGeom prst="line">
            <a:avLst/>
          </a:prstGeom>
          <a:noFill/>
          <a:ln w="19050">
            <a:solidFill>
              <a:srgbClr val="F7ECE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" y="2286000"/>
            <a:ext cx="9509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1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'Did I repeat so many English words?': Stability of L1 and L2 Word Association Responses over Time and across Response Positions</a:t>
            </a:r>
            <a:endParaRPr lang="en-US" sz="3100" dirty="0"/>
          </a:p>
        </p:txBody>
      </p:sp>
      <p:sp>
        <p:nvSpPr>
          <p:cNvPr id="8" name="Text 5"/>
          <p:cNvSpPr txBox="1"/>
          <p:nvPr/>
        </p:nvSpPr>
        <p:spPr>
          <a:xfrm>
            <a:off x="603504" y="4434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Xin Wang · Ping Zhang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03504" y="4956048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310 (2024) 103804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DOI: 10.1016/j.lingua.2024.103804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03504" y="60807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资助项目：国家社会科学基金（23BYY178）；江苏高校哲学社会科学研究重大项目（2022SJZD126）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C25A1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成果发表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20240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</a:t>
            </a:r>
            <a:endParaRPr lang="en-US" sz="2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004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Elsevier · SSCI 期刊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859536" cy="420624"/>
          </a:xfrm>
          <a:prstGeom prst="roundRect">
            <a:avLst>
              <a:gd name="adj" fmla="val 50000"/>
            </a:avLst>
          </a:prstGeom>
          <a:solidFill>
            <a:srgbClr val="F7ECE3"/>
          </a:solidFill>
          <a:ln w="12700">
            <a:solidFill>
              <a:srgbClr val="C25A1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657600"/>
            <a:ext cx="859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SSCI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609344" y="3657600"/>
            <a:ext cx="1307592" cy="420624"/>
          </a:xfrm>
          <a:prstGeom prst="roundRect">
            <a:avLst>
              <a:gd name="adj" fmla="val 50000"/>
            </a:avLst>
          </a:prstGeom>
          <a:solidFill>
            <a:srgbClr val="F7ECE3"/>
          </a:solidFill>
          <a:ln w="12700">
            <a:solidFill>
              <a:srgbClr val="C25A1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609344" y="3657600"/>
            <a:ext cx="1307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语言学 Q1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9768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Volume 310 (2024) · Article 103804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92040" y="1463040"/>
            <a:ext cx="3200400" cy="44348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5875">
            <a:solidFill>
              <a:srgbClr val="C25A1C"/>
            </a:solidFill>
            <a:prstDash val="solid"/>
          </a:ln>
          <a:effectLst>
            <a:outerShdw sx="100000" sy="100000" kx="0" ky="0" algn="bl" rotWithShape="0" blurRad="88900" dist="38100" dir="5400000">
              <a:srgbClr val="999999">
                <a:alpha val="40000"/>
              </a:srgbClr>
            </a:outerShdw>
          </a:effectLst>
        </p:spPr>
      </p:sp>
      <p:pic>
        <p:nvPicPr>
          <p:cNvPr id="14" name="Image 0" descr="/tmp/claude-0/-home-user-NATIONAL-SS-Funding/d399dd62-2b1c-5986-baf9-d080933e5780/scratchpad/ppt-work/assets/real-cover-LI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1768" y="1647074"/>
            <a:ext cx="2980944" cy="4066772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4892040" y="595274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期刊封面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8549640" y="1463040"/>
            <a:ext cx="3200400" cy="44348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5875">
            <a:solidFill>
              <a:srgbClr val="C25A1C"/>
            </a:solidFill>
            <a:prstDash val="solid"/>
          </a:ln>
          <a:effectLst>
            <a:outerShdw sx="100000" sy="100000" kx="0" ky="0" algn="bl" rotWithShape="0" blurRad="88900" dist="38100" dir="5400000">
              <a:srgbClr val="999999">
                <a:alpha val="40000"/>
              </a:srgbClr>
            </a:outerShdw>
          </a:effectLst>
        </p:spPr>
      </p:sp>
      <p:pic>
        <p:nvPicPr>
          <p:cNvPr id="17" name="Image 1" descr="/tmp/claude-0/-home-user-NATIONAL-SS-Funding/d399dd62-2b1c-5986-baf9-d080933e5780/scratchpad/ppt-work/assets/trim-LING-first-0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9368" y="1682508"/>
            <a:ext cx="2980944" cy="3995903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549640" y="595274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论文首页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C25A1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40680" cy="4663440"/>
          </a:xfrm>
          <a:prstGeom prst="roundRect">
            <a:avLst>
              <a:gd name="adj" fmla="val 1569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728216"/>
            <a:ext cx="164592" cy="164592"/>
          </a:xfrm>
          <a:prstGeom prst="ellipse">
            <a:avLst/>
          </a:prstGeom>
          <a:solidFill>
            <a:srgbClr val="C25A1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160020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总体背景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2130552"/>
            <a:ext cx="485546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词汇联想任务（WAT）通过即时反应考察心理词汇的连接方式。既有研究主要比较母语与二语的反应类型、反应速度和联想常模，显示两种语言的词汇组织与提取存在差异（Fitzpatrick &amp; Izura, 2011；Fitzpatrick &amp; Thwaites, 2020）。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5468112" cy="4663440"/>
          </a:xfrm>
          <a:prstGeom prst="roundRect">
            <a:avLst>
              <a:gd name="adj" fmla="val 1569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1728216"/>
            <a:ext cx="164592" cy="164592"/>
          </a:xfrm>
          <a:prstGeom prst="ellipse">
            <a:avLst/>
          </a:prstGeom>
          <a:solidFill>
            <a:srgbClr val="C25A1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66560" y="1600200"/>
            <a:ext cx="4690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已有发现与证据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510528" y="2130552"/>
            <a:ext cx="488289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测试—重测研究表明，联想反应具有一定稳定性，但自由联想也会随时间和个体状态发生变化（Gekoski &amp; Riegel, 1966；Fitzpatrick et al., 2015）。二语学习者在重复测试中常只重复部分反应，说明联想稳定性可反映词汇表征的可及性与竞争程度（Fitzpatrick, 2012）。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C25A1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现有研究不足之处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862328"/>
            <a:ext cx="585216" cy="585216"/>
          </a:xfrm>
          <a:prstGeom prst="ellipse">
            <a:avLst/>
          </a:prstGeom>
          <a:solidFill>
            <a:srgbClr val="C25A1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18623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1847088" y="1417320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既有联想稳定性研究多关注单一语言、常模或单个反应位置，对同一批双语者母语与二语的稳定性缺少直接比较。</a:t>
            </a:r>
            <a:endParaRPr lang="en-US" sz="2050" dirty="0"/>
          </a:p>
        </p:txBody>
      </p:sp>
      <p:sp>
        <p:nvSpPr>
          <p:cNvPr id="10" name="Shape 8"/>
          <p:cNvSpPr/>
          <p:nvPr/>
        </p:nvSpPr>
        <p:spPr>
          <a:xfrm>
            <a:off x="548640" y="3148584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3593592"/>
            <a:ext cx="585216" cy="585216"/>
          </a:xfrm>
          <a:prstGeom prst="ellipse">
            <a:avLst/>
          </a:prstGeom>
          <a:solidFill>
            <a:srgbClr val="C25A1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3593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1847088" y="3148584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母语与二语稳定性是否在参与者层面和刺激词层面呈现一致关系，尚未得到检验。</a:t>
            </a:r>
            <a:endParaRPr lang="en-US" sz="2050" dirty="0"/>
          </a:p>
        </p:txBody>
      </p:sp>
      <p:sp>
        <p:nvSpPr>
          <p:cNvPr id="14" name="Shape 12"/>
          <p:cNvSpPr/>
          <p:nvPr/>
        </p:nvSpPr>
        <p:spPr>
          <a:xfrm>
            <a:off x="548640" y="4879848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5324856"/>
            <a:ext cx="585216" cy="585216"/>
          </a:xfrm>
          <a:prstGeom prst="ellipse">
            <a:avLst/>
          </a:prstGeom>
          <a:solidFill>
            <a:srgbClr val="C25A1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532485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500" dirty="0"/>
          </a:p>
        </p:txBody>
      </p:sp>
      <p:sp>
        <p:nvSpPr>
          <p:cNvPr id="17" name="Text 15"/>
          <p:cNvSpPr txBox="1"/>
          <p:nvPr/>
        </p:nvSpPr>
        <p:spPr>
          <a:xfrm>
            <a:off x="1847088" y="4879848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连续词汇联想任务常收集多个反应，但研究主要用其扩大数据量，对不同反应位置的稳定性变化关注不足（Nissen &amp; Henriksen, 2006；Schmitt, 1998）。</a:t>
            </a:r>
            <a:endParaRPr lang="en-US" sz="2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C25A1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研究问题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3413760" cy="3383280"/>
          </a:xfrm>
          <a:prstGeom prst="roundRect">
            <a:avLst>
              <a:gd name="adj" fmla="val 2703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79448" y="2057400"/>
            <a:ext cx="1060704" cy="1060704"/>
          </a:xfrm>
          <a:prstGeom prst="ellipse">
            <a:avLst/>
          </a:prstGeom>
          <a:solidFill>
            <a:srgbClr val="A8481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679448" y="2057400"/>
            <a:ext cx="10607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RQ1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337560"/>
            <a:ext cx="286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母语汉语与二语英语的总体联想稳定性（AS）是否存在差异？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4373880" y="1737360"/>
            <a:ext cx="3413760" cy="3383280"/>
          </a:xfrm>
          <a:prstGeom prst="roundRect">
            <a:avLst>
              <a:gd name="adj" fmla="val 2703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550408" y="2057400"/>
            <a:ext cx="1060704" cy="1060704"/>
          </a:xfrm>
          <a:prstGeom prst="ellipse">
            <a:avLst/>
          </a:prstGeom>
          <a:solidFill>
            <a:srgbClr val="A8481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550408" y="2057400"/>
            <a:ext cx="10607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RQ2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648200" y="3337560"/>
            <a:ext cx="286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母语与二语的联想稳定性在参与者层面和刺激词层面是否相关？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8244840" y="1737360"/>
            <a:ext cx="3413760" cy="3383280"/>
          </a:xfrm>
          <a:prstGeom prst="roundRect">
            <a:avLst>
              <a:gd name="adj" fmla="val 2703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421368" y="2057400"/>
            <a:ext cx="1060704" cy="1060704"/>
          </a:xfrm>
          <a:prstGeom prst="ellipse">
            <a:avLst/>
          </a:prstGeom>
          <a:solidFill>
            <a:srgbClr val="A8481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421368" y="2057400"/>
            <a:ext cx="10607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RQ3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519160" y="3337560"/>
            <a:ext cx="286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反应位置是否影响母语与二语的联想稳定性？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C25A1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研究被试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698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795528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信息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招募与最终样本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招募 40 人；1 人退出，最终 39 人完成全部测试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年龄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 = 19.73，SD = 1.13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专业与英语水平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英语或英语教育专业；均通过大学英语四级考试（CET-4）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学习经历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平均英语学习年限 12.10 年；无海外学习经历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C25A1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实验材料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</a:t>
            </a:r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两套材料用于比较相同概念在母语与二语中的联想稳定性。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103120"/>
          <a:ext cx="106984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914400"/>
                <a:gridCol w="5029200"/>
                <a:gridCol w="2834640"/>
              </a:tblGrid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材料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数量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词汇特征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示例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英语刺激词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高频词；名词、动词、形容词；具体词与抽象词；3–10 个字母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kitchen, smile, value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汉语刺激词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与英语词构成翻译对应关系，词性与具体性匹配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厨房、微笑、价值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C25A1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实验任务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698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7955280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任务要求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任务类型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在线连续词汇联想任务（continuous word association task）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刺激呈现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 个刺激词逐个呈现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作答方式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每个刺激词输入最先想到的 3 个同语种反应词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作答要求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不设时间限制，但要求尽快、自然作答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C25A1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实验过程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2583180" cy="2377440"/>
          </a:xfrm>
          <a:prstGeom prst="roundRect">
            <a:avLst>
              <a:gd name="adj" fmla="val 3846"/>
            </a:avLst>
          </a:prstGeom>
          <a:solidFill>
            <a:srgbClr val="FBF4ED"/>
          </a:solidFill>
          <a:ln w="15875">
            <a:solidFill>
              <a:srgbClr val="C25A1C"/>
            </a:solidFill>
            <a:prstDash val="solid"/>
          </a:ln>
          <a:effectLst>
            <a:outerShdw sx="100000" sy="100000" kx="0" ky="0" algn="bl" rotWithShape="0" blurRad="63500" dist="25400" dir="5400000">
              <a:srgbClr val="BBBBBB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01902" y="1856232"/>
            <a:ext cx="585216" cy="585216"/>
          </a:xfrm>
          <a:prstGeom prst="ellipse">
            <a:avLst/>
          </a:prstGeom>
          <a:solidFill>
            <a:srgbClr val="A8481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501902" y="1856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2606040"/>
            <a:ext cx="23637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第一轮测试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3200400"/>
            <a:ext cx="22539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先完成汉语任务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周后完成英语任务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04388" y="3218688"/>
            <a:ext cx="237744" cy="237744"/>
          </a:xfrm>
          <a:prstGeom prst="rightArrow">
            <a:avLst/>
          </a:prstGeom>
          <a:solidFill>
            <a:srgbClr val="C25A1C"/>
          </a:solidFill>
          <a:ln/>
        </p:spPr>
      </p:sp>
      <p:sp>
        <p:nvSpPr>
          <p:cNvPr id="12" name="Shape 10"/>
          <p:cNvSpPr/>
          <p:nvPr/>
        </p:nvSpPr>
        <p:spPr>
          <a:xfrm>
            <a:off x="3360420" y="2148840"/>
            <a:ext cx="2583180" cy="2377440"/>
          </a:xfrm>
          <a:prstGeom prst="roundRect">
            <a:avLst>
              <a:gd name="adj" fmla="val 3846"/>
            </a:avLst>
          </a:prstGeom>
          <a:solidFill>
            <a:srgbClr val="F7ECE3"/>
          </a:solidFill>
          <a:ln w="15875">
            <a:solidFill>
              <a:srgbClr val="C25A1C"/>
            </a:solidFill>
            <a:prstDash val="solid"/>
          </a:ln>
          <a:effectLst>
            <a:outerShdw sx="100000" sy="100000" kx="0" ky="0" algn="bl" rotWithShape="0" blurRad="63500" dist="25400" dir="5400000">
              <a:srgbClr val="BBBBBB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59402" y="1856232"/>
            <a:ext cx="585216" cy="585216"/>
          </a:xfrm>
          <a:prstGeom prst="ellipse">
            <a:avLst/>
          </a:prstGeom>
          <a:solidFill>
            <a:srgbClr val="A8481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59402" y="1856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3470148" y="2606040"/>
            <a:ext cx="23637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第二轮测试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525012" y="3200400"/>
            <a:ext cx="22539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再间隔 1 周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按相同顺序完成汉语、英语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61888" y="3218688"/>
            <a:ext cx="237744" cy="237744"/>
          </a:xfrm>
          <a:prstGeom prst="rightArrow">
            <a:avLst/>
          </a:prstGeom>
          <a:solidFill>
            <a:srgbClr val="C25A1C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2148840"/>
            <a:ext cx="2583180" cy="2377440"/>
          </a:xfrm>
          <a:prstGeom prst="roundRect">
            <a:avLst>
              <a:gd name="adj" fmla="val 3846"/>
            </a:avLst>
          </a:prstGeom>
          <a:solidFill>
            <a:srgbClr val="FBF4ED"/>
          </a:solidFill>
          <a:ln w="15875">
            <a:solidFill>
              <a:srgbClr val="C25A1C"/>
            </a:solidFill>
            <a:prstDash val="solid"/>
          </a:ln>
          <a:effectLst>
            <a:outerShdw sx="100000" sy="100000" kx="0" ky="0" algn="bl" rotWithShape="0" blurRad="63500" dist="25400" dir="5400000">
              <a:srgbClr val="BBBBBB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216902" y="1856232"/>
            <a:ext cx="585216" cy="585216"/>
          </a:xfrm>
          <a:prstGeom prst="ellipse">
            <a:avLst/>
          </a:prstGeom>
          <a:solidFill>
            <a:srgbClr val="A8481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16902" y="1856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6327648" y="2606040"/>
            <a:ext cx="23637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测试—重测间隔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382512" y="3200400"/>
            <a:ext cx="22539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同一语言两次测试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间隔均为 2 周，顺序一致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819388" y="3218688"/>
            <a:ext cx="237744" cy="237744"/>
          </a:xfrm>
          <a:prstGeom prst="rightArrow">
            <a:avLst/>
          </a:prstGeom>
          <a:solidFill>
            <a:srgbClr val="C25A1C"/>
          </a:solidFill>
          <a:ln/>
        </p:spPr>
      </p:sp>
      <p:sp>
        <p:nvSpPr>
          <p:cNvPr id="24" name="Shape 22"/>
          <p:cNvSpPr/>
          <p:nvPr/>
        </p:nvSpPr>
        <p:spPr>
          <a:xfrm>
            <a:off x="9075420" y="2148840"/>
            <a:ext cx="2583180" cy="2377440"/>
          </a:xfrm>
          <a:prstGeom prst="roundRect">
            <a:avLst>
              <a:gd name="adj" fmla="val 3846"/>
            </a:avLst>
          </a:prstGeom>
          <a:solidFill>
            <a:srgbClr val="F7ECE3"/>
          </a:solidFill>
          <a:ln w="15875">
            <a:solidFill>
              <a:srgbClr val="C25A1C"/>
            </a:solidFill>
            <a:prstDash val="solid"/>
          </a:ln>
          <a:effectLst>
            <a:outerShdw sx="100000" sy="100000" kx="0" ky="0" algn="bl" rotWithShape="0" blurRad="63500" dist="25400" dir="5400000">
              <a:srgbClr val="BBBBBB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74402" y="1856232"/>
            <a:ext cx="585216" cy="585216"/>
          </a:xfrm>
          <a:prstGeom prst="ellipse">
            <a:avLst/>
          </a:prstGeom>
          <a:solidFill>
            <a:srgbClr val="A8481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074402" y="1856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9185148" y="2606040"/>
            <a:ext cx="23637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数据处理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240012" y="3200400"/>
            <a:ext cx="22539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拼写校正 + 词形还原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比较两次重复出现的反应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48920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※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参与者事先不知道还会进行第二轮测试，以减少刻意记忆和重复。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C25A1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40680" cy="4663440"/>
          </a:xfrm>
          <a:prstGeom prst="roundRect">
            <a:avLst>
              <a:gd name="adj" fmla="val 1569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728216"/>
            <a:ext cx="164592" cy="164592"/>
          </a:xfrm>
          <a:prstGeom prst="ellipse">
            <a:avLst/>
          </a:prstGeom>
          <a:solidFill>
            <a:srgbClr val="C25A1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160020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核心指标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2130552"/>
            <a:ext cx="485546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联想稳定性（AS）定义为两次测试中重复反应数占总反应数的百分比。分别在参与者层面和刺激词层面计算总体 AS 与各反应位置的 AS。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5468112" cy="4663440"/>
          </a:xfrm>
          <a:prstGeom prst="roundRect">
            <a:avLst>
              <a:gd name="adj" fmla="val 1569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1728216"/>
            <a:ext cx="164592" cy="164592"/>
          </a:xfrm>
          <a:prstGeom prst="ellipse">
            <a:avLst/>
          </a:prstGeom>
          <a:solidFill>
            <a:srgbClr val="C25A1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66560" y="1600200"/>
            <a:ext cx="4690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统计方法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510528" y="2130552"/>
            <a:ext cx="488289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总体母语—二语差异采用独立样本 t 检验；跨语言相关采用 Pearson 相关。反应位置分析考察语言 × 位置效应：参与者层面使用双因素 Welch 方差分析，刺激词层面使用双因素方差分析，并进行 Tukey 事后比较。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C25A1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研究结果（RQ1）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435608"/>
            <a:ext cx="347472" cy="347472"/>
          </a:xfrm>
          <a:prstGeom prst="ellipse">
            <a:avLst/>
          </a:prstGeom>
          <a:solidFill>
            <a:srgbClr val="C25A1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1435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1417320"/>
            <a:ext cx="106436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参与者层面，二语英语的总体联想稳定性显著高于母语汉语（差值 7.35 个百分点，p &lt; .01，d = .703）。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2112264"/>
            <a:ext cx="347472" cy="347472"/>
          </a:xfrm>
          <a:prstGeom prst="ellipse">
            <a:avLst/>
          </a:prstGeom>
          <a:solidFill>
            <a:srgbClr val="C25A1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2920" y="21122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14984" y="2093976"/>
            <a:ext cx="106436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刺激词层面，二语英语同样显著更高（差值 5.87 个百分点，p &lt; .001，d = .868）。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2920" y="2788920"/>
            <a:ext cx="347472" cy="347472"/>
          </a:xfrm>
          <a:prstGeom prst="ellipse">
            <a:avLst/>
          </a:prstGeom>
          <a:solidFill>
            <a:srgbClr val="C25A1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2788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14984" y="2770632"/>
            <a:ext cx="106436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两种分析单位结论一致：两周后英语反应的重复率高于汉语。</a:t>
            </a:r>
            <a:endParaRPr lang="en-US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767328"/>
          <a:ext cx="74980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103120"/>
                <a:gridCol w="210312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分析单位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汉语 AS（M±SD）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英语 AS（M±SD）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检验结果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参与者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31.74% ± 10.46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39.09% ± 10.86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 &lt; .01；d = .703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刺激词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62.68% ± 6.76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68.55% ± 5.37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 &lt; .001；d = .868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8549640" y="3767328"/>
            <a:ext cx="3108960" cy="1280160"/>
          </a:xfrm>
          <a:prstGeom prst="roundRect">
            <a:avLst>
              <a:gd name="adj" fmla="val 7143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549640" y="3895344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= .868</a:t>
            </a:r>
            <a:endParaRPr lang="en-US" sz="3100" dirty="0"/>
          </a:p>
        </p:txBody>
      </p:sp>
      <p:sp>
        <p:nvSpPr>
          <p:cNvPr id="18" name="Text 15"/>
          <p:cNvSpPr txBox="1"/>
          <p:nvPr/>
        </p:nvSpPr>
        <p:spPr>
          <a:xfrm>
            <a:off x="8641080" y="455371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刺激词层面效应量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549640" y="5276088"/>
            <a:ext cx="3108960" cy="1280160"/>
          </a:xfrm>
          <a:prstGeom prst="roundRect">
            <a:avLst>
              <a:gd name="adj" fmla="val 7143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549640" y="5404104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+7.35</a:t>
            </a:r>
            <a:endParaRPr lang="en-US" sz="3100" dirty="0"/>
          </a:p>
        </p:txBody>
      </p:sp>
      <p:sp>
        <p:nvSpPr>
          <p:cNvPr id="21" name="Text 18"/>
          <p:cNvSpPr txBox="1"/>
          <p:nvPr/>
        </p:nvSpPr>
        <p:spPr>
          <a:xfrm>
            <a:off x="8641080" y="606247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参与者层面 AS 差值（百分点）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C25A1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研究结果（RQ2）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435608"/>
            <a:ext cx="347472" cy="347472"/>
          </a:xfrm>
          <a:prstGeom prst="ellipse">
            <a:avLst/>
          </a:prstGeom>
          <a:solidFill>
            <a:srgbClr val="C25A1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1435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1417320"/>
            <a:ext cx="106436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参与者层面，母语与二语 AS 呈中等偏强正相关（r = .636，p &lt; .001）。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2112264"/>
            <a:ext cx="347472" cy="347472"/>
          </a:xfrm>
          <a:prstGeom prst="ellipse">
            <a:avLst/>
          </a:prstGeom>
          <a:solidFill>
            <a:srgbClr val="C25A1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2920" y="21122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14984" y="2093976"/>
            <a:ext cx="106436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刺激词层面，汉英翻译对应词的 AS 相关不显著（r = .155，p = .414）。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2920" y="2788920"/>
            <a:ext cx="347472" cy="347472"/>
          </a:xfrm>
          <a:prstGeom prst="ellipse">
            <a:avLst/>
          </a:prstGeom>
          <a:solidFill>
            <a:srgbClr val="C25A1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2788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14984" y="2770632"/>
            <a:ext cx="106436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联想稳定性具有跨语言的个体一致性，但具体刺激词不会在两种语言中表现出对应的稳定程度。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767328"/>
          <a:ext cx="74980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554480"/>
                <a:gridCol w="1280160"/>
                <a:gridCol w="2103120"/>
                <a:gridCol w="10058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分析单位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相关系数 r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95% CI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结论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参与者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.636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 .001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[.400, .792]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显著正相关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刺激词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.155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.414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[-.218, .488]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不显著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8549640" y="3767328"/>
            <a:ext cx="3108960" cy="1280160"/>
          </a:xfrm>
          <a:prstGeom prst="roundRect">
            <a:avLst>
              <a:gd name="adj" fmla="val 7143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549640" y="3895344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 = .636</a:t>
            </a:r>
            <a:endParaRPr lang="en-US" sz="3100" dirty="0"/>
          </a:p>
        </p:txBody>
      </p:sp>
      <p:sp>
        <p:nvSpPr>
          <p:cNvPr id="18" name="Text 15"/>
          <p:cNvSpPr txBox="1"/>
          <p:nvPr/>
        </p:nvSpPr>
        <p:spPr>
          <a:xfrm>
            <a:off x="8641080" y="455371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参与者层面跨语言相关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C25A1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研究结果（RQ3）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435608"/>
            <a:ext cx="347472" cy="347472"/>
          </a:xfrm>
          <a:prstGeom prst="ellipse">
            <a:avLst/>
          </a:prstGeom>
          <a:solidFill>
            <a:srgbClr val="C25A1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1435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1417320"/>
            <a:ext cx="106436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母语与二语的 AS 均从第一反应位置到第三反应位置持续下降。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2112264"/>
            <a:ext cx="347472" cy="347472"/>
          </a:xfrm>
          <a:prstGeom prst="ellipse">
            <a:avLst/>
          </a:prstGeom>
          <a:solidFill>
            <a:srgbClr val="C25A1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2920" y="21122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14984" y="2093976"/>
            <a:ext cx="106436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位置主效应显著且效应量大：参与者层面 η² = .666，刺激词层面 η² = .625（均 p &lt; .001）。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2920" y="2788920"/>
            <a:ext cx="347472" cy="347472"/>
          </a:xfrm>
          <a:prstGeom prst="ellipse">
            <a:avLst/>
          </a:prstGeom>
          <a:solidFill>
            <a:srgbClr val="C25A1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2788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14984" y="2770632"/>
            <a:ext cx="106436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语言主效应与语言 × 位置交互均不显著，位置效应在两种语言中表现一致。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767328"/>
          <a:ext cx="74980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371600"/>
                <a:gridCol w="1554480"/>
                <a:gridCol w="1554480"/>
                <a:gridCol w="15544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分析单位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语言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第一位置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第二位置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第三位置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参与者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汉语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33.50%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12.73%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6.67%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参与者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英语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38.72%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15.73%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8.46%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刺激词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汉语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64.96%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44.27%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31.37%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刺激词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英语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70.34%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52.74%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37.69%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8549640" y="3767328"/>
            <a:ext cx="3108960" cy="1280160"/>
          </a:xfrm>
          <a:prstGeom prst="roundRect">
            <a:avLst>
              <a:gd name="adj" fmla="val 7143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549640" y="3895344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η² = .666</a:t>
            </a:r>
            <a:endParaRPr lang="en-US" sz="3100" dirty="0"/>
          </a:p>
        </p:txBody>
      </p:sp>
      <p:sp>
        <p:nvSpPr>
          <p:cNvPr id="18" name="Text 15"/>
          <p:cNvSpPr txBox="1"/>
          <p:nvPr/>
        </p:nvSpPr>
        <p:spPr>
          <a:xfrm>
            <a:off x="8641080" y="455371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位置主效应（参与者层面）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C25A1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40680" cy="4663440"/>
          </a:xfrm>
          <a:prstGeom prst="roundRect">
            <a:avLst>
              <a:gd name="adj" fmla="val 1569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728216"/>
            <a:ext cx="164592" cy="164592"/>
          </a:xfrm>
          <a:prstGeom prst="ellipse">
            <a:avLst/>
          </a:prstGeom>
          <a:solidFill>
            <a:srgbClr val="C25A1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160020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二语联想稳定性更高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2130552"/>
            <a:ext cx="485546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较高的二语重复率可能与二语词汇网络规模较小、连接较少有关：可竞争的替代反应有限，优势表征更易在两次测试中被重复提取（Meara, 2009；Wilks &amp; Meara, 2002）。母语网络更丰富，同一刺激可激活更多近义或相关反应，重复率相对较低。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5468112" cy="4663440"/>
          </a:xfrm>
          <a:prstGeom prst="roundRect">
            <a:avLst>
              <a:gd name="adj" fmla="val 1569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1728216"/>
            <a:ext cx="164592" cy="164592"/>
          </a:xfrm>
          <a:prstGeom prst="ellipse">
            <a:avLst/>
          </a:prstGeom>
          <a:solidFill>
            <a:srgbClr val="C25A1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66560" y="1600200"/>
            <a:ext cx="4690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个体一致性与位置效应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510528" y="2130552"/>
            <a:ext cx="488289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参与者层面的跨语言相关说明，个体的词汇组织或作答策略在两种语言中具有一致性。AS 从第一到第三位置下降，符合扩散激活观点：激活从强连接逐步扩散至较弱、较个人化的连接，后续反应因而更不稳定（Collins &amp; Loftus, 1975）。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C25A1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研究启示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862328"/>
            <a:ext cx="585216" cy="585216"/>
          </a:xfrm>
          <a:prstGeom prst="ellipse">
            <a:avLst/>
          </a:prstGeom>
          <a:solidFill>
            <a:srgbClr val="C25A1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18623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1847088" y="1417320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联想稳定性可作为观察词汇表征可及性与竞争程度的补充指标，但较高稳定性并不等同于更成熟或更丰富的词汇网络。</a:t>
            </a:r>
            <a:endParaRPr lang="en-US" sz="2050" dirty="0"/>
          </a:p>
        </p:txBody>
      </p:sp>
      <p:sp>
        <p:nvSpPr>
          <p:cNvPr id="10" name="Shape 8"/>
          <p:cNvSpPr/>
          <p:nvPr/>
        </p:nvSpPr>
        <p:spPr>
          <a:xfrm>
            <a:off x="548640" y="3148584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3593592"/>
            <a:ext cx="585216" cy="585216"/>
          </a:xfrm>
          <a:prstGeom prst="ellipse">
            <a:avLst/>
          </a:prstGeom>
          <a:solidFill>
            <a:srgbClr val="C25A1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3593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1847088" y="3148584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参与者层面与刺激词层面的结果不能相互替代：前者反映个体差异，后者反映群体常模的稳定程度。</a:t>
            </a:r>
            <a:endParaRPr lang="en-US" sz="2050" dirty="0"/>
          </a:p>
        </p:txBody>
      </p:sp>
      <p:sp>
        <p:nvSpPr>
          <p:cNvPr id="14" name="Shape 12"/>
          <p:cNvSpPr/>
          <p:nvPr/>
        </p:nvSpPr>
        <p:spPr>
          <a:xfrm>
            <a:off x="548640" y="4879848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5324856"/>
            <a:ext cx="585216" cy="585216"/>
          </a:xfrm>
          <a:prstGeom prst="ellipse">
            <a:avLst/>
          </a:prstGeom>
          <a:solidFill>
            <a:srgbClr val="C25A1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532485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500" dirty="0"/>
          </a:p>
        </p:txBody>
      </p:sp>
      <p:sp>
        <p:nvSpPr>
          <p:cNvPr id="17" name="Text 15"/>
          <p:cNvSpPr txBox="1"/>
          <p:nvPr/>
        </p:nvSpPr>
        <p:spPr>
          <a:xfrm>
            <a:off x="1847088" y="4879848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连续词汇联想任务必须区分反应位置；第一反应最稳定，后续反应更易受到弱连接和个人经验影响。</a:t>
            </a:r>
            <a:endParaRPr lang="en-US" sz="2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C25A1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不足与展望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862328"/>
            <a:ext cx="585216" cy="585216"/>
          </a:xfrm>
          <a:prstGeom prst="ellipse">
            <a:avLst/>
          </a:prstGeom>
          <a:solidFill>
            <a:srgbClr val="C25A1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18623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1847088" y="1417320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同一语言的测试—重测间隔仅为两周，其他时间间隔下的二语联想稳定性仍需验证。</a:t>
            </a:r>
            <a:endParaRPr lang="en-US" sz="2050" dirty="0"/>
          </a:p>
        </p:txBody>
      </p:sp>
      <p:sp>
        <p:nvSpPr>
          <p:cNvPr id="10" name="Shape 8"/>
          <p:cNvSpPr/>
          <p:nvPr/>
        </p:nvSpPr>
        <p:spPr>
          <a:xfrm>
            <a:off x="548640" y="3148584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3593592"/>
            <a:ext cx="585216" cy="585216"/>
          </a:xfrm>
          <a:prstGeom prst="ellipse">
            <a:avLst/>
          </a:prstGeom>
          <a:solidFill>
            <a:srgbClr val="C25A1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3593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1847088" y="3148584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材料均为高频刺激词，结果是否适用于低频词、专业词汇或不同词类仍不确定。</a:t>
            </a:r>
            <a:endParaRPr lang="en-US" sz="2050" dirty="0"/>
          </a:p>
        </p:txBody>
      </p:sp>
      <p:sp>
        <p:nvSpPr>
          <p:cNvPr id="14" name="Shape 12"/>
          <p:cNvSpPr/>
          <p:nvPr/>
        </p:nvSpPr>
        <p:spPr>
          <a:xfrm>
            <a:off x="548640" y="4879848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5324856"/>
            <a:ext cx="585216" cy="585216"/>
          </a:xfrm>
          <a:prstGeom prst="ellipse">
            <a:avLst/>
          </a:prstGeom>
          <a:solidFill>
            <a:srgbClr val="C25A1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532485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500" dirty="0"/>
          </a:p>
        </p:txBody>
      </p:sp>
      <p:sp>
        <p:nvSpPr>
          <p:cNvPr id="17" name="Text 15"/>
          <p:cNvSpPr txBox="1"/>
          <p:nvPr/>
        </p:nvSpPr>
        <p:spPr>
          <a:xfrm>
            <a:off x="1847088" y="4879848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未对稳定和不稳定反应的语义关系类型进行分类；后续可结合反应类型、词频、熟练度与网络指标开展纵向研究。</a:t>
            </a:r>
            <a:endParaRPr lang="en-US" sz="2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C25A1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主要参考文献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41732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Collins, A. M., &amp; Loftus, E. F. (1975). A spreading-activation theory of semantic processing. Psychological Review, 82, 407.</a:t>
            </a:r>
            <a:endParaRPr lang="en-US" sz="1350" dirty="0"/>
          </a:p>
          <a:p>
            <a:pPr algn="l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Fitzpatrick, T. (2012). Tracking the changes: Vocabulary acquisition in the study abroad context. Language Learning Journal, 40, 81–98.</a:t>
            </a:r>
            <a:endParaRPr lang="en-US" sz="1350" dirty="0"/>
          </a:p>
          <a:p>
            <a:pPr algn="l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Fitzpatrick, T., &amp; Izura, C. (2011). Word association in L1 and L2. Studies in Second Language Acquisition, 33, 373–398.</a:t>
            </a:r>
            <a:endParaRPr lang="en-US" sz="1350" dirty="0"/>
          </a:p>
          <a:p>
            <a:pPr algn="l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Fitzpatrick, T., Playfoot, D., Wray, A., &amp; Wright, M. J. (2015). Establishing the reliability of word association data. Applied Linguistics, 36, 23–50.</a:t>
            </a:r>
            <a:endParaRPr lang="en-US" sz="1350" dirty="0"/>
          </a:p>
          <a:p>
            <a:pPr algn="l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Fitzpatrick, T., &amp; Thwaites, P. (2020). Word association research and the L2 lexicon. Language Teaching, 53, 237–274.</a:t>
            </a:r>
            <a:endParaRPr lang="en-US" sz="1350" dirty="0"/>
          </a:p>
          <a:p>
            <a:pPr algn="l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Gekoski, W. L., &amp; Riegel, K. F. (1966). A study of the one-week stability of the Michigan restricted association norms. Psychological Reports, 18, 397–398.</a:t>
            </a:r>
            <a:endParaRPr lang="en-US" sz="1350" dirty="0"/>
          </a:p>
          <a:p>
            <a:pPr algn="l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Meara, P. (2009). Connected Words: Word Associations and Second Language Vocabulary Acquisition. John Benjamins.</a:t>
            </a:r>
            <a:endParaRPr lang="en-US" sz="1350" dirty="0"/>
          </a:p>
          <a:p>
            <a:pPr algn="l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Nissen, H. B., &amp; Henriksen, B. (2006). Word class influence on word association test results. International Journal of Applied Linguistics, 16, 389–408.</a:t>
            </a:r>
            <a:endParaRPr lang="en-US" sz="1350" dirty="0"/>
          </a:p>
          <a:p>
            <a:pPr algn="l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Wilks, C., &amp; Meara, P. (2002). Untangling word webs. Second Language Research, 18, 303–324.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01768" y="1234440"/>
            <a:ext cx="2194560" cy="2194560"/>
          </a:xfrm>
          <a:prstGeom prst="ellipse">
            <a:avLst/>
          </a:prstGeom>
          <a:solidFill>
            <a:srgbClr val="FBF4ED"/>
          </a:solidFill>
          <a:ln/>
        </p:spPr>
      </p:sp>
      <p:pic>
        <p:nvPicPr>
          <p:cNvPr id="3" name="Image 0" descr="/tmp/claude-0/-home-user-NATIONAL-SS-Funding/d399dd62-2b1c-5986-baf9-d080933e5780/scratchpad/ppt-work/assets/logo-sud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7168" y="1463040"/>
            <a:ext cx="1737360" cy="1737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27048" y="3520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1527048" y="3931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SOOCHOW UNIVERSITY · School of Foreign Languages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1527048" y="46177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1527048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310 (2024) 103804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2026-10-24T15:02:08Z</dcterms:created>
  <dcterms:modified xsi:type="dcterms:W3CDTF">2026-10-24T15:02:08Z</dcterms:modified>
</cp:coreProperties>
</file>