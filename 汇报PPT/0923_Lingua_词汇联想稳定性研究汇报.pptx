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2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L1 汉语</c:v>
          </c:tx>
          <c:spPr>
            <a:solidFill>
              <a:srgbClr val="2A5B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按学习者</c:v>
                </c:pt>
                <c:pt idx="1">
                  <c:v>按线索词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31.74</c:v>
                </c:pt>
                <c:pt idx="1">
                  <c:v>62.68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186-46BD-9A7D-EE2276FDA25C}"/>
            </c:ext>
          </c:extLst>
        </c:ser>
        <c:ser>
          <c:idx val="1"/>
          <c:order val="1"/>
          <c:tx>
            <c:v>L2 英语</c:v>
          </c:tx>
          <c:spPr>
            <a:solidFill>
              <a:srgbClr val="C17845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按学习者</c:v>
                </c:pt>
                <c:pt idx="1">
                  <c:v>按线索词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39.090000000000003</c:v>
                </c:pt>
                <c:pt idx="1">
                  <c:v>68.55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186-46BD-9A7D-EE2276FDA25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L1 汉语</c:v>
          </c:tx>
          <c:spPr>
            <a:ln w="28575">
              <a:solidFill>
                <a:srgbClr val="2A5B78"/>
              </a:solidFill>
            </a:ln>
          </c:spPr>
          <c:marker>
            <c:symbol val="diamond"/>
            <c:size val="8"/>
            <c:spPr>
              <a:solidFill>
                <a:srgbClr val="2A5B78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第1反应</c:v>
                </c:pt>
                <c:pt idx="1">
                  <c:v>第2反应</c:v>
                </c:pt>
                <c:pt idx="2">
                  <c:v>第3反应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33.5</c:v>
                </c:pt>
                <c:pt idx="1">
                  <c:v>12.73</c:v>
                </c:pt>
                <c:pt idx="2">
                  <c:v>6.67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425-49F9-9DB1-D2E0B243C0DC}"/>
            </c:ext>
          </c:extLst>
        </c:ser>
        <c:ser>
          <c:idx val="1"/>
          <c:order val="1"/>
          <c:tx>
            <c:v>L2 英语</c:v>
          </c:tx>
          <c:spPr>
            <a:ln w="28575">
              <a:solidFill>
                <a:srgbClr val="C17845"/>
              </a:solidFill>
            </a:ln>
          </c:spPr>
          <c:marker>
            <c:symbol val="square"/>
            <c:size val="8"/>
            <c:spPr>
              <a:solidFill>
                <a:srgbClr val="C17845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Data'!$C$2:$C$4</c:f>
              <c:strCache>
                <c:ptCount val="3"/>
                <c:pt idx="0">
                  <c:v>第1反应</c:v>
                </c:pt>
                <c:pt idx="1">
                  <c:v>第2反应</c:v>
                </c:pt>
                <c:pt idx="2">
                  <c:v>第3反应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38.72</c:v>
                </c:pt>
                <c:pt idx="1">
                  <c:v>15.73</c:v>
                </c:pt>
                <c:pt idx="2">
                  <c:v>8.4600000000000009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425-49F9-9DB1-D2E0B243C0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en-US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p. 1.</a:t>
            </a:r>
          </a:p>
          <a:p>
            <a:r>
              <a:t>Cover slide with the original article title and publication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1 and 11.</a:t>
            </a:r>
          </a:p>
          <a:p>
            <a:r>
              <a:t>Funding statements are taken from the article's Funding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1-4.</a:t>
            </a:r>
          </a:p>
          <a:p>
            <a:r>
              <a:t>AS is defined in the article as the repetition rate of responses across two administrations of the same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p. 4.</a:t>
            </a:r>
          </a:p>
          <a:p>
            <a:r>
              <a:t>Research questions are translated closely from the 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4-5.</a:t>
            </a:r>
          </a:p>
          <a:p>
            <a:r>
              <a:t>The final analytic sample was 39 because one participant dropped out during session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Wang, X., &amp; Zhang, P. (2024). Lingua, 310, 103804. https://doi.org/10.1016/j.lingua.2024.103804; p. 5.</a:t>
            </a:r>
          </a:p>
          <a:p>
            <a:r>
              <a:rPr dirty="0"/>
              <a:t>The article reports four continuous WATs across one month. Each language was administered twice; same-language administrations were two weeks apart.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p. 5.</a:t>
            </a:r>
          </a:p>
          <a:p>
            <a:r>
              <a:t>Welch's ANOVA was used for the participant-level position analysis because variance homogeneity was violated.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5-6, Table 2.</a:t>
            </a:r>
          </a:p>
          <a:p>
            <a:r>
              <a:t>Values are percentages of repeated responses. The chart is a native editable chart built from Table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p. 6, Section 4.2.</a:t>
            </a:r>
          </a:p>
          <a:p>
            <a:r>
              <a:t>The participant correlation was significant; the cue-word correlation was not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6-7, Tables 3-4.</a:t>
            </a:r>
          </a:p>
          <a:p>
            <a:r>
              <a:t>The chart uses participant-level means. Position had a large effect; language and the interaction were not significant in the two-way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7-10, especially Section 5.1.</a:t>
            </a:r>
          </a:p>
          <a:p>
            <a:r>
              <a:t>The slide explicitly separates the authors' interpretation from directly observed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pp. 9-11.</a:t>
            </a:r>
          </a:p>
          <a:p>
            <a:r>
              <a:t>The implications summarize the discussion on individual variation, response positions and interpretation of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Wang, X., &amp; Zhang, P. (2024). Lingua, 310, 103804. https://doi.org/10.1016/j.lingua.2024.103804; p. 11.</a:t>
            </a:r>
          </a:p>
          <a:p>
            <a:r>
              <a:t>Limitations and conclusions are taken from the article's Conclusion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B3CB7D4-5E8E-494F-AD4B-E3F975E5739A}"/>
              </a:ext>
            </a:extLst>
          </p:cNvPr>
          <p:cNvSpPr>
            <a:spLocks noGrp="1"/>
          </p:cNvSpPr>
          <p:nvPr/>
        </p:nvSpPr>
        <p:spPr>
          <a:xfrm>
            <a:off x="704850" y="838200"/>
            <a:ext cx="76200" cy="3371850"/>
          </a:xfrm>
          <a:prstGeom prst="rect">
            <a:avLst/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CA7F7B-8B48-42E5-B7A5-BC53CE1B8CC5}"/>
              </a:ext>
            </a:extLst>
          </p:cNvPr>
          <p:cNvSpPr>
            <a:spLocks noGrp="1"/>
          </p:cNvSpPr>
          <p:nvPr/>
        </p:nvSpPr>
        <p:spPr>
          <a:xfrm>
            <a:off x="990600" y="800100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5B78"/>
                </a:solidFill>
                <a:latin typeface="Aptos"/>
                <a:ea typeface="Aptos"/>
                <a:cs typeface="Aptos"/>
              </a:rPr>
              <a:t>LINGUA 研究汇报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43B4DF-F035-4B14-A04F-C5A42B2688F4}"/>
              </a:ext>
            </a:extLst>
          </p:cNvPr>
          <p:cNvSpPr>
            <a:spLocks noGrp="1"/>
          </p:cNvSpPr>
          <p:nvPr/>
        </p:nvSpPr>
        <p:spPr>
          <a:xfrm>
            <a:off x="990600" y="1371599"/>
            <a:ext cx="10362644" cy="197313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32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32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‘Did I repeat so many English words?’: Stability of L1 and L2 word association responses over time and across response positions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C9D7FECA-8035-441B-B236-6235CCC3A99E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DB6FAA-5543-4AA1-AB42-F450FDE3637E}"/>
              </a:ext>
            </a:extLst>
          </p:cNvPr>
          <p:cNvSpPr>
            <a:spLocks noGrp="1"/>
          </p:cNvSpPr>
          <p:nvPr/>
        </p:nvSpPr>
        <p:spPr>
          <a:xfrm>
            <a:off x="990600" y="3344735"/>
            <a:ext cx="5018314" cy="531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7212B"/>
                </a:solidFill>
                <a:latin typeface="Aptos"/>
                <a:ea typeface="Aptos"/>
                <a:cs typeface="Aptos"/>
              </a:rPr>
              <a:t>Xin Wang · Ping Zhang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8AC98C-1F2A-4189-BEBE-F8C8047CBEF4}"/>
              </a:ext>
            </a:extLst>
          </p:cNvPr>
          <p:cNvSpPr>
            <a:spLocks noGrp="1"/>
          </p:cNvSpPr>
          <p:nvPr/>
        </p:nvSpPr>
        <p:spPr>
          <a:xfrm>
            <a:off x="990600" y="3876675"/>
            <a:ext cx="6542314" cy="42273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600" b="0" dirty="0">
                <a:solidFill>
                  <a:srgbClr val="66717C"/>
                </a:solidFill>
                <a:latin typeface="Aptos"/>
                <a:ea typeface="Aptos"/>
                <a:cs typeface="Aptos"/>
              </a:rPr>
              <a:t>Lingua 310 (2024) 103804</a:t>
            </a:r>
            <a:r>
              <a:rPr lang="en-US" sz="1600" b="0" dirty="0">
                <a:solidFill>
                  <a:srgbClr val="66717C"/>
                </a:solidFill>
                <a:latin typeface="Aptos"/>
                <a:ea typeface="Aptos"/>
                <a:cs typeface="Aptos"/>
              </a:rPr>
              <a:t> </a:t>
            </a:r>
            <a:r>
              <a:rPr lang="pt-BR" sz="1600" b="0" dirty="0">
                <a:solidFill>
                  <a:srgbClr val="66717C"/>
                </a:solidFill>
                <a:latin typeface="Aptos"/>
                <a:ea typeface="Aptos"/>
                <a:cs typeface="Aptos"/>
              </a:rPr>
              <a:t>DOI 10.1016/j.lingua.2024.103804</a:t>
            </a:r>
          </a:p>
        </p:txBody>
      </p:sp>
    </p:spTree>
    <p:extLst>
      <p:ext uri="{BB962C8B-B14F-4D97-AF65-F5344CB8AC3E}">
        <p14:creationId xmlns:p14="http://schemas.microsoft.com/office/powerpoint/2010/main" val="1788157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64B031D-020E-4B7F-BE4F-2FFC18D24A3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ARTICLE INFORMATION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FB7C34-C6FD-407B-B08A-0724088B2670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9E765C-440B-4A29-8C59-82633A6B0AE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论文信息与研究概览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9C57E24-F39A-4CC4-9645-261828B00DAC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88FDF0-8554-4E4C-AC52-B8F924F264A3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发表信息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73601C-2491-429D-9952-F382A41B4C17}"/>
              </a:ext>
            </a:extLst>
          </p:cNvPr>
          <p:cNvSpPr>
            <a:spLocks noGrp="1"/>
          </p:cNvSpPr>
          <p:nvPr/>
        </p:nvSpPr>
        <p:spPr>
          <a:xfrm>
            <a:off x="762000" y="2009775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Lingua 310 (2024) 103804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FF4F2A-5B23-4484-A0A3-4718BB3C26DE}"/>
              </a:ext>
            </a:extLst>
          </p:cNvPr>
          <p:cNvSpPr>
            <a:spLocks noGrp="1"/>
          </p:cNvSpPr>
          <p:nvPr/>
        </p:nvSpPr>
        <p:spPr>
          <a:xfrm>
            <a:off x="762000" y="2533650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Received 19 Apr 2024</a:t>
            </a:r>
          </a:p>
          <a:p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Revised 11 Aug 2024</a:t>
            </a:r>
          </a:p>
          <a:p>
            <a:pPr algn="l">
              <a:lnSpc>
                <a:spcPct val="130000"/>
              </a:lnSpc>
              <a:buNone/>
              <a:defRPr sz="14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Accepted 12 Aug 2024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5E26E9-1297-497A-A264-F8EFF4113E3E}"/>
              </a:ext>
            </a:extLst>
          </p:cNvPr>
          <p:cNvSpPr>
            <a:spLocks noGrp="1"/>
          </p:cNvSpPr>
          <p:nvPr/>
        </p:nvSpPr>
        <p:spPr>
          <a:xfrm>
            <a:off x="5619750" y="16954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D49EBF-3E14-4E4E-8D44-9B5A39EDFE9D}"/>
              </a:ext>
            </a:extLst>
          </p:cNvPr>
          <p:cNvSpPr>
            <a:spLocks noGrp="1"/>
          </p:cNvSpPr>
          <p:nvPr/>
        </p:nvSpPr>
        <p:spPr>
          <a:xfrm>
            <a:off x="5619750" y="2009775"/>
            <a:ext cx="5524500" cy="1085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5000"/>
              </a:lnSpc>
              <a:buNone/>
              <a:def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比较 L1 与 L2 的联想稳定性，检验个体在两种语言中的稳定性是否一致，并考察反应位置对稳定性的影响。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2F647A1D-DB82-45C9-A1B3-726D182DF28D}"/>
              </a:ext>
            </a:extLst>
          </p:cNvPr>
          <p:cNvSpPr>
            <a:spLocks noGrp="1"/>
          </p:cNvSpPr>
          <p:nvPr/>
        </p:nvSpPr>
        <p:spPr>
          <a:xfrm>
            <a:off x="762000" y="3848100"/>
            <a:ext cx="106680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569BA4-A148-4164-93D6-C725E2C20D72}"/>
              </a:ext>
            </a:extLst>
          </p:cNvPr>
          <p:cNvSpPr>
            <a:spLocks noGrp="1"/>
          </p:cNvSpPr>
          <p:nvPr/>
        </p:nvSpPr>
        <p:spPr>
          <a:xfrm>
            <a:off x="762000" y="416242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基金资助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BC809D-50F5-4D93-8CB6-114EC71DDB1A}"/>
              </a:ext>
            </a:extLst>
          </p:cNvPr>
          <p:cNvSpPr>
            <a:spLocks noGrp="1"/>
          </p:cNvSpPr>
          <p:nvPr/>
        </p:nvSpPr>
        <p:spPr>
          <a:xfrm>
            <a:off x="762000" y="4495800"/>
            <a:ext cx="4857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国家社会科学基金项目  23BYY178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F08158-AFD1-47CF-8ACE-AE5089C4E822}"/>
              </a:ext>
            </a:extLst>
          </p:cNvPr>
          <p:cNvSpPr>
            <a:spLocks noGrp="1"/>
          </p:cNvSpPr>
          <p:nvPr/>
        </p:nvSpPr>
        <p:spPr>
          <a:xfrm>
            <a:off x="762000" y="49339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江苏省教育厅重大项目  2022SJZD126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A162656-DA17-46F4-8FA9-6B1DFC6FB07D}"/>
              </a:ext>
            </a:extLst>
          </p:cNvPr>
          <p:cNvSpPr>
            <a:spLocks noGrp="1"/>
          </p:cNvSpPr>
          <p:nvPr/>
        </p:nvSpPr>
        <p:spPr>
          <a:xfrm>
            <a:off x="6896100" y="4229100"/>
            <a:ext cx="4248150" cy="1200150"/>
          </a:xfrm>
          <a:prstGeom prst="roundRect">
            <a:avLst>
              <a:gd name="adj" fmla="val 6349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F12E822-816B-4B09-B3F1-856EB317211C}"/>
              </a:ext>
            </a:extLst>
          </p:cNvPr>
          <p:cNvSpPr>
            <a:spLocks noGrp="1"/>
          </p:cNvSpPr>
          <p:nvPr/>
        </p:nvSpPr>
        <p:spPr>
          <a:xfrm>
            <a:off x="7181850" y="43815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D0A663-D9F3-4E44-9A67-20B1DBCA4EE3}"/>
              </a:ext>
            </a:extLst>
          </p:cNvPr>
          <p:cNvSpPr>
            <a:spLocks noGrp="1"/>
          </p:cNvSpPr>
          <p:nvPr/>
        </p:nvSpPr>
        <p:spPr>
          <a:xfrm>
            <a:off x="7181850" y="4743450"/>
            <a:ext cx="36195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39名有效被试 · </a:t>
            </a:r>
            <a:r>
              <a:rPr sz="157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汉英两种语言</a:t>
            </a:r>
            <a:endParaRPr sz="1575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22000"/>
              </a:lnSpc>
              <a:buNone/>
              <a:defRPr sz="15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30个线索词 · 每词3个反应 · </a:t>
            </a:r>
            <a:r>
              <a:rPr sz="157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两次测试</a:t>
            </a:r>
            <a:endParaRPr sz="1575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3641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8EBE4A2-CFFE-41DE-AED9-3B6BF58C043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BD5022-AABC-4D5F-A46F-D53F10B128E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52576DA-310B-432A-A3FA-E0C81C0958E3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研究背景与问题缺口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99F45281-8080-4B00-9359-19A5C14174B1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7AA38E2-3C90-494F-8DD5-90C657301D54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4953000" cy="3790950"/>
          </a:xfrm>
          <a:prstGeom prst="roundRect">
            <a:avLst>
              <a:gd name="adj" fmla="val 2010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19274A-A7C0-465C-B1D1-755EB6532E80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什么是联想稳定性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A41497-31AE-4F3A-B943-57030B273E1C}"/>
              </a:ext>
            </a:extLst>
          </p:cNvPr>
          <p:cNvSpPr>
            <a:spLocks noGrp="1"/>
          </p:cNvSpPr>
          <p:nvPr/>
        </p:nvSpPr>
        <p:spPr>
          <a:xfrm>
            <a:off x="1047750" y="2314575"/>
            <a:ext cx="4286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Associative stability (AS)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FC124C-79E1-4BA8-BDCB-E9573D37D565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4248150" cy="914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同一学习者在不同时间面对同一线索词时，重复产生相同反应词的程度。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E776A-AC8F-48A3-89FE-EF6C0FCF1882}"/>
              </a:ext>
            </a:extLst>
          </p:cNvPr>
          <p:cNvSpPr>
            <a:spLocks noGrp="1"/>
          </p:cNvSpPr>
          <p:nvPr/>
        </p:nvSpPr>
        <p:spPr>
          <a:xfrm>
            <a:off x="1047750" y="4057650"/>
            <a:ext cx="436245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本研究将其操作化为两次测试之间的反应重复率。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645813-4E41-4895-9565-677EFABCEC05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已有研究尚未回答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9BA60A-10EC-4682-BD12-D157FEAB1400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099DA2-08AA-45F2-B985-C155C8B5619F}"/>
              </a:ext>
            </a:extLst>
          </p:cNvPr>
          <p:cNvSpPr>
            <a:spLocks noGrp="1"/>
          </p:cNvSpPr>
          <p:nvPr/>
        </p:nvSpPr>
        <p:spPr>
          <a:xfrm>
            <a:off x="6419850" y="2247900"/>
            <a:ext cx="4572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的整体稳定性是否不同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CD270C4-25CB-4F5D-B75C-F5C897E6376A}"/>
              </a:ext>
            </a:extLst>
          </p:cNvPr>
          <p:cNvSpPr>
            <a:spLocks noGrp="1"/>
          </p:cNvSpPr>
          <p:nvPr/>
        </p:nvSpPr>
        <p:spPr>
          <a:xfrm>
            <a:off x="6229350" y="31527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7529E0-2819-4C8D-A2C9-7539E346C032}"/>
              </a:ext>
            </a:extLst>
          </p:cNvPr>
          <p:cNvSpPr>
            <a:spLocks noGrp="1"/>
          </p:cNvSpPr>
          <p:nvPr/>
        </p:nvSpPr>
        <p:spPr>
          <a:xfrm>
            <a:off x="6419850" y="3038475"/>
            <a:ext cx="4572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同一学习者在两种语言中的稳定性是否一致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A868AFA-B59D-4348-8CDF-89FA6238B9FC}"/>
              </a:ext>
            </a:extLst>
          </p:cNvPr>
          <p:cNvSpPr>
            <a:spLocks noGrp="1"/>
          </p:cNvSpPr>
          <p:nvPr/>
        </p:nvSpPr>
        <p:spPr>
          <a:xfrm>
            <a:off x="6229350" y="41148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E6914A5-D8CC-4462-9D3E-571BFDFD8B86}"/>
              </a:ext>
            </a:extLst>
          </p:cNvPr>
          <p:cNvSpPr>
            <a:spLocks noGrp="1"/>
          </p:cNvSpPr>
          <p:nvPr/>
        </p:nvSpPr>
        <p:spPr>
          <a:xfrm>
            <a:off x="6419850" y="4000500"/>
            <a:ext cx="4572000" cy="704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连续联想任务中，第二、第三反应是否更不稳定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595616-3718-491D-84CF-96235FEAEE3E}"/>
              </a:ext>
            </a:extLst>
          </p:cNvPr>
          <p:cNvSpPr>
            <a:spLocks noGrp="1"/>
          </p:cNvSpPr>
          <p:nvPr/>
        </p:nvSpPr>
        <p:spPr>
          <a:xfrm>
            <a:off x="6229350" y="50482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研究缺口不在“能否联想”，而在同一联想反应能否跨时间再次出现。</a:t>
            </a:r>
          </a:p>
        </p:txBody>
      </p:sp>
    </p:spTree>
    <p:extLst>
      <p:ext uri="{BB962C8B-B14F-4D97-AF65-F5344CB8AC3E}">
        <p14:creationId xmlns:p14="http://schemas.microsoft.com/office/powerpoint/2010/main" val="124785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BD98526-3D6E-443A-A75F-1700E7EAEE2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3F41A8C-8A48-47C3-8A2A-F20F5ACE392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213A3F-EE5A-4115-894E-461E06D8DE3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三个研究问题</a:t>
            </a:r>
            <a:endParaRPr sz="2850" b="1" dirty="0">
              <a:solidFill>
                <a:srgbClr val="1721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59913482-D929-4B77-B346-D878DB2506C8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116FEF-EC63-40D0-B103-D1DDBA3E1BA1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53B75D-8A43-4D0D-82FA-444732901111}"/>
              </a:ext>
            </a:extLst>
          </p:cNvPr>
          <p:cNvSpPr>
            <a:spLocks noGrp="1"/>
          </p:cNvSpPr>
          <p:nvPr/>
        </p:nvSpPr>
        <p:spPr>
          <a:xfrm>
            <a:off x="1828800" y="17907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E129F1-5F3B-4623-AACA-0E3CF57FB5C4}"/>
              </a:ext>
            </a:extLst>
          </p:cNvPr>
          <p:cNvSpPr>
            <a:spLocks noGrp="1"/>
          </p:cNvSpPr>
          <p:nvPr/>
        </p:nvSpPr>
        <p:spPr>
          <a:xfrm>
            <a:off x="1828800" y="215265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L1 与 L2 的整体联想稳定性是否存在差异？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4112D6C-1DD9-4A25-A5E1-872E0361849F}"/>
              </a:ext>
            </a:extLst>
          </p:cNvPr>
          <p:cNvSpPr>
            <a:spLocks noGrp="1"/>
          </p:cNvSpPr>
          <p:nvPr/>
        </p:nvSpPr>
        <p:spPr>
          <a:xfrm>
            <a:off x="1828800" y="2809875"/>
            <a:ext cx="931545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017A04-A5BC-48B8-9AA2-FC2E29AB31DE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F88155-59AE-46DE-A86B-95288EC60F55}"/>
              </a:ext>
            </a:extLst>
          </p:cNvPr>
          <p:cNvSpPr>
            <a:spLocks noGrp="1"/>
          </p:cNvSpPr>
          <p:nvPr/>
        </p:nvSpPr>
        <p:spPr>
          <a:xfrm>
            <a:off x="1828800" y="3095625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544AA5-C5D1-487E-B70D-4080B44D7A72}"/>
              </a:ext>
            </a:extLst>
          </p:cNvPr>
          <p:cNvSpPr>
            <a:spLocks noGrp="1"/>
          </p:cNvSpPr>
          <p:nvPr/>
        </p:nvSpPr>
        <p:spPr>
          <a:xfrm>
            <a:off x="1828800" y="3457575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按学习者和按线索词计算时，L1 与 L2 </a:t>
            </a: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稳定性是否相关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151D334-096C-4C9E-9BCA-6C7D22126B1B}"/>
              </a:ext>
            </a:extLst>
          </p:cNvPr>
          <p:cNvSpPr>
            <a:spLocks noGrp="1"/>
          </p:cNvSpPr>
          <p:nvPr/>
        </p:nvSpPr>
        <p:spPr>
          <a:xfrm>
            <a:off x="1828800" y="4114800"/>
            <a:ext cx="931545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79C95E-5EEC-43A4-80C1-A5C1B1EC1E46}"/>
              </a:ext>
            </a:extLst>
          </p:cNvPr>
          <p:cNvSpPr>
            <a:spLocks noGrp="1"/>
          </p:cNvSpPr>
          <p:nvPr/>
        </p:nvSpPr>
        <p:spPr>
          <a:xfrm>
            <a:off x="876300" y="4419600"/>
            <a:ext cx="742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900090-ED51-48DB-BEC2-974F18961327}"/>
              </a:ext>
            </a:extLst>
          </p:cNvPr>
          <p:cNvSpPr>
            <a:spLocks noGrp="1"/>
          </p:cNvSpPr>
          <p:nvPr/>
        </p:nvSpPr>
        <p:spPr>
          <a:xfrm>
            <a:off x="1828800" y="440055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BC9B7B-6BCB-49E8-AE21-42B8D0C62FEB}"/>
              </a:ext>
            </a:extLst>
          </p:cNvPr>
          <p:cNvSpPr>
            <a:spLocks noGrp="1"/>
          </p:cNvSpPr>
          <p:nvPr/>
        </p:nvSpPr>
        <p:spPr>
          <a:xfrm>
            <a:off x="1828800" y="4762500"/>
            <a:ext cx="895350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第一、第二、第三反应位置的稳定性是否不同</a:t>
            </a:r>
            <a:r>
              <a:rPr sz="2025" b="1" dirty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1618371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B54F813-6E5F-4B9C-B8BD-843D3F15491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PARTICIPANTS AND MATERIALS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4507B8-3EA5-4D00-8EE2-60C0A4E572D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C45661-D1C6-4322-8DBB-B030DF7CFD2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参与者与实验材料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40A1AD52-CD53-424E-8FB3-CFC19EB0CC89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ACF1B3C-0709-433D-A27A-C4F1204D3675}"/>
              </a:ext>
            </a:extLst>
          </p:cNvPr>
          <p:cNvSpPr>
            <a:spLocks noGrp="1"/>
          </p:cNvSpPr>
          <p:nvPr/>
        </p:nvSpPr>
        <p:spPr>
          <a:xfrm>
            <a:off x="762000" y="1676400"/>
            <a:ext cx="5048250" cy="3943350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4FF415-ADA7-49AD-8CBE-6DE0441900A2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参与者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3EF0FF-1800-468B-B8C1-9051D02D8615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1BAE94-3B2F-4C11-BC7D-2E8A0A601A27}"/>
              </a:ext>
            </a:extLst>
          </p:cNvPr>
          <p:cNvSpPr>
            <a:spLocks noGrp="1"/>
          </p:cNvSpPr>
          <p:nvPr/>
        </p:nvSpPr>
        <p:spPr>
          <a:xfrm>
            <a:off x="2133600" y="2476500"/>
            <a:ext cx="1143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人招募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294B0FA-78D1-43CD-B207-CC4191A0FC24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2476500" cy="361950"/>
          </a:xfrm>
          <a:prstGeom prst="roundRect">
            <a:avLst>
              <a:gd name="adj" fmla="val 21053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1B8BBE-3C01-4C32-8179-9D1F582C7B83}"/>
              </a:ext>
            </a:extLst>
          </p:cNvPr>
          <p:cNvSpPr>
            <a:spLocks noGrp="1"/>
          </p:cNvSpPr>
          <p:nvPr/>
        </p:nvSpPr>
        <p:spPr>
          <a:xfrm>
            <a:off x="1066800" y="3114675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最终有效 N = 39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13364F-807D-4B19-B6FD-DF5BBDA33D85}"/>
              </a:ext>
            </a:extLst>
          </p:cNvPr>
          <p:cNvSpPr>
            <a:spLocks noGrp="1"/>
          </p:cNvSpPr>
          <p:nvPr/>
        </p:nvSpPr>
        <p:spPr>
          <a:xfrm>
            <a:off x="1066800" y="3695700"/>
            <a:ext cx="3810000" cy="1428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3所高校本科生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英语或英语教育专业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均通过 CET-4</a:t>
            </a:r>
          </a:p>
          <a:p>
            <a:pPr algn="l">
              <a:lnSpc>
                <a:spcPct val="135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平均年龄 19.73 岁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58528AB-A259-41FB-9248-698BC56F9AB6}"/>
              </a:ext>
            </a:extLst>
          </p:cNvPr>
          <p:cNvSpPr>
            <a:spLocks noGrp="1"/>
          </p:cNvSpPr>
          <p:nvPr/>
        </p:nvSpPr>
        <p:spPr>
          <a:xfrm>
            <a:off x="6153150" y="1676400"/>
            <a:ext cx="5086350" cy="3943350"/>
          </a:xfrm>
          <a:prstGeom prst="roundRect">
            <a:avLst>
              <a:gd name="adj" fmla="val 1932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7738A7-2C82-430C-A850-1FB8E50C4670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实验材料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B5461F-23DE-4938-A7A3-974B5C6DF47F}"/>
              </a:ext>
            </a:extLst>
          </p:cNvPr>
          <p:cNvSpPr>
            <a:spLocks noGrp="1"/>
          </p:cNvSpPr>
          <p:nvPr/>
        </p:nvSpPr>
        <p:spPr>
          <a:xfrm>
            <a:off x="6457950" y="2305050"/>
            <a:ext cx="13335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515DA17-F994-4092-848C-003136453D73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对汉英翻译对等线索词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466461-7182-455E-B024-F2DF93A0877B}"/>
              </a:ext>
            </a:extLst>
          </p:cNvPr>
          <p:cNvSpPr>
            <a:spLocks noGrp="1"/>
          </p:cNvSpPr>
          <p:nvPr/>
        </p:nvSpPr>
        <p:spPr>
          <a:xfrm>
            <a:off x="6457950" y="3257550"/>
            <a:ext cx="1352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高频词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5F4002-EAA6-404C-A987-F7BB626A57FB}"/>
              </a:ext>
            </a:extLst>
          </p:cNvPr>
          <p:cNvSpPr>
            <a:spLocks noGrp="1"/>
          </p:cNvSpPr>
          <p:nvPr/>
        </p:nvSpPr>
        <p:spPr>
          <a:xfrm>
            <a:off x="6457950" y="3848100"/>
            <a:ext cx="13525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词类匹配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B54FAC-CE00-46E4-9EA8-51AC52942AE6}"/>
              </a:ext>
            </a:extLst>
          </p:cNvPr>
          <p:cNvSpPr>
            <a:spLocks noGrp="1"/>
          </p:cNvSpPr>
          <p:nvPr/>
        </p:nvSpPr>
        <p:spPr>
          <a:xfrm>
            <a:off x="6457950" y="443865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具体性匹配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08085E-627D-451D-973B-C3D83D2CEA8E}"/>
              </a:ext>
            </a:extLst>
          </p:cNvPr>
          <p:cNvSpPr>
            <a:spLocks noGrp="1"/>
          </p:cNvSpPr>
          <p:nvPr/>
        </p:nvSpPr>
        <p:spPr>
          <a:xfrm>
            <a:off x="8077200" y="38290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名词 · 动词 · 形容词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8E36B9-7426-4206-9D68-FB086E224F36}"/>
              </a:ext>
            </a:extLst>
          </p:cNvPr>
          <p:cNvSpPr>
            <a:spLocks noGrp="1"/>
          </p:cNvSpPr>
          <p:nvPr/>
        </p:nvSpPr>
        <p:spPr>
          <a:xfrm>
            <a:off x="8077200" y="441960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具体词 · 抽象词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7111F8-4391-465C-963B-895042EA6A40}"/>
              </a:ext>
            </a:extLst>
          </p:cNvPr>
          <p:cNvSpPr>
            <a:spLocks noGrp="1"/>
          </p:cNvSpPr>
          <p:nvPr/>
        </p:nvSpPr>
        <p:spPr>
          <a:xfrm>
            <a:off x="6457950" y="5076825"/>
            <a:ext cx="4381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示例  kitchen / 厨房 · smile / 微笑 · value / 价值</a:t>
            </a:r>
          </a:p>
        </p:txBody>
      </p:sp>
    </p:spTree>
    <p:extLst>
      <p:ext uri="{BB962C8B-B14F-4D97-AF65-F5344CB8AC3E}">
        <p14:creationId xmlns:p14="http://schemas.microsoft.com/office/powerpoint/2010/main" val="213483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951ED586-EB61-4DC3-A237-E3666971FB84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PROCEDURE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5EBAB9-B4B9-4542-B8C7-7369E38C830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B59B0-1C69-4BE8-8E6C-ED24D386025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连续词汇联想任务与测试流程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253A86-0704-4EE3-AE67-2F6058886D5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每种语言前测与重测相隔两周，四次在线测试覆盖约一个月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3A1CE3C-1906-4A4A-AF77-8DB50ABE8C07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E870174E-D690-4785-8FD9-C5E9C054CFA2}"/>
              </a:ext>
            </a:extLst>
          </p:cNvPr>
          <p:cNvSpPr>
            <a:spLocks noGrp="1"/>
          </p:cNvSpPr>
          <p:nvPr/>
        </p:nvSpPr>
        <p:spPr>
          <a:xfrm>
            <a:off x="1219200" y="2952750"/>
            <a:ext cx="8591550" cy="0"/>
          </a:xfrm>
          <a:prstGeom prst="line">
            <a:avLst/>
          </a:prstGeom>
          <a:noFill/>
          <a:ln w="38100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870EB1-DF6A-4FC1-8BD3-F4B2D919434B}"/>
              </a:ext>
            </a:extLst>
          </p:cNvPr>
          <p:cNvSpPr>
            <a:spLocks noGrp="1"/>
          </p:cNvSpPr>
          <p:nvPr/>
        </p:nvSpPr>
        <p:spPr>
          <a:xfrm>
            <a:off x="15049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0AA9D2-7330-4A6A-BE50-BD2954F78CA2}"/>
              </a:ext>
            </a:extLst>
          </p:cNvPr>
          <p:cNvSpPr>
            <a:spLocks noGrp="1"/>
          </p:cNvSpPr>
          <p:nvPr/>
        </p:nvSpPr>
        <p:spPr>
          <a:xfrm>
            <a:off x="15049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D57FAD-75C3-4320-9366-641093A4F330}"/>
              </a:ext>
            </a:extLst>
          </p:cNvPr>
          <p:cNvSpPr>
            <a:spLocks noGrp="1"/>
          </p:cNvSpPr>
          <p:nvPr/>
        </p:nvSpPr>
        <p:spPr>
          <a:xfrm>
            <a:off x="8763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第1次测试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857160-4E89-4B12-B02B-3172CB460674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一种语言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8C0C960-C2BB-4F2E-925C-551D7AA1946E}"/>
              </a:ext>
            </a:extLst>
          </p:cNvPr>
          <p:cNvSpPr>
            <a:spLocks noGrp="1"/>
          </p:cNvSpPr>
          <p:nvPr/>
        </p:nvSpPr>
        <p:spPr>
          <a:xfrm>
            <a:off x="40576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5EA205-B1F1-4DC0-8848-76939089CE84}"/>
              </a:ext>
            </a:extLst>
          </p:cNvPr>
          <p:cNvSpPr>
            <a:spLocks noGrp="1"/>
          </p:cNvSpPr>
          <p:nvPr/>
        </p:nvSpPr>
        <p:spPr>
          <a:xfrm>
            <a:off x="40576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BE63A1-22E3-4B9E-A1B9-6AAD3378DDC0}"/>
              </a:ext>
            </a:extLst>
          </p:cNvPr>
          <p:cNvSpPr>
            <a:spLocks noGrp="1"/>
          </p:cNvSpPr>
          <p:nvPr/>
        </p:nvSpPr>
        <p:spPr>
          <a:xfrm>
            <a:off x="34290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第2次测试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F2226F-B245-4EA6-B408-59F382462B06}"/>
              </a:ext>
            </a:extLst>
          </p:cNvPr>
          <p:cNvSpPr>
            <a:spLocks noGrp="1"/>
          </p:cNvSpPr>
          <p:nvPr/>
        </p:nvSpPr>
        <p:spPr>
          <a:xfrm>
            <a:off x="33337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另一种语言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13442D2-5068-4102-8789-7F652D4A1DC9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78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3C8ACE-6DE7-4ACB-AB30-9684E5D575C4}"/>
              </a:ext>
            </a:extLst>
          </p:cNvPr>
          <p:cNvSpPr>
            <a:spLocks noGrp="1"/>
          </p:cNvSpPr>
          <p:nvPr/>
        </p:nvSpPr>
        <p:spPr>
          <a:xfrm>
            <a:off x="66103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EF491F-ACB1-43A0-98BD-9BAE91FCDE06}"/>
              </a:ext>
            </a:extLst>
          </p:cNvPr>
          <p:cNvSpPr>
            <a:spLocks noGrp="1"/>
          </p:cNvSpPr>
          <p:nvPr/>
        </p:nvSpPr>
        <p:spPr>
          <a:xfrm>
            <a:off x="59817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第3次测试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B81532E-469D-4327-B6EA-BD20B4B245BC}"/>
              </a:ext>
            </a:extLst>
          </p:cNvPr>
          <p:cNvSpPr>
            <a:spLocks noGrp="1"/>
          </p:cNvSpPr>
          <p:nvPr/>
        </p:nvSpPr>
        <p:spPr>
          <a:xfrm>
            <a:off x="58864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与第1次相同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EADA70C-42D0-437D-B239-2B082498FD32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1784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F568B45-7ABA-4B91-ABC9-A74B18A95499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840E341-678D-4D00-880C-4CAF1DB4371E}"/>
              </a:ext>
            </a:extLst>
          </p:cNvPr>
          <p:cNvSpPr>
            <a:spLocks noGrp="1"/>
          </p:cNvSpPr>
          <p:nvPr/>
        </p:nvSpPr>
        <p:spPr>
          <a:xfrm>
            <a:off x="8534400" y="3352800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第4次测试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4EA7E1-66A9-4C01-A3B7-CD27BFD4599E}"/>
              </a:ext>
            </a:extLst>
          </p:cNvPr>
          <p:cNvSpPr>
            <a:spLocks noGrp="1"/>
          </p:cNvSpPr>
          <p:nvPr/>
        </p:nvSpPr>
        <p:spPr>
          <a:xfrm>
            <a:off x="8439150" y="37338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与第2次相同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F35D30E-AA9A-45DB-A4D3-CD0AD6093D53}"/>
              </a:ext>
            </a:extLst>
          </p:cNvPr>
          <p:cNvSpPr>
            <a:spLocks noGrp="1"/>
          </p:cNvSpPr>
          <p:nvPr/>
        </p:nvSpPr>
        <p:spPr>
          <a:xfrm>
            <a:off x="933450" y="4857750"/>
            <a:ext cx="1238250" cy="361950"/>
          </a:xfrm>
          <a:prstGeom prst="roundRect">
            <a:avLst>
              <a:gd name="adj" fmla="val 21053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DE9D88-317C-4E68-B684-66A03A030AAA}"/>
              </a:ext>
            </a:extLst>
          </p:cNvPr>
          <p:cNvSpPr>
            <a:spLocks noGrp="1"/>
          </p:cNvSpPr>
          <p:nvPr/>
        </p:nvSpPr>
        <p:spPr>
          <a:xfrm>
            <a:off x="933450" y="4867275"/>
            <a:ext cx="1238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每个测试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14EA942-F2EA-4155-8F8B-4D7C113205F8}"/>
              </a:ext>
            </a:extLst>
          </p:cNvPr>
          <p:cNvSpPr>
            <a:spLocks noGrp="1"/>
          </p:cNvSpPr>
          <p:nvPr/>
        </p:nvSpPr>
        <p:spPr>
          <a:xfrm>
            <a:off x="2343150" y="485775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30个线索词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5B6CEC5-6F54-4860-AA3A-28E77886535F}"/>
              </a:ext>
            </a:extLst>
          </p:cNvPr>
          <p:cNvSpPr>
            <a:spLocks noGrp="1"/>
          </p:cNvSpPr>
          <p:nvPr/>
        </p:nvSpPr>
        <p:spPr>
          <a:xfrm>
            <a:off x="4152900" y="48577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每个线索词输入最先想到的3个词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AD26E7-7F0F-4FF3-99D2-73C4712F8829}"/>
              </a:ext>
            </a:extLst>
          </p:cNvPr>
          <p:cNvSpPr>
            <a:spLocks noGrp="1"/>
          </p:cNvSpPr>
          <p:nvPr/>
        </p:nvSpPr>
        <p:spPr>
          <a:xfrm>
            <a:off x="8191500" y="48577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无固定时限，但要求尽快完成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87B3BD-93E1-48F9-9BB4-96D4993FDA7C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10096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第二轮的时间、词序与说明保持一致；参与者事先不知道会重复同一测试。</a:t>
            </a:r>
          </a:p>
        </p:txBody>
      </p:sp>
    </p:spTree>
    <p:extLst>
      <p:ext uri="{BB962C8B-B14F-4D97-AF65-F5344CB8AC3E}">
        <p14:creationId xmlns:p14="http://schemas.microsoft.com/office/powerpoint/2010/main" val="1020202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ECDB6FCA-5BD8-4D4B-ACD0-A384A28C621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MEASURES AND ANALYSIS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983E15F-E754-4F92-B2C7-3793FAC93305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E2F8F7-548E-4863-BFA6-A111205B08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联想稳定性的计算与统计分析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F275DE4-9B0B-4533-89FF-BA079CE87C3D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6A29F09-936D-4D7F-B178-71FAEF7C0FFB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4819650" cy="1676400"/>
          </a:xfrm>
          <a:prstGeom prst="roundRect">
            <a:avLst>
              <a:gd name="adj" fmla="val 4545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59DAE1-F7B8-4CBF-82B3-1EF4B61562A7}"/>
              </a:ext>
            </a:extLst>
          </p:cNvPr>
          <p:cNvSpPr>
            <a:spLocks noGrp="1"/>
          </p:cNvSpPr>
          <p:nvPr/>
        </p:nvSpPr>
        <p:spPr>
          <a:xfrm>
            <a:off x="1066800" y="19716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0A7AC3-F70B-48F0-8762-C5180CE135A6}"/>
              </a:ext>
            </a:extLst>
          </p:cNvPr>
          <p:cNvSpPr>
            <a:spLocks noGrp="1"/>
          </p:cNvSpPr>
          <p:nvPr/>
        </p:nvSpPr>
        <p:spPr>
          <a:xfrm>
            <a:off x="1066800" y="2352675"/>
            <a:ext cx="4171950" cy="647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 = 两次测试中重复出现的反应占比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224558-6AFF-406B-9AD8-F61814AC279D}"/>
              </a:ext>
            </a:extLst>
          </p:cNvPr>
          <p:cNvSpPr>
            <a:spLocks noGrp="1"/>
          </p:cNvSpPr>
          <p:nvPr/>
        </p:nvSpPr>
        <p:spPr>
          <a:xfrm>
            <a:off x="1066800" y="3038475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先进行词形还原，并修正明显拼写错误。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C79335D-EBA8-4E06-9897-51B782261B65}"/>
              </a:ext>
            </a:extLst>
          </p:cNvPr>
          <p:cNvSpPr>
            <a:spLocks noGrp="1"/>
          </p:cNvSpPr>
          <p:nvPr/>
        </p:nvSpPr>
        <p:spPr>
          <a:xfrm>
            <a:off x="5905500" y="1714500"/>
            <a:ext cx="5334000" cy="1676400"/>
          </a:xfrm>
          <a:prstGeom prst="roundRect">
            <a:avLst>
              <a:gd name="adj" fmla="val 4545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44B17C-A28B-49B6-A1B3-480975128A1E}"/>
              </a:ext>
            </a:extLst>
          </p:cNvPr>
          <p:cNvSpPr>
            <a:spLocks noGrp="1"/>
          </p:cNvSpPr>
          <p:nvPr/>
        </p:nvSpPr>
        <p:spPr>
          <a:xfrm>
            <a:off x="6210300" y="1971675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两种分析单位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90A021-1674-4D3E-B2AD-434B0CA15709}"/>
              </a:ext>
            </a:extLst>
          </p:cNvPr>
          <p:cNvSpPr>
            <a:spLocks noGrp="1"/>
          </p:cNvSpPr>
          <p:nvPr/>
        </p:nvSpPr>
        <p:spPr>
          <a:xfrm>
            <a:off x="6210300" y="24003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D73D33-B0B8-4077-8B65-2CBEF4945C70}"/>
              </a:ext>
            </a:extLst>
          </p:cNvPr>
          <p:cNvSpPr>
            <a:spLocks noGrp="1"/>
          </p:cNvSpPr>
          <p:nvPr/>
        </p:nvSpPr>
        <p:spPr>
          <a:xfrm>
            <a:off x="6210300" y="27813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个体跨时间是否重复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DB286-DBDD-4426-98CB-1D108BD37DEB}"/>
              </a:ext>
            </a:extLst>
          </p:cNvPr>
          <p:cNvSpPr>
            <a:spLocks noGrp="1"/>
          </p:cNvSpPr>
          <p:nvPr/>
        </p:nvSpPr>
        <p:spPr>
          <a:xfrm>
            <a:off x="8724900" y="2400300"/>
            <a:ext cx="2000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按线索词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83BD94-B2DF-4D24-ACFB-B5A4377EB680}"/>
              </a:ext>
            </a:extLst>
          </p:cNvPr>
          <p:cNvSpPr>
            <a:spLocks noGrp="1"/>
          </p:cNvSpPr>
          <p:nvPr/>
        </p:nvSpPr>
        <p:spPr>
          <a:xfrm>
            <a:off x="8724900" y="2781300"/>
            <a:ext cx="2190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群体反应模式是否稳定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698438A5-EACD-444E-B5B5-6F9586E962D0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A0CD62-B4B9-4CDC-A1D8-AE1983B922BE}"/>
              </a:ext>
            </a:extLst>
          </p:cNvPr>
          <p:cNvSpPr>
            <a:spLocks noGrp="1"/>
          </p:cNvSpPr>
          <p:nvPr/>
        </p:nvSpPr>
        <p:spPr>
          <a:xfrm>
            <a:off x="762000" y="412432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统计检验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F5B39A-DC72-4B35-A5E5-AD972F4B0B9A}"/>
              </a:ext>
            </a:extLst>
          </p:cNvPr>
          <p:cNvSpPr>
            <a:spLocks noGrp="1"/>
          </p:cNvSpPr>
          <p:nvPr/>
        </p:nvSpPr>
        <p:spPr>
          <a:xfrm>
            <a:off x="7620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整体差异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1270C8-E251-46AC-9CC0-C4D9DD80BC50}"/>
              </a:ext>
            </a:extLst>
          </p:cNvPr>
          <p:cNvSpPr>
            <a:spLocks noGrp="1"/>
          </p:cNvSpPr>
          <p:nvPr/>
        </p:nvSpPr>
        <p:spPr>
          <a:xfrm>
            <a:off x="7620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独立样本 t 检验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BD03F1-8A19-499E-A5FC-1BB4E4D34536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L1 与 L2 重复率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2ACD23-413A-4C1D-8091-1E0D4928EEC3}"/>
              </a:ext>
            </a:extLst>
          </p:cNvPr>
          <p:cNvSpPr>
            <a:spLocks noGrp="1"/>
          </p:cNvSpPr>
          <p:nvPr/>
        </p:nvSpPr>
        <p:spPr>
          <a:xfrm>
            <a:off x="43053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跨语言一致性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148AB43-C9C4-4607-BBCA-26B39B8DC464}"/>
              </a:ext>
            </a:extLst>
          </p:cNvPr>
          <p:cNvSpPr>
            <a:spLocks noGrp="1"/>
          </p:cNvSpPr>
          <p:nvPr/>
        </p:nvSpPr>
        <p:spPr>
          <a:xfrm>
            <a:off x="43053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Pearson 相关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75B694-DE54-4B38-BB5F-53510367030A}"/>
              </a:ext>
            </a:extLst>
          </p:cNvPr>
          <p:cNvSpPr>
            <a:spLocks noGrp="1"/>
          </p:cNvSpPr>
          <p:nvPr/>
        </p:nvSpPr>
        <p:spPr>
          <a:xfrm>
            <a:off x="43053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学习者与线索词分别计算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D7B64DD-74F8-42A1-83E5-700EBC747F1D}"/>
              </a:ext>
            </a:extLst>
          </p:cNvPr>
          <p:cNvSpPr>
            <a:spLocks noGrp="1"/>
          </p:cNvSpPr>
          <p:nvPr/>
        </p:nvSpPr>
        <p:spPr>
          <a:xfrm>
            <a:off x="7848600" y="4543425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反应位置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1CFDCC9-43D5-41D8-B639-BC06CDFE0DD5}"/>
              </a:ext>
            </a:extLst>
          </p:cNvPr>
          <p:cNvSpPr>
            <a:spLocks noGrp="1"/>
          </p:cNvSpPr>
          <p:nvPr/>
        </p:nvSpPr>
        <p:spPr>
          <a:xfrm>
            <a:off x="7848600" y="4886325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双因素 ANOVA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5E8061D-1530-4EB5-A816-6763776582C4}"/>
              </a:ext>
            </a:extLst>
          </p:cNvPr>
          <p:cNvSpPr>
            <a:spLocks noGrp="1"/>
          </p:cNvSpPr>
          <p:nvPr/>
        </p:nvSpPr>
        <p:spPr>
          <a:xfrm>
            <a:off x="7848600" y="5286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语言 × 反应位置</a:t>
            </a:r>
          </a:p>
        </p:txBody>
      </p:sp>
    </p:spTree>
    <p:extLst>
      <p:ext uri="{BB962C8B-B14F-4D97-AF65-F5344CB8AC3E}">
        <p14:creationId xmlns:p14="http://schemas.microsoft.com/office/powerpoint/2010/main" val="136243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6D94F7A0-D9CF-45D5-B565-299C9AC4145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 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676DF2-7DEC-453B-943F-4B6D38016A0F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279471-B3AA-4D15-8E19-42511D71F13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整体比较中，L2联想稳定性高于L1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4DDEE7-79A0-4E77-BC10-646A31FE344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学习者层面与线索词层面呈现相同方向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93C83BF3-D16A-4DC2-A03E-F3D48F8F66A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1" name="Chart"/>
          <p:cNvGraphicFramePr/>
          <p:nvPr/>
        </p:nvGraphicFramePr>
        <p:xfrm>
          <a:off x="857250" y="2143125"/>
          <a:ext cx="6667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00C3F6A1-79EF-44C4-A2E6-9EB15839A2BB}"/>
              </a:ext>
            </a:extLst>
          </p:cNvPr>
          <p:cNvSpPr>
            <a:spLocks noGrp="1"/>
          </p:cNvSpPr>
          <p:nvPr/>
        </p:nvSpPr>
        <p:spPr>
          <a:xfrm>
            <a:off x="7905750" y="2238375"/>
            <a:ext cx="3295650" cy="1352550"/>
          </a:xfrm>
          <a:prstGeom prst="roundRect">
            <a:avLst>
              <a:gd name="adj" fmla="val 5634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048EC4-01C3-4D03-9D9D-7E8369DBEFBC}"/>
              </a:ext>
            </a:extLst>
          </p:cNvPr>
          <p:cNvSpPr>
            <a:spLocks noGrp="1"/>
          </p:cNvSpPr>
          <p:nvPr/>
        </p:nvSpPr>
        <p:spPr>
          <a:xfrm>
            <a:off x="8172450" y="24288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3FF2EB2-F594-488D-A1FB-F6AFD94699C5}"/>
              </a:ext>
            </a:extLst>
          </p:cNvPr>
          <p:cNvSpPr>
            <a:spLocks noGrp="1"/>
          </p:cNvSpPr>
          <p:nvPr/>
        </p:nvSpPr>
        <p:spPr>
          <a:xfrm>
            <a:off x="8172450" y="2781300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+7.35 个百分点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7DB5827-8497-4B18-AE01-5EEBFD65EFC6}"/>
              </a:ext>
            </a:extLst>
          </p:cNvPr>
          <p:cNvSpPr>
            <a:spLocks noGrp="1"/>
          </p:cNvSpPr>
          <p:nvPr/>
        </p:nvSpPr>
        <p:spPr>
          <a:xfrm>
            <a:off x="8172450" y="3228975"/>
            <a:ext cx="2724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.01 · d = .703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CA79A81-A929-440E-9C68-ADF4A3735162}"/>
              </a:ext>
            </a:extLst>
          </p:cNvPr>
          <p:cNvSpPr>
            <a:spLocks noGrp="1"/>
          </p:cNvSpPr>
          <p:nvPr/>
        </p:nvSpPr>
        <p:spPr>
          <a:xfrm>
            <a:off x="7905750" y="3867150"/>
            <a:ext cx="3295650" cy="1352550"/>
          </a:xfrm>
          <a:prstGeom prst="roundRect">
            <a:avLst>
              <a:gd name="adj" fmla="val 5634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AF9D44-3AF4-43F4-A978-2DC02CD562CC}"/>
              </a:ext>
            </a:extLst>
          </p:cNvPr>
          <p:cNvSpPr>
            <a:spLocks noGrp="1"/>
          </p:cNvSpPr>
          <p:nvPr/>
        </p:nvSpPr>
        <p:spPr>
          <a:xfrm>
            <a:off x="8172450" y="4057650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按线索词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98217E-7784-48A5-9AC3-70A1FBDC4A1E}"/>
              </a:ext>
            </a:extLst>
          </p:cNvPr>
          <p:cNvSpPr>
            <a:spLocks noGrp="1"/>
          </p:cNvSpPr>
          <p:nvPr/>
        </p:nvSpPr>
        <p:spPr>
          <a:xfrm>
            <a:off x="8172450" y="4410075"/>
            <a:ext cx="27241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+5.87 个百分点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134ABD-8762-4C70-AEC7-514A082EA084}"/>
              </a:ext>
            </a:extLst>
          </p:cNvPr>
          <p:cNvSpPr>
            <a:spLocks noGrp="1"/>
          </p:cNvSpPr>
          <p:nvPr/>
        </p:nvSpPr>
        <p:spPr>
          <a:xfrm>
            <a:off x="8172450" y="4857750"/>
            <a:ext cx="272415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p &lt; .001 · d = .868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7183F0-FBBB-41FB-9051-85900F76826E}"/>
              </a:ext>
            </a:extLst>
          </p:cNvPr>
          <p:cNvSpPr>
            <a:spLocks noGrp="1"/>
          </p:cNvSpPr>
          <p:nvPr/>
        </p:nvSpPr>
        <p:spPr>
          <a:xfrm>
            <a:off x="857250" y="5676900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说明：按线索词计算的群体模式比单个学习者的反应更稳定。</a:t>
            </a:r>
          </a:p>
        </p:txBody>
      </p:sp>
    </p:spTree>
    <p:extLst>
      <p:ext uri="{BB962C8B-B14F-4D97-AF65-F5344CB8AC3E}">
        <p14:creationId xmlns:p14="http://schemas.microsoft.com/office/powerpoint/2010/main" val="148426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BDC152C0-CAA0-4759-94D3-3D617ED96FB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 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B8FFE0-35F4-4B56-A88B-6152DA56D63A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1E26ED-76B2-4FDF-9500-A3E467FCFEB0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个体在L1与L2中的稳定性表现出一致性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13D6896F-DC6C-4AA5-9F4C-881ABD27F14E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E1551BD-05BA-4CC8-BE03-764DA8948AB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4895850" cy="3190875"/>
          </a:xfrm>
          <a:prstGeom prst="roundRect">
            <a:avLst>
              <a:gd name="adj" fmla="val 2388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1654E0-CC57-4A63-8076-751231EDEDCA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按学习者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F23D6C-9B82-4BEA-8317-9D60C2221071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3905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r = .636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B000F4-67D3-4372-9BDC-580505244FA8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&lt; .001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EA1C83-FFE0-4EC9-ADCA-31976799E50C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[.400, .792]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58482A-2E12-4A60-A206-016AE61E6577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在L1中更容易重复反应的学习者，在L2中通常也更容易重复。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7260380-D1BA-43D5-AE42-8C3A3B11A7B5}"/>
              </a:ext>
            </a:extLst>
          </p:cNvPr>
          <p:cNvSpPr>
            <a:spLocks noGrp="1"/>
          </p:cNvSpPr>
          <p:nvPr/>
        </p:nvSpPr>
        <p:spPr>
          <a:xfrm>
            <a:off x="5962650" y="1733550"/>
            <a:ext cx="5276850" cy="3190875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0BC5D9-79FA-4F9F-8EBE-2284AE8F57A2}"/>
              </a:ext>
            </a:extLst>
          </p:cNvPr>
          <p:cNvSpPr>
            <a:spLocks noGrp="1"/>
          </p:cNvSpPr>
          <p:nvPr/>
        </p:nvSpPr>
        <p:spPr>
          <a:xfrm>
            <a:off x="6267450" y="20002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按线索词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1CEEA4-446D-49C2-8ED4-9D51E9FC712F}"/>
              </a:ext>
            </a:extLst>
          </p:cNvPr>
          <p:cNvSpPr>
            <a:spLocks noGrp="1"/>
          </p:cNvSpPr>
          <p:nvPr/>
        </p:nvSpPr>
        <p:spPr>
          <a:xfrm>
            <a:off x="6267450" y="2381250"/>
            <a:ext cx="3905250" cy="742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r = .155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D8A098F-49B1-4312-A90C-FD834F8578E2}"/>
              </a:ext>
            </a:extLst>
          </p:cNvPr>
          <p:cNvSpPr>
            <a:spLocks noGrp="1"/>
          </p:cNvSpPr>
          <p:nvPr/>
        </p:nvSpPr>
        <p:spPr>
          <a:xfrm>
            <a:off x="6267450" y="31432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17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2B"/>
                </a:solidFill>
                <a:latin typeface="Aptos"/>
                <a:ea typeface="Aptos"/>
                <a:cs typeface="Aptos"/>
              </a:rPr>
              <a:t>p = .414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1CF569-C4CD-45BC-9164-44379F09197E}"/>
              </a:ext>
            </a:extLst>
          </p:cNvPr>
          <p:cNvSpPr>
            <a:spLocks noGrp="1"/>
          </p:cNvSpPr>
          <p:nvPr/>
        </p:nvSpPr>
        <p:spPr>
          <a:xfrm>
            <a:off x="6267450" y="35242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95% CI  [-.218, .488]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BFA243E-D1B6-43EA-83F5-B55F3DB99FFA}"/>
              </a:ext>
            </a:extLst>
          </p:cNvPr>
          <p:cNvSpPr>
            <a:spLocks noGrp="1"/>
          </p:cNvSpPr>
          <p:nvPr/>
        </p:nvSpPr>
        <p:spPr>
          <a:xfrm>
            <a:off x="6267450" y="4076700"/>
            <a:ext cx="4095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8000"/>
              </a:lnSpc>
              <a:buNone/>
              <a:def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翻译对等词并不会稳定地呈现相近的重复率。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75DE71-C2EE-4F8E-AEBE-7BE715A2D6A1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477500" cy="4381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这项结果支持的是个体层面的跨语言一致性，不是线索词层面的对应。</a:t>
            </a:r>
          </a:p>
        </p:txBody>
      </p:sp>
    </p:spTree>
    <p:extLst>
      <p:ext uri="{BB962C8B-B14F-4D97-AF65-F5344CB8AC3E}">
        <p14:creationId xmlns:p14="http://schemas.microsoft.com/office/powerpoint/2010/main" val="1674317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8B5E215-B49E-4F89-8523-340BBC90C4D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RESULT 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3C01F6-1CF8-41AE-9583-6AFB83E5E10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0B0125-EDAF-438E-80ED-538718FAB1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反应越靠后，联想稳定性越低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980B87-1CC8-441C-8E43-3ECEF2BDF02E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第一位置到第三位置，L1与L2均呈持续下降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8F88BE5-56B6-4ECC-B21A-DAC7BF910143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2" name="Chart"/>
          <p:cNvGraphicFramePr/>
          <p:nvPr/>
        </p:nvGraphicFramePr>
        <p:xfrm>
          <a:off x="838200" y="2076450"/>
          <a:ext cx="7524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16324B79-C855-4F96-B86B-5EF6FDC67A01}"/>
              </a:ext>
            </a:extLst>
          </p:cNvPr>
          <p:cNvSpPr>
            <a:spLocks noGrp="1"/>
          </p:cNvSpPr>
          <p:nvPr/>
        </p:nvSpPr>
        <p:spPr>
          <a:xfrm>
            <a:off x="8763000" y="2114550"/>
            <a:ext cx="2495550" cy="1257300"/>
          </a:xfrm>
          <a:prstGeom prst="roundRect">
            <a:avLst>
              <a:gd name="adj" fmla="val 6061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A07F0C-8B64-4A90-B786-03BF187F09FF}"/>
              </a:ext>
            </a:extLst>
          </p:cNvPr>
          <p:cNvSpPr>
            <a:spLocks noGrp="1"/>
          </p:cNvSpPr>
          <p:nvPr/>
        </p:nvSpPr>
        <p:spPr>
          <a:xfrm>
            <a:off x="8991600" y="229552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位置主效应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FC2C5C-A556-41A1-ACA0-FAE0B5619436}"/>
              </a:ext>
            </a:extLst>
          </p:cNvPr>
          <p:cNvSpPr>
            <a:spLocks noGrp="1"/>
          </p:cNvSpPr>
          <p:nvPr/>
        </p:nvSpPr>
        <p:spPr>
          <a:xfrm>
            <a:off x="8991600" y="2647950"/>
            <a:ext cx="2095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212B"/>
                </a:solidFill>
                <a:latin typeface="Aptos Display"/>
                <a:ea typeface="Aptos Display"/>
                <a:cs typeface="Aptos Display"/>
              </a:rPr>
              <a:t>p &lt; .001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D2CF04-5196-4586-9EC4-8E50D4446FEA}"/>
              </a:ext>
            </a:extLst>
          </p:cNvPr>
          <p:cNvSpPr>
            <a:spLocks noGrp="1"/>
          </p:cNvSpPr>
          <p:nvPr/>
        </p:nvSpPr>
        <p:spPr>
          <a:xfrm>
            <a:off x="8991600" y="3038475"/>
            <a:ext cx="2095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η² = .666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4586835-2822-416F-9355-9260D3DCB697}"/>
              </a:ext>
            </a:extLst>
          </p:cNvPr>
          <p:cNvSpPr>
            <a:spLocks noGrp="1"/>
          </p:cNvSpPr>
          <p:nvPr/>
        </p:nvSpPr>
        <p:spPr>
          <a:xfrm>
            <a:off x="8763000" y="3581400"/>
            <a:ext cx="249555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A87782-1F4D-4A54-BC5B-BCC16A8D214D}"/>
              </a:ext>
            </a:extLst>
          </p:cNvPr>
          <p:cNvSpPr>
            <a:spLocks noGrp="1"/>
          </p:cNvSpPr>
          <p:nvPr/>
        </p:nvSpPr>
        <p:spPr>
          <a:xfrm>
            <a:off x="8991600" y="37528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在双因素模型中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0D94F3-C218-42CB-914B-15F8489886F5}"/>
              </a:ext>
            </a:extLst>
          </p:cNvPr>
          <p:cNvSpPr>
            <a:spLocks noGrp="1"/>
          </p:cNvSpPr>
          <p:nvPr/>
        </p:nvSpPr>
        <p:spPr>
          <a:xfrm>
            <a:off x="8991600" y="41433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语言主效应  p = .156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444464-F553-4959-8625-77F0426343E0}"/>
              </a:ext>
            </a:extLst>
          </p:cNvPr>
          <p:cNvSpPr>
            <a:spLocks noGrp="1"/>
          </p:cNvSpPr>
          <p:nvPr/>
        </p:nvSpPr>
        <p:spPr>
          <a:xfrm>
            <a:off x="8991600" y="450532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交互作用  p = .621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9FF198-9C44-46CD-A008-8B4F2A0DB8BD}"/>
              </a:ext>
            </a:extLst>
          </p:cNvPr>
          <p:cNvSpPr>
            <a:spLocks noGrp="1"/>
          </p:cNvSpPr>
          <p:nvPr/>
        </p:nvSpPr>
        <p:spPr>
          <a:xfrm>
            <a:off x="8991600" y="4857750"/>
            <a:ext cx="2095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反应位置的影响强于语言差异。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EB9BA5-15F9-4F35-BAC7-4E7D379D8286}"/>
              </a:ext>
            </a:extLst>
          </p:cNvPr>
          <p:cNvSpPr>
            <a:spLocks noGrp="1"/>
          </p:cNvSpPr>
          <p:nvPr/>
        </p:nvSpPr>
        <p:spPr>
          <a:xfrm>
            <a:off x="876300" y="5695950"/>
            <a:ext cx="102870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第三反应位置平均仅重复约2个L1反应和3个L2反应。</a:t>
            </a:r>
          </a:p>
        </p:txBody>
      </p:sp>
    </p:spTree>
    <p:extLst>
      <p:ext uri="{BB962C8B-B14F-4D97-AF65-F5344CB8AC3E}">
        <p14:creationId xmlns:p14="http://schemas.microsoft.com/office/powerpoint/2010/main" val="1499157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80335850-DC86-4BA8-AC0D-190B0B2EE57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8ED591-970C-4C09-84F0-0F98753847F1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660A5F-7DA1-4400-B61F-EE4FEA6941A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更高的L2稳定性不等于更成熟的词汇网络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76AF51-4145-4DB4-B031-18BE61A30501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以下是作者基于词汇网络视角提出的解释，并非对网络结构的直接测量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BA43DC1-00E8-48C7-85E8-CAF8CA58A3ED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354561-FA3C-48F7-AEE8-C70B0DF734F5}"/>
              </a:ext>
            </a:extLst>
          </p:cNvPr>
          <p:cNvSpPr>
            <a:spLocks noGrp="1"/>
          </p:cNvSpPr>
          <p:nvPr/>
        </p:nvSpPr>
        <p:spPr>
          <a:xfrm>
            <a:off x="762000" y="2057400"/>
            <a:ext cx="4819650" cy="2781300"/>
          </a:xfrm>
          <a:prstGeom prst="roundRect">
            <a:avLst>
              <a:gd name="adj" fmla="val 2740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FF0393-21A0-4293-9F91-E0F1961CA5F6}"/>
              </a:ext>
            </a:extLst>
          </p:cNvPr>
          <p:cNvSpPr>
            <a:spLocks noGrp="1"/>
          </p:cNvSpPr>
          <p:nvPr/>
        </p:nvSpPr>
        <p:spPr>
          <a:xfrm>
            <a:off x="1066800" y="23241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L1词汇网络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244A61-F54D-4A17-A1FF-A86EBB83E60C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3905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词汇量更大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语义联系更丰富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多个反应同时竞争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52B86A-F60A-4A69-973F-EBF821B81BBF}"/>
              </a:ext>
            </a:extLst>
          </p:cNvPr>
          <p:cNvSpPr>
            <a:spLocks noGrp="1"/>
          </p:cNvSpPr>
          <p:nvPr/>
        </p:nvSpPr>
        <p:spPr>
          <a:xfrm>
            <a:off x="1066800" y="40671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不同时间可能激活不同反应，因此重复率较低。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149842-68D6-4EAA-9EEF-E763C897C7DD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5334000" cy="2781300"/>
          </a:xfrm>
          <a:prstGeom prst="roundRect">
            <a:avLst>
              <a:gd name="adj" fmla="val 2740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04631E-4F6D-4E88-B024-0B071AA793DB}"/>
              </a:ext>
            </a:extLst>
          </p:cNvPr>
          <p:cNvSpPr>
            <a:spLocks noGrp="1"/>
          </p:cNvSpPr>
          <p:nvPr/>
        </p:nvSpPr>
        <p:spPr>
          <a:xfrm>
            <a:off x="6210300" y="23241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L2词汇网络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167105-4DC2-4625-B57D-757151213C01}"/>
              </a:ext>
            </a:extLst>
          </p:cNvPr>
          <p:cNvSpPr>
            <a:spLocks noGrp="1"/>
          </p:cNvSpPr>
          <p:nvPr/>
        </p:nvSpPr>
        <p:spPr>
          <a:xfrm>
            <a:off x="6210300" y="2705100"/>
            <a:ext cx="438150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可用反应较少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语义联系较弱或较单一</a:t>
            </a:r>
          </a:p>
          <a:p>
            <a:pPr algn="l">
              <a:lnSpc>
                <a:spcPct val="135000"/>
              </a:lnSpc>
              <a:buNone/>
              <a:def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优势表征更突出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4733B6-7475-4AE8-9380-35A9CD7CBF9A}"/>
              </a:ext>
            </a:extLst>
          </p:cNvPr>
          <p:cNvSpPr>
            <a:spLocks noGrp="1"/>
          </p:cNvSpPr>
          <p:nvPr/>
        </p:nvSpPr>
        <p:spPr>
          <a:xfrm>
            <a:off x="6210300" y="40671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同一优势反应更容易再次出现，因此重复率较高。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4EB2B183-024B-466B-97E2-8EB84A36B6DC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248A9F7-2E49-4385-8EEF-48E9CB0C59D0}"/>
              </a:ext>
            </a:extLst>
          </p:cNvPr>
          <p:cNvSpPr>
            <a:spLocks noGrp="1"/>
          </p:cNvSpPr>
          <p:nvPr/>
        </p:nvSpPr>
        <p:spPr>
          <a:xfrm>
            <a:off x="762000" y="54864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17C"/>
                </a:solidFill>
                <a:latin typeface="Microsoft YaHei"/>
                <a:ea typeface="Microsoft YaHei"/>
                <a:cs typeface="Microsoft YaHei"/>
              </a:rPr>
              <a:t>还需考虑的词项因素：英语多义性、词语抽象程度，以及不同评分方式。</a:t>
            </a:r>
          </a:p>
        </p:txBody>
      </p:sp>
    </p:spTree>
    <p:extLst>
      <p:ext uri="{BB962C8B-B14F-4D97-AF65-F5344CB8AC3E}">
        <p14:creationId xmlns:p14="http://schemas.microsoft.com/office/powerpoint/2010/main" val="745633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F9CD57E7-B6D1-488B-A70C-9B7684E2717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CONTRIBUTION AND IMPLICATIONS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8335C1-52E7-4A51-845A-429CC955215D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3DD1B7-1555-462D-87D2-8F91848B51A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研究贡献与启示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0309F03-74C9-4EEB-9B49-6A2951B0785F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B46DE7D-95F7-4AE8-9AF4-84392F15824C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713D6D0-F920-49DF-B142-1097606C4CA2}"/>
              </a:ext>
            </a:extLst>
          </p:cNvPr>
          <p:cNvSpPr>
            <a:spLocks noGrp="1"/>
          </p:cNvSpPr>
          <p:nvPr/>
        </p:nvSpPr>
        <p:spPr>
          <a:xfrm>
            <a:off x="10287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A5B7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AEC774-79D2-4D94-A9BF-C1E221B45E94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研究视角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6D02D5-9490-4DC8-BE73-A04481D7A954}"/>
              </a:ext>
            </a:extLst>
          </p:cNvPr>
          <p:cNvSpPr>
            <a:spLocks noGrp="1"/>
          </p:cNvSpPr>
          <p:nvPr/>
        </p:nvSpPr>
        <p:spPr>
          <a:xfrm>
            <a:off x="10287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把“跨时间是否重复”作为观察双语心理词汇的新指标。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4369E45-1FC8-4CA8-A846-44A2C1B83AEE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DDEAE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CFC6B1-B771-4F98-94C5-43167D41BAA3}"/>
              </a:ext>
            </a:extLst>
          </p:cNvPr>
          <p:cNvSpPr>
            <a:spLocks noGrp="1"/>
          </p:cNvSpPr>
          <p:nvPr/>
        </p:nvSpPr>
        <p:spPr>
          <a:xfrm>
            <a:off x="46101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3E77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1141A5F-6B95-43AA-A3DF-A0AE8C454137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分析层次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C3C4BE-CEEA-4E91-A425-1CDB44F7E420}"/>
              </a:ext>
            </a:extLst>
          </p:cNvPr>
          <p:cNvSpPr>
            <a:spLocks noGrp="1"/>
          </p:cNvSpPr>
          <p:nvPr/>
        </p:nvSpPr>
        <p:spPr>
          <a:xfrm>
            <a:off x="46101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同时区分个体、线索词与反应位置，避免只看单一总体均值。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9D75B4-E326-4B65-81CB-7DB4445D798E}"/>
              </a:ext>
            </a:extLst>
          </p:cNvPr>
          <p:cNvSpPr>
            <a:spLocks noGrp="1"/>
          </p:cNvSpPr>
          <p:nvPr/>
        </p:nvSpPr>
        <p:spPr>
          <a:xfrm>
            <a:off x="7905750" y="1790700"/>
            <a:ext cx="3276600" cy="2952750"/>
          </a:xfrm>
          <a:prstGeom prst="roundRect">
            <a:avLst>
              <a:gd name="adj" fmla="val 2581"/>
            </a:avLst>
          </a:prstGeom>
          <a:solidFill>
            <a:srgbClr val="F1E4D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D9C7BF-F734-491D-A33E-8F103879DA3D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762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C1784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FEA178-6099-4D5D-A51B-29D0F0C66339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26670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方法启示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24A582-D494-4661-B831-9821F6860412}"/>
              </a:ext>
            </a:extLst>
          </p:cNvPr>
          <p:cNvSpPr>
            <a:spLocks noGrp="1"/>
          </p:cNvSpPr>
          <p:nvPr/>
        </p:nvSpPr>
        <p:spPr>
          <a:xfrm>
            <a:off x="8191500" y="3152775"/>
            <a:ext cx="2667000" cy="1190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连续词汇联想的后续反应更不稳定，但能呈现更具个体性的词汇联系。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45C5F2F-A1AF-4970-9F53-CAB41F2A6116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104775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教学与研究中不能把高重复率简单理解为“词汇掌握更好”；它可能反映可访问反应较少。</a:t>
            </a:r>
          </a:p>
        </p:txBody>
      </p:sp>
    </p:spTree>
    <p:extLst>
      <p:ext uri="{BB962C8B-B14F-4D97-AF65-F5344CB8AC3E}">
        <p14:creationId xmlns:p14="http://schemas.microsoft.com/office/powerpoint/2010/main" val="966702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D927867-3207-4DCA-8D2A-3D129D98829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6717C"/>
                </a:solidFill>
                <a:latin typeface="Aptos"/>
                <a:ea typeface="Aptos"/>
                <a:cs typeface="Aptos"/>
              </a:rPr>
              <a:t>LIMITATIONS AND 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34273C-6E32-4585-A5DD-A2F1092D1E8C}"/>
              </a:ext>
            </a:extLst>
          </p:cNvPr>
          <p:cNvSpPr>
            <a:spLocks noGrp="1"/>
          </p:cNvSpPr>
          <p:nvPr/>
        </p:nvSpPr>
        <p:spPr>
          <a:xfrm>
            <a:off x="11049000" y="23812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8000"/>
              </a:lnSpc>
              <a:buNone/>
              <a:defRPr sz="1050" b="0">
                <a:solidFill>
                  <a:srgbClr val="6671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17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AD3B54-06BE-42B6-92DB-1C7E8ACA723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局限与主要结论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7AD0629F-1516-4B43-B333-8BC4D86A8C90}"/>
              </a:ext>
            </a:extLst>
          </p:cNvPr>
          <p:cNvSpPr>
            <a:spLocks noGrp="1"/>
          </p:cNvSpPr>
          <p:nvPr/>
        </p:nvSpPr>
        <p:spPr>
          <a:xfrm>
            <a:off x="685800" y="1371600"/>
            <a:ext cx="108204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65511F-C54A-422E-9238-99973B0C31C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17845"/>
                </a:solidFill>
                <a:latin typeface="Microsoft YaHei"/>
                <a:ea typeface="Microsoft YaHei"/>
                <a:cs typeface="Microsoft YaHei"/>
              </a:rPr>
              <a:t>研究局限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FC3AACE-2D0C-4C11-B8F7-91FF906028BC}"/>
              </a:ext>
            </a:extLst>
          </p:cNvPr>
          <p:cNvSpPr>
            <a:spLocks noGrp="1"/>
          </p:cNvSpPr>
          <p:nvPr/>
        </p:nvSpPr>
        <p:spPr>
          <a:xfrm>
            <a:off x="762000" y="224790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73B417A-4583-4E9E-9538-986B1C3B7E0F}"/>
              </a:ext>
            </a:extLst>
          </p:cNvPr>
          <p:cNvSpPr>
            <a:spLocks noGrp="1"/>
          </p:cNvSpPr>
          <p:nvPr/>
        </p:nvSpPr>
        <p:spPr>
          <a:xfrm>
            <a:off x="952500" y="2133600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同一语言两次测试仅相隔两周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D172559-6ABA-48BD-941B-94716632A36C}"/>
              </a:ext>
            </a:extLst>
          </p:cNvPr>
          <p:cNvSpPr>
            <a:spLocks noGrp="1"/>
          </p:cNvSpPr>
          <p:nvPr/>
        </p:nvSpPr>
        <p:spPr>
          <a:xfrm>
            <a:off x="762000" y="28860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66170B-000D-42C3-87ED-1FCAE056D8FA}"/>
              </a:ext>
            </a:extLst>
          </p:cNvPr>
          <p:cNvSpPr>
            <a:spLocks noGrp="1"/>
          </p:cNvSpPr>
          <p:nvPr/>
        </p:nvSpPr>
        <p:spPr>
          <a:xfrm>
            <a:off x="952500" y="2771775"/>
            <a:ext cx="4572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线索词均为高频词，结果未必适用于低频词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F10DAFD-CA93-44F3-9516-6B9A9A5150FE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66675" cy="66675"/>
          </a:xfrm>
          <a:prstGeom prst="roundRect">
            <a:avLst>
              <a:gd name="adj" fmla="val 50000"/>
            </a:avLst>
          </a:prstGeom>
          <a:solidFill>
            <a:srgbClr val="2A5B7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909B0A-87FE-4E15-9BCB-FAB56350A9C1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45720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16000"/>
              </a:lnSpc>
              <a:buNone/>
              <a:def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尚未比较稳定反应与不稳定反应的语义类别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31A3B5-D0E3-4BB7-AB72-DC8BE9D05258}"/>
              </a:ext>
            </a:extLst>
          </p:cNvPr>
          <p:cNvSpPr>
            <a:spLocks noGrp="1"/>
          </p:cNvSpPr>
          <p:nvPr/>
        </p:nvSpPr>
        <p:spPr>
          <a:xfrm>
            <a:off x="6019800" y="1733550"/>
            <a:ext cx="5219700" cy="2724150"/>
          </a:xfrm>
          <a:prstGeom prst="roundRect">
            <a:avLst>
              <a:gd name="adj" fmla="val 2797"/>
            </a:avLst>
          </a:prstGeom>
          <a:solidFill>
            <a:srgbClr val="DDE8E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8FCBB1-11EA-4385-8985-55A62A96F1C1}"/>
              </a:ext>
            </a:extLst>
          </p:cNvPr>
          <p:cNvSpPr>
            <a:spLocks noGrp="1"/>
          </p:cNvSpPr>
          <p:nvPr/>
        </p:nvSpPr>
        <p:spPr>
          <a:xfrm>
            <a:off x="6324600" y="198120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三点结论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5E61D0-C6AF-42A8-A1A2-732261B795AB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1  整体比较中，L2重复率高于L1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8F9F04-77F0-44D9-B9F6-E57F1E23B453}"/>
              </a:ext>
            </a:extLst>
          </p:cNvPr>
          <p:cNvSpPr>
            <a:spLocks noGrp="1"/>
          </p:cNvSpPr>
          <p:nvPr/>
        </p:nvSpPr>
        <p:spPr>
          <a:xfrm>
            <a:off x="6324600" y="304800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2  个体的L1与L2稳定性显著相关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C76DB6-C71D-4ACE-8DCA-442F9C1764F8}"/>
              </a:ext>
            </a:extLst>
          </p:cNvPr>
          <p:cNvSpPr>
            <a:spLocks noGrp="1"/>
          </p:cNvSpPr>
          <p:nvPr/>
        </p:nvSpPr>
        <p:spPr>
          <a:xfrm>
            <a:off x="6324600" y="3714750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  稳定性从第一到第三反应持续下降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1B9DC117-A808-449F-BCB0-391449D20307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477500" cy="0"/>
          </a:xfrm>
          <a:prstGeom prst="line">
            <a:avLst/>
          </a:prstGeom>
          <a:noFill/>
          <a:ln w="9525">
            <a:solidFill>
              <a:srgbClr val="D9D6CE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A6A6B5-070E-4032-BCA2-E870337DE636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1038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5B78"/>
                </a:solidFill>
                <a:latin typeface="Microsoft YaHei"/>
                <a:ea typeface="Microsoft YaHei"/>
                <a:cs typeface="Microsoft YaHei"/>
              </a:rPr>
              <a:t>联想稳定性揭示的不是“记住了多少词”，而是同一词汇联系能否跨时间再次被访问。</a:t>
            </a:r>
          </a:p>
        </p:txBody>
      </p:sp>
    </p:spTree>
    <p:extLst>
      <p:ext uri="{BB962C8B-B14F-4D97-AF65-F5344CB8AC3E}">
        <p14:creationId xmlns:p14="http://schemas.microsoft.com/office/powerpoint/2010/main" val="134433165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1232</Words>
  <Application>Microsoft Office PowerPoint</Application>
  <DocSecurity>0</DocSecurity>
  <PresentationFormat>宽屏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Aptos</vt:lpstr>
      <vt:lpstr>Aptos Display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修 马</cp:lastModifiedBy>
  <cp:revision>2</cp:revision>
  <dcterms:created xsi:type="dcterms:W3CDTF">2026-09-20T14:37:14Z</dcterms:created>
  <dcterms:modified xsi:type="dcterms:W3CDTF">2026-09-23T04:35:06Z</dcterms:modified>
</cp:coreProperties>
</file>