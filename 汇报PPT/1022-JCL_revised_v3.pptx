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cf39a5580544db" /><Relationship Type="http://schemas.openxmlformats.org/officeDocument/2006/relationships/extended-properties" Target="/docProps/app.xml" Id="R2f3f9b3097ae4775" /><Relationship Type="http://schemas.openxmlformats.org/officeDocument/2006/relationships/officeDocument" Target="/ppt/presentation.xml" Id="R4614791a644d48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2fa7c036394921"/>
  </p:sldMasterIdLst>
  <p:notesMasterIdLst>
    <p:notesMasterId xmlns:r="http://schemas.openxmlformats.org/officeDocument/2006/relationships" r:id="R17840f92cf034df4"/>
  </p:notesMasterIdLst>
  <p:sldIdLst>
    <p:sldId xmlns:r="http://schemas.openxmlformats.org/officeDocument/2006/relationships" id="256" r:id="R8ed884318f60415b"/>
    <p:sldId xmlns:r="http://schemas.openxmlformats.org/officeDocument/2006/relationships" id="257" r:id="R35698769cd7749b7"/>
    <p:sldId xmlns:r="http://schemas.openxmlformats.org/officeDocument/2006/relationships" id="258" r:id="R0a9b0848f9b941de"/>
    <p:sldId xmlns:r="http://schemas.openxmlformats.org/officeDocument/2006/relationships" id="259" r:id="Raee0fb0717d84204"/>
    <p:sldId xmlns:r="http://schemas.openxmlformats.org/officeDocument/2006/relationships" id="260" r:id="R0601d67d530f4226"/>
    <p:sldId xmlns:r="http://schemas.openxmlformats.org/officeDocument/2006/relationships" id="261" r:id="Rcac5d24d90bd414f"/>
    <p:sldId xmlns:r="http://schemas.openxmlformats.org/officeDocument/2006/relationships" id="262" r:id="R3c70cf52ed1947a1"/>
    <p:sldId xmlns:r="http://schemas.openxmlformats.org/officeDocument/2006/relationships" id="263" r:id="Rde05fa6c997e4813"/>
    <p:sldId xmlns:r="http://schemas.openxmlformats.org/officeDocument/2006/relationships" id="264" r:id="R4b13a8482abe4bb9"/>
    <p:sldId xmlns:r="http://schemas.openxmlformats.org/officeDocument/2006/relationships" id="265" r:id="Rae3771cd86b64e23"/>
    <p:sldId xmlns:r="http://schemas.openxmlformats.org/officeDocument/2006/relationships" id="266" r:id="Rdbfd18061a5d4d3a"/>
    <p:sldId xmlns:r="http://schemas.openxmlformats.org/officeDocument/2006/relationships" id="267" r:id="R23906a8ee42d4d3e"/>
    <p:sldId xmlns:r="http://schemas.openxmlformats.org/officeDocument/2006/relationships" id="268" r:id="Rdbfe982f20674317"/>
    <p:sldId xmlns:r="http://schemas.openxmlformats.org/officeDocument/2006/relationships" id="269" r:id="Rcb217db9f98d4a6b"/>
    <p:sldId xmlns:r="http://schemas.openxmlformats.org/officeDocument/2006/relationships" id="270" r:id="R5e82961a0e804b57"/>
    <p:sldId xmlns:r="http://schemas.openxmlformats.org/officeDocument/2006/relationships" id="271" r:id="R070c1268f13644e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2b884cbad475b" /><Relationship Type="http://schemas.openxmlformats.org/officeDocument/2006/relationships/slideMaster" Target="/ppt/slideMasters/slideMaster1.xml" Id="R4b2fa7c036394921" /><Relationship Type="http://schemas.openxmlformats.org/officeDocument/2006/relationships/notesMaster" Target="/ppt/notesMasters/notesMaster1.xml" Id="R17840f92cf034df4" /><Relationship Type="http://schemas.openxmlformats.org/officeDocument/2006/relationships/presProps" Target="/ppt/presProps.xml" Id="Rdfabfce3048f4405" /><Relationship Type="http://schemas.openxmlformats.org/officeDocument/2006/relationships/tableStyles" Target="/ppt/tableStyles.xml" Id="Re93691485b1e44b6" /><Relationship Type="http://schemas.openxmlformats.org/officeDocument/2006/relationships/slide" Target="/ppt/slides/slide1.xml" Id="R8ed884318f60415b" /><Relationship Type="http://schemas.openxmlformats.org/officeDocument/2006/relationships/slide" Target="/ppt/slides/slide2.xml" Id="R35698769cd7749b7" /><Relationship Type="http://schemas.openxmlformats.org/officeDocument/2006/relationships/slide" Target="/ppt/slides/slide3.xml" Id="R0a9b0848f9b941de" /><Relationship Type="http://schemas.openxmlformats.org/officeDocument/2006/relationships/slide" Target="/ppt/slides/slide4.xml" Id="Raee0fb0717d84204" /><Relationship Type="http://schemas.openxmlformats.org/officeDocument/2006/relationships/slide" Target="/ppt/slides/slide5.xml" Id="R0601d67d530f4226" /><Relationship Type="http://schemas.openxmlformats.org/officeDocument/2006/relationships/slide" Target="/ppt/slides/slide6.xml" Id="Rcac5d24d90bd414f" /><Relationship Type="http://schemas.openxmlformats.org/officeDocument/2006/relationships/slide" Target="/ppt/slides/slide7.xml" Id="R3c70cf52ed1947a1" /><Relationship Type="http://schemas.openxmlformats.org/officeDocument/2006/relationships/slide" Target="/ppt/slides/slide8.xml" Id="Rde05fa6c997e4813" /><Relationship Type="http://schemas.openxmlformats.org/officeDocument/2006/relationships/slide" Target="/ppt/slides/slide9.xml" Id="R4b13a8482abe4bb9" /><Relationship Type="http://schemas.openxmlformats.org/officeDocument/2006/relationships/slide" Target="/ppt/slides/slide10.xml" Id="Rae3771cd86b64e23" /><Relationship Type="http://schemas.openxmlformats.org/officeDocument/2006/relationships/slide" Target="/ppt/slides/slide11.xml" Id="Rdbfd18061a5d4d3a" /><Relationship Type="http://schemas.openxmlformats.org/officeDocument/2006/relationships/slide" Target="/ppt/slides/slide12.xml" Id="R23906a8ee42d4d3e" /><Relationship Type="http://schemas.openxmlformats.org/officeDocument/2006/relationships/slide" Target="/ppt/slides/slide13.xml" Id="Rdbfe982f20674317" /><Relationship Type="http://schemas.openxmlformats.org/officeDocument/2006/relationships/slide" Target="/ppt/slides/slide14.xml" Id="Rcb217db9f98d4a6b" /><Relationship Type="http://schemas.openxmlformats.org/officeDocument/2006/relationships/slide" Target="/ppt/slides/slide15.xml" Id="R5e82961a0e804b57" /><Relationship Type="http://schemas.openxmlformats.org/officeDocument/2006/relationships/slide" Target="/ppt/slides/slide16.xml" Id="R070c1268f13644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2addee21094d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d7f25659dd431f" /><Relationship Type="http://schemas.openxmlformats.org/officeDocument/2006/relationships/notesMaster" Target="/ppt/notesMasters/notesMaster1.xml" Id="R5f265b2e13cf42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ae29de3b94f14" /><Relationship Type="http://schemas.openxmlformats.org/officeDocument/2006/relationships/notesMaster" Target="/ppt/notesMasters/notesMaster1.xml" Id="R8b6cfe9787124f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e2a815e49b4d41" /><Relationship Type="http://schemas.openxmlformats.org/officeDocument/2006/relationships/notesMaster" Target="/ppt/notesMasters/notesMaster1.xml" Id="R57b97c5b2ef54b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a485c002d34fb1" /><Relationship Type="http://schemas.openxmlformats.org/officeDocument/2006/relationships/notesMaster" Target="/ppt/notesMasters/notesMaster1.xml" Id="Ra8e11f3550d14d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c60308d1554719" /><Relationship Type="http://schemas.openxmlformats.org/officeDocument/2006/relationships/notesMaster" Target="/ppt/notesMasters/notesMaster1.xml" Id="R73e1c29848dc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e8cd29af0d40d8" /><Relationship Type="http://schemas.openxmlformats.org/officeDocument/2006/relationships/notesMaster" Target="/ppt/notesMasters/notesMaster1.xml" Id="Rbe27d61015b94b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8e11f64dd94d08" /><Relationship Type="http://schemas.openxmlformats.org/officeDocument/2006/relationships/notesMaster" Target="/ppt/notesMasters/notesMaster1.xml" Id="Re35c23473f414a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a5be5dd1fd43e7" /><Relationship Type="http://schemas.openxmlformats.org/officeDocument/2006/relationships/notesMaster" Target="/ppt/notesMasters/notesMaster1.xml" Id="R632c092a3f1641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a65f9918e34f1e" /><Relationship Type="http://schemas.openxmlformats.org/officeDocument/2006/relationships/notesMaster" Target="/ppt/notesMasters/notesMaster1.xml" Id="R18b86438e5e445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ffee56a6b648bd" /><Relationship Type="http://schemas.openxmlformats.org/officeDocument/2006/relationships/notesMaster" Target="/ppt/notesMasters/notesMaster1.xml" Id="R9aefc98a0fc84d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87c9d257894238" /><Relationship Type="http://schemas.openxmlformats.org/officeDocument/2006/relationships/notesMaster" Target="/ppt/notesMasters/notesMaster1.xml" Id="Rfdda22949d674c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8eeff8fa9e4dd7" /><Relationship Type="http://schemas.openxmlformats.org/officeDocument/2006/relationships/notesMaster" Target="/ppt/notesMasters/notesMaster1.xml" Id="R041fef43870941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222dc1babd4b13" /><Relationship Type="http://schemas.openxmlformats.org/officeDocument/2006/relationships/notesMaster" Target="/ppt/notesMasters/notesMaster1.xml" Id="Rfd129c65753c45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2934df4d314525" /><Relationship Type="http://schemas.openxmlformats.org/officeDocument/2006/relationships/notesMaster" Target="/ppt/notesMasters/notesMaster1.xml" Id="R383820cd563846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2cc8dfd3e3431f" /><Relationship Type="http://schemas.openxmlformats.org/officeDocument/2006/relationships/notesMaster" Target="/ppt/notesMasters/notesMaster1.xml" Id="Re4da481721ce4b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95886ca6e04a21" /><Relationship Type="http://schemas.openxmlformats.org/officeDocument/2006/relationships/notesMaster" Target="/ppt/notesMasters/notesMaster1.xml" Id="R346a1aa0122148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e46a5fc3a4e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b744897f842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fe99b88d14d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2ad89f3f043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9bb000f2746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0e7c60fb24f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7EC427-4A98-4498-8782-6200F7949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64F11B-CBC5-4913-90DC-1225695B41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0478F5-119D-4299-B5D5-1ECF468054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2AB880-5ACD-4C45-BF04-69AE93FA8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FAD04A-6464-4BB0-B3C1-92DD160417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F04F29-5503-4E91-B6E6-9B55AD1582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DB7EEA-4E95-4B99-B382-A5B19F5105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84DB88-FD43-409D-8E4C-3B281E2072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E4C829-B01D-4A64-B078-ADB3BE1D0D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0EF236-A989-429C-B720-739BF1FEC7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4aabd868d64c54" /><Relationship Type="http://schemas.openxmlformats.org/officeDocument/2006/relationships/slideLayout" Target="/ppt/slideLayouts/slideLayout1.xml" Id="Red3be6b448754544" /><Relationship Type="http://schemas.openxmlformats.org/officeDocument/2006/relationships/slideLayout" Target="/ppt/slideLayouts/slideLayout2.xml" Id="R4653fde572094228" /><Relationship Type="http://schemas.openxmlformats.org/officeDocument/2006/relationships/slideLayout" Target="/ppt/slideLayouts/slideLayout3.xml" Id="R54cb7b8006454647" /><Relationship Type="http://schemas.openxmlformats.org/officeDocument/2006/relationships/slideLayout" Target="/ppt/slideLayouts/slideLayout4.xml" Id="R5efe589cc7934c99" /><Relationship Type="http://schemas.openxmlformats.org/officeDocument/2006/relationships/slideLayout" Target="/ppt/slideLayouts/slideLayout5.xml" Id="R2c82843d028a4998" /><Relationship Type="http://schemas.openxmlformats.org/officeDocument/2006/relationships/slideLayout" Target="/ppt/slideLayouts/slideLayout6.xml" Id="Rcab8e2959e5344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3be6b448754544"/>
    <p:sldLayoutId xmlns:r="http://schemas.openxmlformats.org/officeDocument/2006/relationships" id="2147483650" r:id="R4653fde572094228"/>
    <p:sldLayoutId xmlns:r="http://schemas.openxmlformats.org/officeDocument/2006/relationships" id="2147483651" r:id="R54cb7b8006454647"/>
    <p:sldLayoutId xmlns:r="http://schemas.openxmlformats.org/officeDocument/2006/relationships" id="2147483652" r:id="R5efe589cc7934c99"/>
    <p:sldLayoutId xmlns:r="http://schemas.openxmlformats.org/officeDocument/2006/relationships" id="2147483653" r:id="R2c82843d028a4998"/>
    <p:sldLayoutId xmlns:r="http://schemas.openxmlformats.org/officeDocument/2006/relationships" id="2147483654" r:id="Rcab8e2959e5344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c246678494082" /><Relationship Type="http://schemas.openxmlformats.org/officeDocument/2006/relationships/notesSlide" Target="/ppt/notesSlides/notesSlide1.xml" Id="R2d9eb52b1b2c42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dbd513eea457d" /><Relationship Type="http://schemas.openxmlformats.org/officeDocument/2006/relationships/notesSlide" Target="/ppt/notesSlides/notesSlide2.xml" Id="R8bfd4bae4e0148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cad4d01a2407b" /><Relationship Type="http://schemas.openxmlformats.org/officeDocument/2006/relationships/notesSlide" Target="/ppt/notesSlides/notesSlide3.xml" Id="R81bd10c69fcf46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5d29696c74d9a" /><Relationship Type="http://schemas.openxmlformats.org/officeDocument/2006/relationships/notesSlide" Target="/ppt/notesSlides/notesSlide4.xml" Id="Rf6d01a16ae5c43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08f94b4da4cc2" /><Relationship Type="http://schemas.openxmlformats.org/officeDocument/2006/relationships/notesSlide" Target="/ppt/notesSlides/notesSlide5.xml" Id="R64447c016d2147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84664a587f46ce" /><Relationship Type="http://schemas.openxmlformats.org/officeDocument/2006/relationships/notesSlide" Target="/ppt/notesSlides/notesSlide6.xml" Id="Rb02a1b459d5a43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fb865efa6146f8" /><Relationship Type="http://schemas.openxmlformats.org/officeDocument/2006/relationships/notesSlide" Target="/ppt/notesSlides/notesSlide7.xml" Id="Re3a7ad230f5e4a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2013bc1d34546" /><Relationship Type="http://schemas.openxmlformats.org/officeDocument/2006/relationships/notesSlide" Target="/ppt/notesSlides/notesSlide8.xml" Id="R5649e3ad37b141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25aefaa994502" /><Relationship Type="http://schemas.openxmlformats.org/officeDocument/2006/relationships/notesSlide" Target="/ppt/notesSlides/notesSlide9.xml" Id="Re5954df381894e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fcc6bd1b64181" /><Relationship Type="http://schemas.openxmlformats.org/officeDocument/2006/relationships/notesSlide" Target="/ppt/notesSlides/notesSlide10.xml" Id="Re089fd960e0a4d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741442174b4ff6" /><Relationship Type="http://schemas.openxmlformats.org/officeDocument/2006/relationships/notesSlide" Target="/ppt/notesSlides/notesSlide11.xml" Id="R154ef0c286ec4d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f9892c0e44bee" /><Relationship Type="http://schemas.openxmlformats.org/officeDocument/2006/relationships/notesSlide" Target="/ppt/notesSlides/notesSlide12.xml" Id="R8d9e7a5eb95c46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10a73dba14a2e" /><Relationship Type="http://schemas.openxmlformats.org/officeDocument/2006/relationships/notesSlide" Target="/ppt/notesSlides/notesSlide13.xml" Id="R9f3eefe17f1841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4ccfc42514721" /><Relationship Type="http://schemas.openxmlformats.org/officeDocument/2006/relationships/notesSlide" Target="/ppt/notesSlides/notesSlide14.xml" Id="R0c2d479d2f8847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d5cb5f0f742b9" /><Relationship Type="http://schemas.openxmlformats.org/officeDocument/2006/relationships/notesSlide" Target="/ppt/notesSlides/notesSlide15.xml" Id="R28a4591b503c43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2d24146b64a98" /><Relationship Type="http://schemas.openxmlformats.org/officeDocument/2006/relationships/notesSlide" Target="/ppt/notesSlides/notesSlide16.xml" Id="Rf1ae01d23f114c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78012-D824-4F81-A363-D2ACF57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4751A-CB69-4565-9B95-A46E04EB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0CD91-4E9E-4EDE-BA60-85D3433A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8058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Lexical Development in Bilingual Adolescents: A Study of Chinese–English Word Association Networks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3BDC9-3562-4E15-AE39-3467453D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Ping Zhang · Xin Wang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E276D-9917-441E-AAE3-9C736919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Journal of Child Language (2026), 1–25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DOI: 10.1017/S0305000926100695</a:t>
            </a:r>
          </a:p>
        </p:txBody>
      </p:sp>
    </p:spTree>
    <p:extLst>
      <p:ext uri="{BB962C8B-B14F-4D97-AF65-F5344CB8AC3E}">
        <p14:creationId xmlns:p14="http://schemas.microsoft.com/office/powerpoint/2010/main" val="568488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31870-5141-4B9C-81F5-D533ABD9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903E3-A8B3-4DFF-B2D0-E1993D52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E1C66-C935-4337-AA1D-89EB5912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9353-3527-4E74-BBC6-750008E1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924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总体背景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青春期的词汇发展不仅表现为词汇量增加，也涉及词义关系、共享概念和词汇组织方式的持续重构，是从儿童词汇系统向成人词汇系统过渡的关键阶段（Nippold, 2002；Berman, 2007）。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106CE-D9D9-4AE0-84B8-D6EC96E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924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已有发现与证据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网络研究表明，词汇发展伴随节点与连接的增长以及全局、局部结构的调整（Steyvers &amp; Tenenbaum, 2005）。大规模母语联想网络数据显示，14–18岁期间平均度上升、平均最短路径和聚类系数下降，反映词汇网络趋于整合（Dubossarsky et al., 2017）。</a:t>
            </a:r>
          </a:p>
        </p:txBody>
      </p:sp>
    </p:spTree>
    <p:extLst>
      <p:ext uri="{BB962C8B-B14F-4D97-AF65-F5344CB8AC3E}">
        <p14:creationId xmlns:p14="http://schemas.microsoft.com/office/powerpoint/2010/main" val="1128771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73293-E091-41A7-B4F0-0D627A66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1EB54-B173-4AB1-AEC9-7B8CECD7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D8593-020C-40F0-8B38-C8EA250B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现有研究不足之处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79739-EF73-4870-8337-CF90554C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9248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1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青春期词汇研究多关注词汇量、词汇知识深度和联想反应类型，对整个词汇网络结构的研究较少。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二语词汇网络研究主要集中于成人学习者和不同熟练度群体（Borodkin et al., 2016；Li et al., 2021），青少年阶段的结构变化证据不足。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既有双语青少年研究提示母语与二语的联想差异可能随年级缩小（Henriksen, 2008；Namei, 2004），但两种语言的整体网络是否沿相同轨迹发展尚未得到检验。</a:t>
            </a:r>
          </a:p>
        </p:txBody>
      </p:sp>
    </p:spTree>
    <p:extLst>
      <p:ext uri="{BB962C8B-B14F-4D97-AF65-F5344CB8AC3E}">
        <p14:creationId xmlns:p14="http://schemas.microsoft.com/office/powerpoint/2010/main" val="2128479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529B4-1B42-4AEB-B7D9-315CAD8A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87717-901F-4538-BD53-58B35703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2389D-D0F2-45D5-A667-D99C6764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0FEA7-E85E-44C0-9083-0E500BB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9248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40000"/>
              </a:lnSpc>
              <a:spcAft>
                <a:spcPts val="20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RQ1：从初二到高二，母语汉语词汇联想网络的结构如何变化？</a:t>
            </a:r>
          </a:p>
          <a:p xmlns:a="http://schemas.openxmlformats.org/drawingml/2006/main">
            <a:pPr>
              <a:lnSpc>
                <a:spcPct val="140000"/>
              </a:lnSpc>
              <a:spcAft>
                <a:spcPts val="20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RQ2：从初二到高二，二语英语词汇联想网络的结构如何变化？</a:t>
            </a:r>
          </a:p>
          <a:p xmlns:a="http://schemas.openxmlformats.org/drawingml/2006/main">
            <a:pPr>
              <a:lnSpc>
                <a:spcPct val="140000"/>
              </a:lnSpc>
              <a:spcAft>
                <a:spcPts val="20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RQ3：在初二和高二阶段，母语汉语与二语英语的网络结构有何差异？</a:t>
            </a:r>
          </a:p>
        </p:txBody>
      </p:sp>
    </p:spTree>
    <p:extLst>
      <p:ext uri="{BB962C8B-B14F-4D97-AF65-F5344CB8AC3E}">
        <p14:creationId xmlns:p14="http://schemas.microsoft.com/office/powerpoint/2010/main" val="1803794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07EA7-2D74-4607-BCB7-11DD1D33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49C30-FE71-42BB-BBB0-7CA6D612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F995F-5A02-4ADC-B9BA-57C06470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研究被试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6C168-33E8-4023-B52E-E9738D88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最终样本共88人，来自江苏无锡同一所公立学校；事后效能分析 power = .913。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28C2C-7441-4CA7-8007-DB4079599154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924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857250"/>
                <a:gridCol w="1333500"/>
                <a:gridCol w="1333500"/>
                <a:gridCol w="325755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年级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人数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年龄范围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平均年龄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语言背景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初二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13–14岁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13.21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母语为普通话；小学三年级开始学习英语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高二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16–17岁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16.18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母语为普通话；小学三年级开始学习英语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811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E3D1C-443D-4E16-9467-DC968317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E159D-92A3-4E81-ACA7-5EC96B1C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BCD51-5FE4-4107-B51B-3DFE3073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实验材料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D431B-D879-4E1E-855A-FC244A09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高频刺激词保证两个年级的参与者均能理解并产生联想反应。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4ACA9-BBF8-4593-B6EF-10B23BBDDE7F}"/>
              </a:ext>
            </a:extLst>
          </p:cNvPr>
          <p:cNvGraphicFramePr/>
          <p:nvPr/>
        </p:nvGraphicFramePr>
        <p:xfrm>
          <a:off xmlns:a="http://schemas.openxmlformats.org/drawingml/2006/main" x="552450" y="1657350"/>
          <a:ext xmlns:a="http://schemas.openxmlformats.org/drawingml/2006/main" cx="803910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857250"/>
                <a:gridCol w="2781300"/>
                <a:gridCol w="3019425"/>
              </a:tblGrid>
              <a:tr h="673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材料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数量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选词依据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匹配与控制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英语刺激词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Nation前1000词和2000词表中的高频词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名词、动词、形容词；具体性与词长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汉语刺激词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英语刺激词的翻译对应词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与英语词在词性和具体性上对应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220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5B191-2D91-415A-97A5-C5F85165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BF2D8-BE1D-48C9-8378-D6219EDE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74BDB-679B-4958-8197-C699C96B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实验任务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1F476-2B83-4FDF-ACD7-DF96BE2608A7}"/>
              </a:ext>
            </a:extLst>
          </p:cNvPr>
          <p:cNvGraphicFramePr/>
          <p:nvPr/>
        </p:nvGraphicFramePr>
        <p:xfrm>
          <a:off xmlns:a="http://schemas.openxmlformats.org/drawingml/2006/main" x="685800" y="1371600"/>
          <a:ext xmlns:a="http://schemas.openxmlformats.org/drawingml/2006/main" cx="77724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0700"/>
                <a:gridCol w="5981700"/>
              </a:tblGrid>
              <a:tr h="54483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项目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任务要求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任务类型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纸笔连续词汇联想任务（continuous word association task）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作答数量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针对每个刺激词写出最先想到的3个词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作答限制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不得查词典，不得修改答案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测试环境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在常规课堂内集体完成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157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D3979-D30F-4D12-ABBA-D768E305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72EC5-5F59-476D-8140-61E69EEB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2D8D4-1EAD-4561-A1A6-BC0D3894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实验过程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B6BC4-9A0A-4141-9E3B-33D15A3C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7924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2000"/>
              </a:lnSpc>
              <a:spcAft>
                <a:spcPts val="13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研究于2025年春季学期末在常规课堂中实施。</a:t>
            </a:r>
          </a:p>
          <a:p xmlns:a="http://schemas.openxmlformats.org/drawingml/2006/main">
            <a:pPr>
              <a:lnSpc>
                <a:spcPct val="132000"/>
              </a:lnSpc>
              <a:spcAft>
                <a:spcPts val="13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参与者先完成英语任务，两周后完成汉语任务，以降低母语启动对二语联想的影响。</a:t>
            </a:r>
          </a:p>
          <a:p xmlns:a="http://schemas.openxmlformats.org/drawingml/2006/main">
            <a:pPr>
              <a:lnSpc>
                <a:spcPct val="132000"/>
              </a:lnSpc>
              <a:spcAft>
                <a:spcPts val="13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有效反应：初二汉语3954个、英语3925个；高二汉语3948个、英语3957个。</a:t>
            </a:r>
          </a:p>
          <a:p xmlns:a="http://schemas.openxmlformats.org/drawingml/2006/main">
            <a:pPr>
              <a:lnSpc>
                <a:spcPct val="132000"/>
              </a:lnSpc>
              <a:spcAft>
                <a:spcPts val="13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汉语数据校正同源词并统一形容词形式；英语数据校正拼写、统一美式拼写，并将复数名词还原为单数。</a:t>
            </a:r>
          </a:p>
        </p:txBody>
      </p:sp>
    </p:spTree>
    <p:extLst>
      <p:ext uri="{BB962C8B-B14F-4D97-AF65-F5344CB8AC3E}">
        <p14:creationId xmlns:p14="http://schemas.microsoft.com/office/powerpoint/2010/main" val="2132835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7FA55-1524-4180-A45D-477993C5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2C6AB-8E1A-4938-AFA4-76D6F7FD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5B604-6926-41D9-8119-14CED1E5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6665-8A1C-4B0F-9F45-7B88A207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924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网络构建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构建反应词—反应词网络。同一刺激词下共同出现的反应词形成边；同一刺激词内重复词型去重，仅由一名参与者产生的反应被剔除。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BFDCA-D44F-42FD-AFF8-AD0B39BE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792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指标与统计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计算节点数 n、边数 m、平均度〈k〉、网络密度 D、平均最短路径 ASPL、聚类系数 CC、模块度 Q 和小世界性 S。每个网络生成100个200节点的广度优先搜索子图；组内比较采用独立样本 t 检验，年级×语言比较采用 Scheirer–Ray–Hare 检验。</a:t>
            </a:r>
          </a:p>
        </p:txBody>
      </p:sp>
    </p:spTree>
    <p:extLst>
      <p:ext uri="{BB962C8B-B14F-4D97-AF65-F5344CB8AC3E}">
        <p14:creationId xmlns:p14="http://schemas.microsoft.com/office/powerpoint/2010/main" val="5935001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C47EB-AC97-4407-927B-80E60F47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B1B0A-5CD3-4CA2-829F-90FB1AC3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9A97-3B51-4C2B-B69D-0CB07531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研究结果（RQ1）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2A41A-3ABA-4319-A47A-55B206AE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924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母语汉语网络从初二到高二节点数和边数略降，但平均度与密度上升。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高二组的聚类系数和模块度显著降低，反应更趋共享，网络整合程度提高（均 p = .017）。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平均最短路径的年级差异不显著（p = .642），整体传递距离保持稳定。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1F68D-FF49-423C-948E-CE82E39BF510}"/>
              </a:ext>
            </a:extLst>
          </p:cNvPr>
          <p:cNvGraphicFramePr/>
          <p:nvPr/>
        </p:nvGraphicFramePr>
        <p:xfrm>
          <a:off xmlns:a="http://schemas.openxmlformats.org/drawingml/2006/main" x="495300" y="2343150"/>
          <a:ext xmlns:a="http://schemas.openxmlformats.org/drawingml/2006/main" cx="8153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428750"/>
                <a:gridCol w="1428750"/>
                <a:gridCol w="295275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汉语网络指标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初二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高二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年级差异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节点数 n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480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470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略降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边数 m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5240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5220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略降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平均度〈k〉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21.833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22.213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上升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密度 D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.046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.047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高二显著更高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平均最短路径 ASPL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2.842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2.892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不显著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聚类系数 CC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.928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.917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初二显著更高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模块度 Q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.750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.731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初二显著更高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478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F40D6-10E5-474E-A713-D63E79F9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C887F-A9E8-48FF-B799-E9D69C45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61647-D9AD-4B55-AA20-0A5C4C71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研究结果（RQ2）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37087-8B89-489D-9EA7-2B226EEC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924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二语英语网络从初二到高二明显扩展：节点数与边数增加。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网络密度和平均度下降、平均最短路径增长，反映网络规模扩张带来的路径延伸。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聚类系数与模块度显著升高，表明新增词汇逐步形成更清晰的局部连接与社群结构（均 p &lt; .001）。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1E605-2640-405E-8690-48DD562C6D55}"/>
              </a:ext>
            </a:extLst>
          </p:cNvPr>
          <p:cNvGraphicFramePr/>
          <p:nvPr/>
        </p:nvGraphicFramePr>
        <p:xfrm>
          <a:off xmlns:a="http://schemas.openxmlformats.org/drawingml/2006/main" x="495300" y="2343150"/>
          <a:ext xmlns:a="http://schemas.openxmlformats.org/drawingml/2006/main" cx="8153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428750"/>
                <a:gridCol w="1428750"/>
                <a:gridCol w="295275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英语网络指标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初二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高二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年级变化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节点数 n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368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429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增加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边数 m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4401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4809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增加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平均度〈k〉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23.918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22.420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下降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密度 D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.065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.052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显著下降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平均最短路径 ASPL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2.331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2.656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显著增长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聚类系数 CC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.868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.906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显著升高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模块度 Q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.545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.693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显著升高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215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89A1A-3BDF-4DCF-889E-632E0371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92203-6C26-4D74-8905-401E1CE5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39653-3FC9-48DA-A76B-D96F44F8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研究结果（RQ3）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09F4A-6A42-4205-B747-A67D5EDE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92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初二阶段四项核心结构指标均存在显著母语—二语差异。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到高二，密度与平均最短路径的跨语言差异不再显著，说明两种语言的全局结构趋近。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5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高二阶段汉语的聚类系数与模块度仍高于英语，母语在局部聚集和社群结构上保持优势。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DA978-4967-49EF-AC4E-B1A914D2470B}"/>
              </a:ext>
            </a:extLst>
          </p:cNvPr>
          <p:cNvGraphicFramePr/>
          <p:nvPr/>
        </p:nvGraphicFramePr>
        <p:xfrm>
          <a:off xmlns:a="http://schemas.openxmlformats.org/drawingml/2006/main" x="495300" y="2419350"/>
          <a:ext xmlns:a="http://schemas.openxmlformats.org/drawingml/2006/main" cx="81534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8850"/>
                <a:gridCol w="1466850"/>
                <a:gridCol w="1466850"/>
                <a:gridCol w="1466850"/>
                <a:gridCol w="14668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指标（子图均值）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初二汉语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初二英语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高二汉语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高二英语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T w="9525">
                      <a:solidFill>
                        <a:srgbClr val="1B3A5C"/>
                      </a:solidFill>
                      <a:prstDash val="solid"/>
                    </a:lnT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密度 D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.105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.116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.107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.107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平均最短路径 ASPL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2.308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2.063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2.317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2.297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聚类系数 CC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.925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.849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.921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.906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模块度 Q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1B3A5C"/>
                      </a:solidFill>
                      <a:prstDash val="solid"/>
                    </a:lnL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.692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.517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.685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.654</a:t>
                      </a:r>
                    </a:p>
                  </a:txBody>
                  <a:tcPr marL="47625" marR="47625" marT="38100" marB="38100" anchor="ctr">
                    <a:lnR w="9525">
                      <a:solidFill>
                        <a:srgbClr val="1B3A5C"/>
                      </a:solidFill>
                      <a:prstDash val="solid"/>
                    </a:lnR>
                    <a:lnB w="9525">
                      <a:solidFill>
                        <a:srgbClr val="1B3A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451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B21E7-E0B6-4F3A-838C-830997E3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BAA96-0AE5-4AE8-9FBA-4A62669C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4A206-2D04-4F16-9D69-06F4F0BA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讨论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BC7E2-1361-4ECA-96E2-50833194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7924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母语网络：趋于整合与共享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汉语网络平均度上升、聚类与模块度下降，与14–18岁母语网络连接增加和结构整合的趋势一致（Dubossarsky et al., 2017；Jeong &amp; Hills, 2024）。学校教育与共享知识可能推动反应趋同。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42E01-B709-4B00-BB83-EB2FE395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924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二语网络：扩展与重组同步发生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9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英语网络节点和边增加，同时聚类与模块度升高，说明词汇量扩展伴随局部组织和语义社群的形成，符合二语词汇规模与组织协同发展的观点（Meara &amp; Wolter, 2004）。跨语言差异在高二阶段缩小，与青少年双语词汇逐步趋近的发现一致（Henriksen, 2008；Namei, 2004）。</a:t>
            </a:r>
          </a:p>
        </p:txBody>
      </p:sp>
    </p:spTree>
    <p:extLst>
      <p:ext uri="{BB962C8B-B14F-4D97-AF65-F5344CB8AC3E}">
        <p14:creationId xmlns:p14="http://schemas.microsoft.com/office/powerpoint/2010/main" val="226491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37E2D-EED1-4D4B-9BFD-1B6B71A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62D1E-667F-499B-B2E8-752CEF40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2E4E0-113A-46C5-9239-01E9F565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研究启示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9D46-9747-49CE-9CB1-B95A2B7B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9248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青春期母语和二语词汇网络沿不同路径发展：母语进一步整合，二语持续扩展并形成更清晰的局部结构。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判断二语词汇发展不能只看词汇量，还应同时考察连接效率、聚类和模块化等组织指标。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从初二到高二，母语与二语的全局网络差异明显缩小，学校阶段的持续输入和使用可能促进双语词汇系统趋近。</a:t>
            </a:r>
          </a:p>
        </p:txBody>
      </p:sp>
    </p:spTree>
    <p:extLst>
      <p:ext uri="{BB962C8B-B14F-4D97-AF65-F5344CB8AC3E}">
        <p14:creationId xmlns:p14="http://schemas.microsoft.com/office/powerpoint/2010/main" val="10422829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287CD-469C-45C7-BE6F-A7E4B9EE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2E97E-DD68-4BB4-B49E-36F7DE1A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879F4-2CC3-4C58-AE7A-61B6B3E8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不足与展望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E5F4C-DEC0-4CF1-BFD8-AAE4C74A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9248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研究未进一步分析联想反应类型与反应趋同程度，网络变化所对应的具体语义关系仍需检验。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反应词—反应词网络反映群体层面的共现结构，后续可结合刺激词—反应词网络与个体网络进行比较。</a:t>
            </a:r>
          </a:p>
          <a:p xmlns:a="http://schemas.openxmlformats.org/drawingml/2006/main">
            <a:pPr>
              <a:lnSpc>
                <a:spcPct val="135000"/>
              </a:lnSpc>
              <a:spcAft>
                <a:spcPts val="17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研究采用横断面设计且只进行一轮任务。未来可通过纵向追踪观察同一批青少年的母语和二语网络变化。</a:t>
            </a:r>
          </a:p>
        </p:txBody>
      </p:sp>
    </p:spTree>
    <p:extLst>
      <p:ext uri="{BB962C8B-B14F-4D97-AF65-F5344CB8AC3E}">
        <p14:creationId xmlns:p14="http://schemas.microsoft.com/office/powerpoint/2010/main" val="12890941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DDD51-13D8-4E13-BB2B-8683C9B0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2A8A3-01B7-492F-A8BC-54560A9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0488C-E51C-479C-A9CB-F13C56A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B3A5C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B3A5C"/>
                </a:solidFill>
                <a:latin typeface="Calibri"/>
                <a:ea typeface="Calibri"/>
                <a:cs typeface="Calibri"/>
              </a:rPr>
              <a:t>主要参考文献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5A3F0-3B9D-4486-A802-F9CEE1AF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3810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Berman, R. A. (2007). Developing linguistic knowledge and language use across adolescence. In Blackwell handbook of language development (pp. 347–367).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Borodkin, K., Kenett, Y. N., Faust, M., &amp; Mashal, N. (2016). When pumpkin is closer to onion than to squash. Cognition, 156, 60–70.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Dubossarsky, H., De Deyne, S., &amp; Hills, T. T. (2017). Quantifying the structure of free association networks across the life span. Developmental Psychology, 53(8), 1560–1570.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Henriksen, B. (2008). Declarative lexical knowledge. In Vocabulary and writing in a first and second language (pp. 22–66).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DE811-E706-4CE1-80DE-B5EAE63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066800"/>
            <a:ext cx="3810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Jeong, D., &amp; Hills, T. T. (2024). Age-related diversification and specialization in the mental lexicon. Cognitive Science, 48(11), e70008.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Meara, P., &amp; Wolter, B. (2004). V_Links: Beyond vocabulary depth. Angles on the English Speaking World, 4, 85–96.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Namei, S. (2004). Bilingual lexical development: A Persian–Swedish word association study. International Journal of Applied Linguistics, 14(3), 363–388.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Nippold, M. A. (2002). Lexical learning in school-age children, adolescents, and adults. Journal of Child Language, 29(2), 449–488.</a:t>
            </a:r>
          </a:p>
          <a:p xmlns:a="http://schemas.openxmlformats.org/drawingml/2006/main">
            <a:pPr>
              <a:lnSpc>
                <a:spcPct val="106000"/>
              </a:lnSpc>
              <a:spcAft>
                <a:spcPts val="4"/>
              </a:spcAft>
              <a:buNone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Steyvers, M., &amp; Tenenbaum, J. B. (2005). The large-scale structure of semantic networks. Cognitive Science, 29(1), 41–78.</a:t>
            </a:r>
          </a:p>
        </p:txBody>
      </p:sp>
    </p:spTree>
    <p:extLst>
      <p:ext uri="{BB962C8B-B14F-4D97-AF65-F5344CB8AC3E}">
        <p14:creationId xmlns:p14="http://schemas.microsoft.com/office/powerpoint/2010/main" val="1420813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2026-10-22T09:12:03.6870000Z</dcterms:created>
  <dcterms:modified xsi:type="dcterms:W3CDTF">2026-10-22T09:12:03.6870000Z</dcterms:modified>
</coreProperties>
</file>