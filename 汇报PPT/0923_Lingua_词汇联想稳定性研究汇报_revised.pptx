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93350ca8f40ec" /><Relationship Type="http://schemas.openxmlformats.org/officeDocument/2006/relationships/extended-properties" Target="/docProps/app.xml" Id="R58a0c4098d9e4ac2" /><Relationship Type="http://schemas.openxmlformats.org/officeDocument/2006/relationships/officeDocument" Target="/ppt/presentation.xml" Id="R6a2b03eaff10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34944e7004703"/>
  </p:sldMasterIdLst>
  <p:notesMasterIdLst>
    <p:notesMasterId xmlns:r="http://schemas.openxmlformats.org/officeDocument/2006/relationships" r:id="R418b3532718844da"/>
  </p:notesMasterIdLst>
  <p:sldIdLst>
    <p:sldId xmlns:r="http://schemas.openxmlformats.org/officeDocument/2006/relationships" id="256" r:id="R8955a93d9dd94192"/>
    <p:sldId xmlns:r="http://schemas.openxmlformats.org/officeDocument/2006/relationships" id="257" r:id="Re7830031d8b24157"/>
    <p:sldId xmlns:r="http://schemas.openxmlformats.org/officeDocument/2006/relationships" id="258" r:id="R72fa7e4388d24b4a"/>
    <p:sldId xmlns:r="http://schemas.openxmlformats.org/officeDocument/2006/relationships" id="259" r:id="R040251613e9f44b8"/>
    <p:sldId xmlns:r="http://schemas.openxmlformats.org/officeDocument/2006/relationships" id="260" r:id="R447e448fd15944cf"/>
    <p:sldId xmlns:r="http://schemas.openxmlformats.org/officeDocument/2006/relationships" id="261" r:id="R4cbdcfa512d642a2"/>
    <p:sldId xmlns:r="http://schemas.openxmlformats.org/officeDocument/2006/relationships" id="262" r:id="R87d075815766475f"/>
    <p:sldId xmlns:r="http://schemas.openxmlformats.org/officeDocument/2006/relationships" id="263" r:id="Ra75dcd5511c1494c"/>
    <p:sldId xmlns:r="http://schemas.openxmlformats.org/officeDocument/2006/relationships" id="264" r:id="Re910788613cb477d"/>
    <p:sldId xmlns:r="http://schemas.openxmlformats.org/officeDocument/2006/relationships" id="265" r:id="R75a1969310df4db9"/>
    <p:sldId xmlns:r="http://schemas.openxmlformats.org/officeDocument/2006/relationships" id="266" r:id="R70d28865702a432a"/>
    <p:sldId xmlns:r="http://schemas.openxmlformats.org/officeDocument/2006/relationships" id="267" r:id="R10843014dec94277"/>
    <p:sldId xmlns:r="http://schemas.openxmlformats.org/officeDocument/2006/relationships" id="268" r:id="R59ca6c0a9b6e4d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3587cf5044ee5" /><Relationship Type="http://schemas.openxmlformats.org/officeDocument/2006/relationships/slideMaster" Target="/ppt/slideMasters/slideMaster1.xml" Id="R11734944e7004703" /><Relationship Type="http://schemas.openxmlformats.org/officeDocument/2006/relationships/notesMaster" Target="/ppt/notesMasters/notesMaster1.xml" Id="R418b3532718844da" /><Relationship Type="http://schemas.openxmlformats.org/officeDocument/2006/relationships/presProps" Target="/ppt/presProps.xml" Id="Rff9f2c38a3484a35" /><Relationship Type="http://schemas.openxmlformats.org/officeDocument/2006/relationships/viewProps" Target="/ppt/viewProps.xml" Id="R92a867d276b24f07" /><Relationship Type="http://schemas.openxmlformats.org/officeDocument/2006/relationships/tableStyles" Target="/ppt/tableStyles.xml" Id="R83fd204a9ab14d6b" /><Relationship Type="http://schemas.openxmlformats.org/officeDocument/2006/relationships/slide" Target="/ppt/slides/slide1.xml" Id="R8955a93d9dd94192" /><Relationship Type="http://schemas.openxmlformats.org/officeDocument/2006/relationships/slide" Target="/ppt/slides/slide2.xml" Id="Re7830031d8b24157" /><Relationship Type="http://schemas.openxmlformats.org/officeDocument/2006/relationships/slide" Target="/ppt/slides/slide3.xml" Id="R72fa7e4388d24b4a" /><Relationship Type="http://schemas.openxmlformats.org/officeDocument/2006/relationships/slide" Target="/ppt/slides/slide4.xml" Id="R040251613e9f44b8" /><Relationship Type="http://schemas.openxmlformats.org/officeDocument/2006/relationships/slide" Target="/ppt/slides/slide5.xml" Id="R447e448fd15944cf" /><Relationship Type="http://schemas.openxmlformats.org/officeDocument/2006/relationships/slide" Target="/ppt/slides/slide6.xml" Id="R4cbdcfa512d642a2" /><Relationship Type="http://schemas.openxmlformats.org/officeDocument/2006/relationships/slide" Target="/ppt/slides/slide7.xml" Id="R87d075815766475f" /><Relationship Type="http://schemas.openxmlformats.org/officeDocument/2006/relationships/slide" Target="/ppt/slides/slide8.xml" Id="Ra75dcd5511c1494c" /><Relationship Type="http://schemas.openxmlformats.org/officeDocument/2006/relationships/slide" Target="/ppt/slides/slide9.xml" Id="Re910788613cb477d" /><Relationship Type="http://schemas.openxmlformats.org/officeDocument/2006/relationships/slide" Target="/ppt/slides/slide10.xml" Id="R75a1969310df4db9" /><Relationship Type="http://schemas.openxmlformats.org/officeDocument/2006/relationships/slide" Target="/ppt/slides/slide11.xml" Id="R70d28865702a432a" /><Relationship Type="http://schemas.openxmlformats.org/officeDocument/2006/relationships/slide" Target="/ppt/slides/slide12.xml" Id="R10843014dec94277" /><Relationship Type="http://schemas.openxmlformats.org/officeDocument/2006/relationships/slide" Target="/ppt/slides/slide13.xml" Id="R59ca6c0a9b6e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3d44d03f20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c6931d9714b6d" /><Relationship Type="http://schemas.openxmlformats.org/officeDocument/2006/relationships/notesMaster" Target="/ppt/notesMasters/notesMaster1.xml" Id="R13332a53c89941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8975fe5284ec7" /><Relationship Type="http://schemas.openxmlformats.org/officeDocument/2006/relationships/notesMaster" Target="/ppt/notesMasters/notesMaster1.xml" Id="R0c8ac2b232ae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b328258944ecc" /><Relationship Type="http://schemas.openxmlformats.org/officeDocument/2006/relationships/notesMaster" Target="/ppt/notesMasters/notesMaster1.xml" Id="Rad355d32a7364b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1bb8d44f3e420f" /><Relationship Type="http://schemas.openxmlformats.org/officeDocument/2006/relationships/notesMaster" Target="/ppt/notesMasters/notesMaster1.xml" Id="Rd7e9d5c63b3f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9410097bf4011" /><Relationship Type="http://schemas.openxmlformats.org/officeDocument/2006/relationships/notesMaster" Target="/ppt/notesMasters/notesMaster1.xml" Id="R4930a243ca3e48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0efc8d2454cae" /><Relationship Type="http://schemas.openxmlformats.org/officeDocument/2006/relationships/notesMaster" Target="/ppt/notesMasters/notesMaster1.xml" Id="R2070a4a92c7f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f8138d2dd410d" /><Relationship Type="http://schemas.openxmlformats.org/officeDocument/2006/relationships/notesMaster" Target="/ppt/notesMasters/notesMaster1.xml" Id="Rc9e686ef40d94b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2b99b070614669" /><Relationship Type="http://schemas.openxmlformats.org/officeDocument/2006/relationships/notesMaster" Target="/ppt/notesMasters/notesMaster1.xml" Id="R886e5cc2660945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759e0a4ac94f0f" /><Relationship Type="http://schemas.openxmlformats.org/officeDocument/2006/relationships/notesMaster" Target="/ppt/notesMasters/notesMaster1.xml" Id="Re2a06924faf5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fbe917b9b6477f" /><Relationship Type="http://schemas.openxmlformats.org/officeDocument/2006/relationships/notesMaster" Target="/ppt/notesMasters/notesMaster1.xml" Id="R13536fa48dcf44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c9e3963e3747be" /><Relationship Type="http://schemas.openxmlformats.org/officeDocument/2006/relationships/notesMaster" Target="/ppt/notesMasters/notesMaster1.xml" Id="R0283335c45424f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8faef6ace648b5" /><Relationship Type="http://schemas.openxmlformats.org/officeDocument/2006/relationships/notesMaster" Target="/ppt/notesMasters/notesMaster1.xml" Id="Re2892e89b2f241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9d913b02714150" /><Relationship Type="http://schemas.openxmlformats.org/officeDocument/2006/relationships/notesMaster" Target="/ppt/notesMasters/notesMaster1.xml" Id="R81e8014140b24c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dc2c4e06e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34c3ab3aa74515" /><Relationship Type="http://schemas.openxmlformats.org/officeDocument/2006/relationships/slideLayout" Target="/ppt/slideLayouts/slideLayout1.xml" Id="Ra21ce2fffdb6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ce2fffdb6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e4210c6a47d4" /><Relationship Type="http://schemas.openxmlformats.org/officeDocument/2006/relationships/notesSlide" Target="/ppt/notesSlides/notesSlide1.xml" Id="Ra7739b79553e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8d62e62b94f3e" /><Relationship Type="http://schemas.openxmlformats.org/officeDocument/2006/relationships/notesSlide" Target="/ppt/notesSlides/notesSlide2.xml" Id="R907ef662e888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4eea8a5884570" /><Relationship Type="http://schemas.openxmlformats.org/officeDocument/2006/relationships/notesSlide" Target="/ppt/notesSlides/notesSlide3.xml" Id="R776f96bf61c145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3ee36992147c2" /><Relationship Type="http://schemas.openxmlformats.org/officeDocument/2006/relationships/notesSlide" Target="/ppt/notesSlides/notesSlide4.xml" Id="R024dde01b691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0cae7ed3e45b4" /><Relationship Type="http://schemas.openxmlformats.org/officeDocument/2006/relationships/notesSlide" Target="/ppt/notesSlides/notesSlide5.xml" Id="R329059e3d6d74c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9409656946d6" /><Relationship Type="http://schemas.openxmlformats.org/officeDocument/2006/relationships/notesSlide" Target="/ppt/notesSlides/notesSlide6.xml" Id="R274e39257d914b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63e57d258417e" /><Relationship Type="http://schemas.openxmlformats.org/officeDocument/2006/relationships/notesSlide" Target="/ppt/notesSlides/notesSlide7.xml" Id="R0d7ce6e2a15f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bf96097ec41d3" /><Relationship Type="http://schemas.openxmlformats.org/officeDocument/2006/relationships/chart" Target="/ppt/slides/charts/chart1.xml" Id="R7945532da0834846" /><Relationship Type="http://schemas.openxmlformats.org/officeDocument/2006/relationships/notesSlide" Target="/ppt/notesSlides/notesSlide8.xml" Id="R8353e86dd24a45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9d8bb92984165" /><Relationship Type="http://schemas.openxmlformats.org/officeDocument/2006/relationships/notesSlide" Target="/ppt/notesSlides/notesSlide9.xml" Id="Rea5c0db210834f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b4fd36f7a4af7" /><Relationship Type="http://schemas.openxmlformats.org/officeDocument/2006/relationships/chart" Target="/ppt/slides/charts/chart2.xml" Id="R70d2643019354a8e" /><Relationship Type="http://schemas.openxmlformats.org/officeDocument/2006/relationships/notesSlide" Target="/ppt/notesSlides/notesSlide10.xml" Id="R9881e84a0b3440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aa84b18146da" /><Relationship Type="http://schemas.openxmlformats.org/officeDocument/2006/relationships/notesSlide" Target="/ppt/notesSlides/notesSlide11.xml" Id="R77ff8dac9e454e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a305d96c44510" /><Relationship Type="http://schemas.openxmlformats.org/officeDocument/2006/relationships/notesSlide" Target="/ppt/notesSlides/notesSlide12.xml" Id="Raaf83e9de48143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322a21b234d1c" /><Relationship Type="http://schemas.openxmlformats.org/officeDocument/2006/relationships/notesSlide" Target="/ppt/notesSlides/notesSlide13.xml" Id="Rf85a6085ab804535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1.xlsx"/></Relationships>
</file>

<file path=ppt/slides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2.xlsx"/></Relationships>
</file>

<file path=ppt/slides/charts/chart1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Chinese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By participant</c:v>
                </c:pt>
                <c:pt idx="1">
                  <c:v>By item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</c:ser>
        <c:ser>
          <c:idx val="1"/>
          <c:order val="1"/>
          <c:tx>
            <c:v>L2 English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By participant</c:v>
                </c:pt>
                <c:pt idx="1">
                  <c:v>By item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</c:v>
                </c:pt>
                <c:pt idx="1">
                  <c:v>68.55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charts/chart2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Chinese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Response 1</c:v>
                </c:pt>
                <c:pt idx="1">
                  <c:v>Response 2</c:v>
                </c:pt>
                <c:pt idx="2">
                  <c:v>Response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</c:ser>
        <c:ser>
          <c:idx val="1"/>
          <c:order val="1"/>
          <c:tx>
            <c:v>L2 English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Response 1</c:v>
                </c:pt>
                <c:pt idx="1">
                  <c:v>Response 2</c:v>
                </c:pt>
                <c:pt idx="2">
                  <c:v>Response 3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CA7F7B-8B48-42E5-B7A5-BC53CE1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5B78"/>
                </a:solidFill>
                <a:latin typeface="Aptos"/>
                <a:ea typeface="Aptos"/>
                <a:cs typeface="Aptos"/>
              </a:rPr>
              <a:t>Lingua Article Presentation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‘Did I repeat so many English words?’: Stability of L1 and L2 word association responses over time and across response positions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DOI 10.1016/j.lingua.2024.103804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8C1D3-3579-4F35-ABD1-847F6AA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8EE2E-5833-4179-8CA8-D7DA06C4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4949B-7B79-4ABA-A042-F11B51DB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Major Program Fund of Jiangsu Education Department (2022SJZD126)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4B031D-020E-4B7F-BE4F-2FFC18D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Table of Contents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01  BACKGROUND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Background and Research Gap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02  RESEARCH DESIGN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Participants and Materials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Procedure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Measures and Data Analysis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03  RESULTS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Overall L1–L2 Differences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Cross-Language and Position Effects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04  DISCUSSION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Interpretation and Implications</a:t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Limitations and Conclusions</a:t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8EBE4A2-CFFE-41DE-AED9-3B6BF58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Background and Research Gap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Definition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同一学习者在不同时间面对同一刺激词时，重复产生相同反应词的程度。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本研究以两次测试之间的反应重复率（repetition rate）衡量 associative stability。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Research Gap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associative stability 的整体差异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个体在 L1 与 L2 中的 associative stability 是否一致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连续词汇联想任务（continuous WAT）中的 response-position effect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研究聚焦同一联想反应跨时间再次出现的概率。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BD98526-3D6E-443A-A75F-1700E7E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Focus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Research Questions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Overall Difference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Does overall associative stability differ between L1 and L2?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Cross-Language Consistency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Are L1 and L2 stability correlated by participant and by stimulus word?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Response Position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Does associative stability vary across response positions?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B54F813-6E5F-4B9C-B8BD-843D3F1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Participants and Materials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Participants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Initial N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Final sample  N = 39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Undergraduates from 3 universities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English or English Education majors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All passed CET-4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Mean age = 19.73 years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Stimuli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Chinese–English stimulus pairs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Frequency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Word class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Concreteness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Nouns, verbs, adjectives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Concrete / abstract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768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Examples: kitchen / 厨房, smile / 微笑, 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51ED586-EB61-4DC3-A237-E36669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Procedure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Each language was tested twice, with a two-week test–retest interval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Test 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Language A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Test 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Language B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Retest 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Same as Test 1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Retest 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Same as Test 2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Each test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stimulus words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responses per stimulus word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No time limit; respond as quickly as possible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Test time, stimulus order, and instructions remained constant in the retest; participants were not informed in advance.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DB6FCA-5BD8-4D4B-ACD0-A384A28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Measures and Data Analysis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Primary Measure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Associative stability (AS)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= repeated responses (%)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Lemmatization and spelling correction preceded scoring.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Units of Analysis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By participant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Individual test–retest repetition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By item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Group-level stability across stimulus words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Statistical Analyses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Overall comparison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Independent-samples t test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L1–L2 repetition rates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Cross-language consistency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correlation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By participant and by item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Response position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Two-way ANOVA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Language × response position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D94F7A0-D9CF-45D5-B565-299C9AC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Higher Overall Associative Stability in L2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The same pattern emerged in the by-participant and by-item analyses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45532da0834846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By participant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+7.35 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By item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+5.87 pp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Group-level stability by stimulus word exceeded individual-level response stability.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C152C0-CAA0-4759-94D3-3D617ED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Cross-Language Consistency at the Individual Level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By participant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Higher L1 repetition rates predicted higher L2 repetition rates.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By item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Translation-equivalent stimuli lacked cross-language stability.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Cross-language consistency emerged at the participant level only.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5E215-B49E-4F89-8523-340BBC9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Associative Stability Declines Across Response Positions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A similar decline appeared in L1 and L2 from the first to the third response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d2643019354a8e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Position effect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Two-way model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Language effect  p = .156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Interaction  p = .621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Position was the dominant effect.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At the third position, participants repeated about two L1 responses and three L2 responses on average.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335850-DC86-4BA8-AC0D-190B0B2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Interpretation of Higher L2 Associative Stability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The authors interpret the pattern through a lexical-network account. The study did not measure network structure directly.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lexical network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Larger vocabulary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Richer semantic connections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More competing responses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Different responses may become accessible across sessions, reducing repetition.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lexical network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Fewer available responses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Fewer or weaker semantic links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More dominant representations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Dominant responses may recur across sessions, increasing repetition.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Additional item-level influences include polysemy, concreteness, and scoring criteria.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CD57E7-B6D1-488B-A70C-9B7684E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Contributions and Implications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Theoretical Perspective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Associative stability offers a test–retest measure of bilingual lexical organization.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Levels of Analysis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Participant, item, and response-position analyses reveal distinct patterns.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Methodological Implication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Later responses are less stable and more idiosyncratic.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Higher repetition rates can reflect a restricted set of accessible responses.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D927867-3207-4DCA-8D2A-3D129D9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Limitations and Conclusions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Limitations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Two-week test–retest interval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High-frequency stimulus words only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 semantic-category comparison between stable and unstable responses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Main Findings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L2 showed higher overall repetition rates than L1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Participant-level L1 and L2 stability correlated significantly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Stability declined from the first to the third response position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Associative stability captures the likelihood that the same lexical association will recur across time.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2026-09-23T05:15:08.3720000Z</dcterms:created>
  <dcterms:modified xsi:type="dcterms:W3CDTF">2026-09-23T05:15:08.3720000Z</dcterms:modified>
</coreProperties>
</file>