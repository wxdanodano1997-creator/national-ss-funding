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005840"/>
            <a:ext cx="4846320" cy="4846320"/>
          </a:xfrm>
          <a:prstGeom prst="ellipse">
            <a:avLst/>
          </a:prstGeom>
          <a:ln w="177800">
            <a:solidFill>
              <a:srgbClr val="E7ED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4206240"/>
            <a:ext cx="1920240" cy="1920240"/>
          </a:xfrm>
          <a:prstGeom prst="ellipse">
            <a:avLst/>
          </a:prstGeom>
          <a:solidFill>
            <a:srgbClr val="F1F5FA"/>
          </a:solidFill>
          <a:ln/>
        </p:spPr>
      </p:sp>
      <p:pic>
        <p:nvPicPr>
          <p:cNvPr id="4" name="Image 0" descr="/tmp/claude-0/-home-user-NATIONAL-SS-Funding/d399dd62-2b1c-5986-baf9-d080933e5780/scratchpad/ppt-work/assets/logo-sud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914400" cy="9144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45920" y="484632"/>
            <a:ext cx="47548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3D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spc="1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School of Foreign Languages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66928" y="1783080"/>
            <a:ext cx="6766560" cy="0"/>
          </a:xfrm>
          <a:prstGeom prst="line">
            <a:avLst/>
          </a:prstGeom>
          <a:noFill/>
          <a:ln w="19050">
            <a:solidFill>
              <a:srgbClr val="E7EDF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66928" y="2286000"/>
            <a:ext cx="9509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3100" b="1" dirty="0">
                <a:solidFill>
                  <a:srgbClr val="1E3D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Investigating the Bilingual Aging Lexicon: A Network Analysis of Word Associations in Chinese–English Bilinguals</a:t>
            </a:r>
            <a:endParaRPr lang="en-US" sz="3100" dirty="0"/>
          </a:p>
        </p:txBody>
      </p:sp>
      <p:sp>
        <p:nvSpPr>
          <p:cNvPr id="8" name="Text 5"/>
          <p:cNvSpPr txBox="1"/>
          <p:nvPr/>
        </p:nvSpPr>
        <p:spPr>
          <a:xfrm>
            <a:off x="603504" y="4434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F60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Ping Zhang · Xin Wang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603504" y="4956048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Cognitive Science 50 (2026) e70205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DOI: 10.1111/cogs.70205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03504" y="608076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资助项目：国家社会科学基金（23BYY178）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2F60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3D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成果发表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F60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Cognitive Science (2026)   </a:t>
            </a:r>
            <a:pPr algn="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20240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1E3D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Cognitive Science</a:t>
            </a:r>
            <a:endParaRPr lang="en-US" sz="2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0040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Cognitive Science Society · Wiley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657600"/>
            <a:ext cx="859536" cy="420624"/>
          </a:xfrm>
          <a:prstGeom prst="roundRect">
            <a:avLst>
              <a:gd name="adj" fmla="val 50000"/>
            </a:avLst>
          </a:prstGeom>
          <a:solidFill>
            <a:srgbClr val="E7EDF4"/>
          </a:solidFill>
          <a:ln w="12700">
            <a:solidFill>
              <a:srgbClr val="2F609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657600"/>
            <a:ext cx="8595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D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SSCI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609344" y="3657600"/>
            <a:ext cx="1188720" cy="420624"/>
          </a:xfrm>
          <a:prstGeom prst="roundRect">
            <a:avLst>
              <a:gd name="adj" fmla="val 50000"/>
            </a:avLst>
          </a:prstGeom>
          <a:solidFill>
            <a:srgbClr val="E7EDF4"/>
          </a:solidFill>
          <a:ln w="12700">
            <a:solidFill>
              <a:srgbClr val="2F609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609344" y="365760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D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认知科学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29768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Volume 50 (2026) · Article e70205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92040" y="1463040"/>
            <a:ext cx="3200400" cy="443484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5875">
            <a:solidFill>
              <a:srgbClr val="2F6093"/>
            </a:solidFill>
            <a:prstDash val="solid"/>
          </a:ln>
          <a:effectLst>
            <a:outerShdw sx="100000" sy="100000" kx="0" ky="0" algn="bl" rotWithShape="0" blurRad="88900" dist="38100" dir="5400000">
              <a:srgbClr val="999999">
                <a:alpha val="40000"/>
              </a:srgbClr>
            </a:outerShdw>
          </a:effectLst>
        </p:spPr>
      </p:sp>
      <p:pic>
        <p:nvPicPr>
          <p:cNvPr id="14" name="Image 0" descr="/tmp/claude-0/-home-user-NATIONAL-SS-Funding/d399dd62-2b1c-5986-baf9-d080933e5780/scratchpad/ppt-work/assets/cover-crop-C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1768" y="1679826"/>
            <a:ext cx="2980944" cy="4001267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4892040" y="595274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3D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期刊封面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8549640" y="1463040"/>
            <a:ext cx="3200400" cy="443484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5875">
            <a:solidFill>
              <a:srgbClr val="2F6093"/>
            </a:solidFill>
            <a:prstDash val="solid"/>
          </a:ln>
          <a:effectLst>
            <a:outerShdw sx="100000" sy="100000" kx="0" ky="0" algn="bl" rotWithShape="0" blurRad="88900" dist="38100" dir="5400000">
              <a:srgbClr val="999999">
                <a:alpha val="40000"/>
              </a:srgbClr>
            </a:outerShdw>
          </a:effectLst>
        </p:spPr>
      </p:sp>
      <p:pic>
        <p:nvPicPr>
          <p:cNvPr id="17" name="Image 1" descr="/tmp/claude-0/-home-user-NATIONAL-SS-Funding/d399dd62-2b1c-5986-baf9-d080933e5780/scratchpad/ppt-work/assets/trim-CS-first-0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9368" y="1584156"/>
            <a:ext cx="2980944" cy="4192608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8549640" y="595274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3D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论文首页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2F60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3D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F60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Cognitive Science (2026)   </a:t>
            </a:r>
            <a:pPr algn="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440680" cy="4663440"/>
          </a:xfrm>
          <a:prstGeom prst="roundRect">
            <a:avLst>
              <a:gd name="adj" fmla="val 1569"/>
            </a:avLst>
          </a:prstGeom>
          <a:solidFill>
            <a:srgbClr val="F1F5FA"/>
          </a:solidFill>
          <a:ln w="12700">
            <a:solidFill>
              <a:srgbClr val="E7EDF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728216"/>
            <a:ext cx="164592" cy="164592"/>
          </a:xfrm>
          <a:prstGeom prst="ellipse">
            <a:avLst/>
          </a:prstGeom>
          <a:solidFill>
            <a:srgbClr val="2F60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51560" y="1600200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3D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总体背景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2130552"/>
            <a:ext cx="4855464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双语词汇系统在成年期持续受到知识积累、</a:t>
            </a:r>
            <a:endParaRPr lang="en-US" sz="18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语言使用和认知老化的共同影响。</a:t>
            </a:r>
            <a:endParaRPr lang="en-US" sz="18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词汇联想网络可通过连接、路径、</a:t>
            </a:r>
            <a:endParaRPr lang="en-US" sz="18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聚集与社群结构，呈现词汇</a:t>
            </a:r>
            <a:endParaRPr lang="en-US" sz="18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组织随年龄发生的整体变化。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17920" y="1417320"/>
            <a:ext cx="5468112" cy="4663440"/>
          </a:xfrm>
          <a:prstGeom prst="roundRect">
            <a:avLst>
              <a:gd name="adj" fmla="val 1569"/>
            </a:avLst>
          </a:prstGeom>
          <a:solidFill>
            <a:srgbClr val="F1F5FA"/>
          </a:solidFill>
          <a:ln w="12700">
            <a:solidFill>
              <a:srgbClr val="E7EDF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1728216"/>
            <a:ext cx="164592" cy="164592"/>
          </a:xfrm>
          <a:prstGeom prst="ellipse">
            <a:avLst/>
          </a:prstGeom>
          <a:solidFill>
            <a:srgbClr val="2F60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766560" y="1600200"/>
            <a:ext cx="4690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3D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已有发现与证据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510528" y="2130552"/>
            <a:ext cx="4882896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大规模生命周期研究发现，</a:t>
            </a:r>
            <a:endParaRPr lang="en-US" sz="18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语义网络的连接度在成年早期达到峰值后下</a:t>
            </a:r>
            <a:endParaRPr lang="en-US" sz="18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降，路径长度、聚类与模块化随年龄呈现阶</a:t>
            </a:r>
            <a:endParaRPr lang="en-US" sz="18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段性变化（Dubossarsky et al., 2017；</a:t>
            </a:r>
            <a:endParaRPr lang="en-US" sz="18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Wulff et al., 2022）。</a:t>
            </a:r>
            <a:endParaRPr lang="en-US" sz="18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老年群体内部差异较大，持续学习和丰富语</a:t>
            </a:r>
            <a:endParaRPr lang="en-US" sz="18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言经验可能维持或重组网络结构（</a:t>
            </a:r>
            <a:endParaRPr lang="en-US" sz="18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Cosgrove et al., </a:t>
            </a:r>
            <a:endParaRPr lang="en-US" sz="18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2021；Hills, 2025）。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2F60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3D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现有研究不足之处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F60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Cognitive Science (2026)   </a:t>
            </a:r>
            <a:pPr algn="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91672" cy="1475232"/>
          </a:xfrm>
          <a:prstGeom prst="roundRect">
            <a:avLst>
              <a:gd name="adj" fmla="val 6198"/>
            </a:avLst>
          </a:prstGeom>
          <a:solidFill>
            <a:srgbClr val="F1F5FA"/>
          </a:solidFill>
          <a:ln w="12700">
            <a:solidFill>
              <a:srgbClr val="E7EDF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1862328"/>
            <a:ext cx="585216" cy="585216"/>
          </a:xfrm>
          <a:prstGeom prst="ellipse">
            <a:avLst/>
          </a:prstGeom>
          <a:solidFill>
            <a:srgbClr val="2F60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186232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1847088" y="1417320"/>
            <a:ext cx="9473184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05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双语成人词汇网络的年龄变化证据有限，既有研究多聚焦年轻成人或单一</a:t>
            </a:r>
            <a:endParaRPr lang="en-US" sz="20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205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年龄组，难以揭示中年至晚年的连续轨迹。</a:t>
            </a:r>
            <a:endParaRPr lang="en-US" sz="2050" dirty="0"/>
          </a:p>
        </p:txBody>
      </p:sp>
      <p:sp>
        <p:nvSpPr>
          <p:cNvPr id="10" name="Shape 8"/>
          <p:cNvSpPr/>
          <p:nvPr/>
        </p:nvSpPr>
        <p:spPr>
          <a:xfrm>
            <a:off x="548640" y="3148584"/>
            <a:ext cx="11091672" cy="1475232"/>
          </a:xfrm>
          <a:prstGeom prst="roundRect">
            <a:avLst>
              <a:gd name="adj" fmla="val 6198"/>
            </a:avLst>
          </a:prstGeom>
          <a:solidFill>
            <a:srgbClr val="F1F5FA"/>
          </a:solidFill>
          <a:ln w="12700">
            <a:solidFill>
              <a:srgbClr val="E7EDF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14400" y="3593592"/>
            <a:ext cx="585216" cy="585216"/>
          </a:xfrm>
          <a:prstGeom prst="ellipse">
            <a:avLst/>
          </a:prstGeom>
          <a:solidFill>
            <a:srgbClr val="2F60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3593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500" dirty="0"/>
          </a:p>
        </p:txBody>
      </p:sp>
      <p:sp>
        <p:nvSpPr>
          <p:cNvPr id="13" name="Text 11"/>
          <p:cNvSpPr txBox="1"/>
          <p:nvPr/>
        </p:nvSpPr>
        <p:spPr>
          <a:xfrm>
            <a:off x="1847088" y="3148584"/>
            <a:ext cx="9473184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05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既有双语网络研究主要基于语义流畅性任务、</a:t>
            </a:r>
            <a:endParaRPr lang="en-US" sz="20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205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受限语义类别或描述性比较，母语与二语网络差异的结论并不一致（</a:t>
            </a:r>
            <a:endParaRPr lang="en-US" sz="20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205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Borodkin et al., 2016；Agustín-Llach &amp; Palapanidi, 2024）。</a:t>
            </a:r>
            <a:endParaRPr lang="en-US" sz="2050" dirty="0"/>
          </a:p>
        </p:txBody>
      </p:sp>
      <p:sp>
        <p:nvSpPr>
          <p:cNvPr id="14" name="Shape 12"/>
          <p:cNvSpPr/>
          <p:nvPr/>
        </p:nvSpPr>
        <p:spPr>
          <a:xfrm>
            <a:off x="548640" y="4879848"/>
            <a:ext cx="11091672" cy="1475232"/>
          </a:xfrm>
          <a:prstGeom prst="roundRect">
            <a:avLst>
              <a:gd name="adj" fmla="val 6198"/>
            </a:avLst>
          </a:prstGeom>
          <a:solidFill>
            <a:srgbClr val="F1F5FA"/>
          </a:solidFill>
          <a:ln w="12700">
            <a:solidFill>
              <a:srgbClr val="E7EDF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5324856"/>
            <a:ext cx="585216" cy="585216"/>
          </a:xfrm>
          <a:prstGeom prst="ellipse">
            <a:avLst/>
          </a:prstGeom>
          <a:solidFill>
            <a:srgbClr val="2F60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532485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500" dirty="0"/>
          </a:p>
        </p:txBody>
      </p:sp>
      <p:sp>
        <p:nvSpPr>
          <p:cNvPr id="17" name="Text 15"/>
          <p:cNvSpPr txBox="1"/>
          <p:nvPr/>
        </p:nvSpPr>
        <p:spPr>
          <a:xfrm>
            <a:off x="1847088" y="4879848"/>
            <a:ext cx="9473184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05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同一批双语者的母语与二语自由词汇联想网络是</a:t>
            </a:r>
            <a:endParaRPr lang="en-US" sz="20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205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否呈现相同的年龄轨迹，尚缺少系统的统计检验。</a:t>
            </a:r>
            <a:endParaRPr lang="en-US" sz="2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2F60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3D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研究问题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F60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Cognitive Science (2026)   </a:t>
            </a:r>
            <a:pPr algn="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5349240" cy="3383280"/>
          </a:xfrm>
          <a:prstGeom prst="roundRect">
            <a:avLst>
              <a:gd name="adj" fmla="val 2703"/>
            </a:avLst>
          </a:prstGeom>
          <a:solidFill>
            <a:srgbClr val="F1F5FA"/>
          </a:solidFill>
          <a:ln w="12700">
            <a:solidFill>
              <a:srgbClr val="E7EDF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647188" y="2057400"/>
            <a:ext cx="1060704" cy="1060704"/>
          </a:xfrm>
          <a:prstGeom prst="ellipse">
            <a:avLst/>
          </a:prstGeom>
          <a:solidFill>
            <a:srgbClr val="1E3D6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647188" y="2057400"/>
            <a:ext cx="106070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RQ1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337560"/>
            <a:ext cx="4800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5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母语汉语和二语英语网络的平均度、</a:t>
            </a:r>
            <a:endParaRPr lang="en-US" sz="17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75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平均最短路径、聚类系数</a:t>
            </a:r>
            <a:endParaRPr lang="en-US" sz="17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75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和模块度如何随年龄变化？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6309360" y="1737360"/>
            <a:ext cx="5349240" cy="3383280"/>
          </a:xfrm>
          <a:prstGeom prst="roundRect">
            <a:avLst>
              <a:gd name="adj" fmla="val 2703"/>
            </a:avLst>
          </a:prstGeom>
          <a:solidFill>
            <a:srgbClr val="F1F5FA"/>
          </a:solidFill>
          <a:ln w="12700">
            <a:solidFill>
              <a:srgbClr val="E7EDF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453628" y="2057400"/>
            <a:ext cx="1060704" cy="1060704"/>
          </a:xfrm>
          <a:prstGeom prst="ellipse">
            <a:avLst/>
          </a:prstGeom>
          <a:solidFill>
            <a:srgbClr val="1E3D6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453628" y="2057400"/>
            <a:ext cx="106070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RQ2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3337560"/>
            <a:ext cx="4800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5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母语与二语的年龄变化轨迹是否存在差异？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2F60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3D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研究被试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F60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Cognitive Science (2026)   </a:t>
            </a:r>
            <a:pPr algn="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2F60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</a:t>
            </a:r>
            <a:pPr algn="l" indent="0" marL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 117 人，女性 78、男性 39；29 人有海外学习经历。均来自江苏高校，未报告神经或认知障碍。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103120"/>
          <a:ext cx="106984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280160"/>
                <a:gridCol w="1645920"/>
                <a:gridCol w="1645920"/>
                <a:gridCol w="4480560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年龄组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6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人数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6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平均年龄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6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年龄 SD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6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样本说明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63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30–40 岁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36.23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2.81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在职大学英语教师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41–50 岁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42.73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2.64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在职大学英语教师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51–60 岁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54.53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2.91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在职大学英语教师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61–70 岁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27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65.04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2.43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在职大学英语教师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2F60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3D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实验材料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F60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Cognitive Science (2026)   </a:t>
            </a:r>
            <a:pPr algn="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2F60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</a:t>
            </a:r>
            <a:pPr algn="l" indent="0" marL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汉英两套刺激词用于构建可比较的母语与二语词汇联想网络。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103120"/>
          <a:ext cx="106984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097280"/>
                <a:gridCol w="3931920"/>
                <a:gridCol w="3566160"/>
              </a:tblGrid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材料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6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数量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6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覆盖范围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6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控制变量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63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英语刺激词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名词、动词、形容词；具体词与抽象词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词性、具体性、词长；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多数位于前 2000 高频词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汉语对应词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与英语词构成翻译对应关系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词性、具体性、笔画数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2F60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3D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实验任务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F60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Cognitive Science (2026)   </a:t>
            </a:r>
            <a:pPr algn="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6984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7955280"/>
              </a:tblGrid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6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任务要求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63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任务类型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连续词汇联想任务（continuous word association task）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刺激呈现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在线程序逐词呈现 30 个刺激词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作答方式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每个刺激词输入最先想到的 3 个同语种反应词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时间要求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不设时间限制，自然即时作答；支持键盘输入和语音转写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2F60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3D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实验过程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F60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Cognitive Science (2026)   </a:t>
            </a:r>
            <a:pPr algn="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2583180" cy="2377440"/>
          </a:xfrm>
          <a:prstGeom prst="roundRect">
            <a:avLst>
              <a:gd name="adj" fmla="val 3846"/>
            </a:avLst>
          </a:prstGeom>
          <a:solidFill>
            <a:srgbClr val="F1F5FA"/>
          </a:solidFill>
          <a:ln w="15875">
            <a:solidFill>
              <a:srgbClr val="2F6093"/>
            </a:solidFill>
            <a:prstDash val="solid"/>
          </a:ln>
          <a:effectLst>
            <a:outerShdw sx="100000" sy="100000" kx="0" ky="0" algn="bl" rotWithShape="0" blurRad="63500" dist="25400" dir="5400000">
              <a:srgbClr val="BBBBBB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01902" y="1856232"/>
            <a:ext cx="585216" cy="585216"/>
          </a:xfrm>
          <a:prstGeom prst="ellipse">
            <a:avLst/>
          </a:prstGeom>
          <a:solidFill>
            <a:srgbClr val="1E3D6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501902" y="1856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12648" y="2606040"/>
            <a:ext cx="23637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E3D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数据采集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67512" y="3200400"/>
            <a:ext cx="22539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 年下半年开展</a:t>
            </a:r>
            <a:endParaRPr lang="en-US" sz="1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参与者先完成英语任务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104388" y="3218688"/>
            <a:ext cx="237744" cy="237744"/>
          </a:xfrm>
          <a:prstGeom prst="rightArrow">
            <a:avLst/>
          </a:prstGeom>
          <a:solidFill>
            <a:srgbClr val="2F6093"/>
          </a:solidFill>
          <a:ln/>
        </p:spPr>
      </p:sp>
      <p:sp>
        <p:nvSpPr>
          <p:cNvPr id="12" name="Shape 10"/>
          <p:cNvSpPr/>
          <p:nvPr/>
        </p:nvSpPr>
        <p:spPr>
          <a:xfrm>
            <a:off x="3360420" y="2148840"/>
            <a:ext cx="2583180" cy="2377440"/>
          </a:xfrm>
          <a:prstGeom prst="roundRect">
            <a:avLst>
              <a:gd name="adj" fmla="val 3846"/>
            </a:avLst>
          </a:prstGeom>
          <a:solidFill>
            <a:srgbClr val="E7EDF4"/>
          </a:solidFill>
          <a:ln w="15875">
            <a:solidFill>
              <a:srgbClr val="2F6093"/>
            </a:solidFill>
            <a:prstDash val="solid"/>
          </a:ln>
          <a:effectLst>
            <a:outerShdw sx="100000" sy="100000" kx="0" ky="0" algn="bl" rotWithShape="0" blurRad="63500" dist="25400" dir="5400000">
              <a:srgbClr val="BBBBBB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59402" y="1856232"/>
            <a:ext cx="585216" cy="585216"/>
          </a:xfrm>
          <a:prstGeom prst="ellipse">
            <a:avLst/>
          </a:prstGeom>
          <a:solidFill>
            <a:srgbClr val="1E3D6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359402" y="1856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3470148" y="2606040"/>
            <a:ext cx="23637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E3D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时间间隔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525012" y="3200400"/>
            <a:ext cx="22539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6 个月后完成汉语</a:t>
            </a:r>
            <a:endParaRPr lang="en-US" sz="1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刺激词顺序与要求相同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961888" y="3218688"/>
            <a:ext cx="237744" cy="237744"/>
          </a:xfrm>
          <a:prstGeom prst="rightArrow">
            <a:avLst/>
          </a:prstGeom>
          <a:solidFill>
            <a:srgbClr val="2F6093"/>
          </a:solidFill>
          <a:ln/>
        </p:spPr>
      </p:sp>
      <p:sp>
        <p:nvSpPr>
          <p:cNvPr id="18" name="Shape 16"/>
          <p:cNvSpPr/>
          <p:nvPr/>
        </p:nvSpPr>
        <p:spPr>
          <a:xfrm>
            <a:off x="6217920" y="2148840"/>
            <a:ext cx="2583180" cy="2377440"/>
          </a:xfrm>
          <a:prstGeom prst="roundRect">
            <a:avLst>
              <a:gd name="adj" fmla="val 3846"/>
            </a:avLst>
          </a:prstGeom>
          <a:solidFill>
            <a:srgbClr val="F1F5FA"/>
          </a:solidFill>
          <a:ln w="15875">
            <a:solidFill>
              <a:srgbClr val="2F6093"/>
            </a:solidFill>
            <a:prstDash val="solid"/>
          </a:ln>
          <a:effectLst>
            <a:outerShdw sx="100000" sy="100000" kx="0" ky="0" algn="bl" rotWithShape="0" blurRad="63500" dist="25400" dir="5400000">
              <a:srgbClr val="BBBBBB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216902" y="1856232"/>
            <a:ext cx="585216" cy="585216"/>
          </a:xfrm>
          <a:prstGeom prst="ellipse">
            <a:avLst/>
          </a:prstGeom>
          <a:solidFill>
            <a:srgbClr val="1E3D6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16902" y="1856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6327648" y="2606040"/>
            <a:ext cx="23637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E3D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反应数量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382512" y="3200400"/>
            <a:ext cx="22539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30–60 岁：每语言 2700</a:t>
            </a:r>
            <a:endParaRPr lang="en-US" sz="1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61–70 岁：每语言 2430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819388" y="3218688"/>
            <a:ext cx="237744" cy="237744"/>
          </a:xfrm>
          <a:prstGeom prst="rightArrow">
            <a:avLst/>
          </a:prstGeom>
          <a:solidFill>
            <a:srgbClr val="2F6093"/>
          </a:solidFill>
          <a:ln/>
        </p:spPr>
      </p:sp>
      <p:sp>
        <p:nvSpPr>
          <p:cNvPr id="24" name="Shape 22"/>
          <p:cNvSpPr/>
          <p:nvPr/>
        </p:nvSpPr>
        <p:spPr>
          <a:xfrm>
            <a:off x="9075420" y="2148840"/>
            <a:ext cx="2583180" cy="2377440"/>
          </a:xfrm>
          <a:prstGeom prst="roundRect">
            <a:avLst>
              <a:gd name="adj" fmla="val 3846"/>
            </a:avLst>
          </a:prstGeom>
          <a:solidFill>
            <a:srgbClr val="E7EDF4"/>
          </a:solidFill>
          <a:ln w="15875">
            <a:solidFill>
              <a:srgbClr val="2F6093"/>
            </a:solidFill>
            <a:prstDash val="solid"/>
          </a:ln>
          <a:effectLst>
            <a:outerShdw sx="100000" sy="100000" kx="0" ky="0" algn="bl" rotWithShape="0" blurRad="63500" dist="25400" dir="5400000">
              <a:srgbClr val="BBBBBB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074402" y="1856232"/>
            <a:ext cx="585216" cy="585216"/>
          </a:xfrm>
          <a:prstGeom prst="ellipse">
            <a:avLst/>
          </a:prstGeom>
          <a:solidFill>
            <a:srgbClr val="1E3D6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074402" y="1856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9185148" y="2606040"/>
            <a:ext cx="23637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E3D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数据处理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9240012" y="3200400"/>
            <a:ext cx="22539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英：美式、拼写、词形还原</a:t>
            </a:r>
            <a:endParaRPr lang="en-US" sz="1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汉：按需删除形容词后的“的”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02920" y="48920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F60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※ </a:t>
            </a:r>
            <a:pPr algn="l"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两次任务采用相同刺激词顺序与作答要求，确保母语与二语网络可比。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2F60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3D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数据分析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F60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Cognitive Science (2026)   </a:t>
            </a:r>
            <a:pPr algn="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440680" cy="4663440"/>
          </a:xfrm>
          <a:prstGeom prst="roundRect">
            <a:avLst>
              <a:gd name="adj" fmla="val 1569"/>
            </a:avLst>
          </a:prstGeom>
          <a:solidFill>
            <a:srgbClr val="F1F5FA"/>
          </a:solidFill>
          <a:ln w="12700">
            <a:solidFill>
              <a:srgbClr val="E7EDF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728216"/>
            <a:ext cx="164592" cy="164592"/>
          </a:xfrm>
          <a:prstGeom prst="ellipse">
            <a:avLst/>
          </a:prstGeom>
          <a:solidFill>
            <a:srgbClr val="2F60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51560" y="1600200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3D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网络构建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2130552"/>
            <a:ext cx="4855464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采用反应词—反应词网络。</a:t>
            </a:r>
            <a:endParaRPr lang="en-US" sz="18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节点为独特反应词；同一刺激词下共同出现</a:t>
            </a:r>
            <a:endParaRPr lang="en-US" sz="18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的反应词形成边；边权表示词对</a:t>
            </a:r>
            <a:endParaRPr lang="en-US" sz="18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共同出现于不同刺激词下的次数。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17920" y="1417320"/>
            <a:ext cx="5468112" cy="4663440"/>
          </a:xfrm>
          <a:prstGeom prst="roundRect">
            <a:avLst>
              <a:gd name="adj" fmla="val 1569"/>
            </a:avLst>
          </a:prstGeom>
          <a:solidFill>
            <a:srgbClr val="F1F5FA"/>
          </a:solidFill>
          <a:ln w="12700">
            <a:solidFill>
              <a:srgbClr val="E7EDF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1728216"/>
            <a:ext cx="164592" cy="164592"/>
          </a:xfrm>
          <a:prstGeom prst="ellipse">
            <a:avLst/>
          </a:prstGeom>
          <a:solidFill>
            <a:srgbClr val="2F60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766560" y="1600200"/>
            <a:ext cx="4690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3D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指标与统计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510528" y="2130552"/>
            <a:ext cx="4882896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计算平均度〈k〉、平均最短路径 L、</a:t>
            </a:r>
            <a:endParaRPr lang="en-US" sz="18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聚类系数 C 和模块度 Q。</a:t>
            </a:r>
            <a:endParaRPr lang="en-US" sz="18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每个原始网络抽取 100 个含 1000 </a:t>
            </a:r>
            <a:endParaRPr lang="en-US" sz="18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节点的 BFS 子图以控制网络规模；</a:t>
            </a:r>
            <a:endParaRPr lang="en-US" sz="18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通过年龄组 × 语言分析</a:t>
            </a:r>
            <a:endParaRPr lang="en-US" sz="18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检验主效应和交互作用。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2F60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3D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研究结果（RQ1）年龄效应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F60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Cognitive Science (2026)   </a:t>
            </a:r>
            <a:pPr algn="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371600"/>
            <a:ext cx="5760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2F60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</a:t>
            </a:r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四项网络指标均存在显著年龄效应（均 </a:t>
            </a:r>
            <a:endParaRPr lang="en-US" sz="1500" dirty="0"/>
          </a:p>
          <a:p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 &lt; .001），变化并非线性下降。</a:t>
            </a:r>
            <a:endParaRPr lang="en-US" sz="1500" dirty="0"/>
          </a:p>
          <a:p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2F60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</a:t>
            </a:r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平均度在 41–50 岁达到峰值；</a:t>
            </a:r>
            <a:endParaRPr lang="en-US" sz="1500" dirty="0"/>
          </a:p>
          <a:p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平均最短路径在中年阶段较短，随后回升。</a:t>
            </a:r>
            <a:endParaRPr lang="en-US" sz="1500" dirty="0"/>
          </a:p>
          <a:p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2F60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</a:t>
            </a:r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聚类系数与模块度总体呈 U 形或阶段性波动，</a:t>
            </a:r>
            <a:endParaRPr lang="en-US" sz="1500" dirty="0"/>
          </a:p>
          <a:p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晚年母语网络模块度明显升高。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785616"/>
          <a:ext cx="57607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14400"/>
                <a:gridCol w="822960"/>
                <a:gridCol w="822960"/>
                <a:gridCol w="822960"/>
                <a:gridCol w="8229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6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语言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6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30–40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6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41–50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6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51–60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6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61–70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6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平均度〈k〉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母语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59.27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63.62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62.47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61.94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平均度〈k〉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二语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51.85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63.21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58.78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62.35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最短路径 L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母语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2.565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2.421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2.382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2.495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最短路径 L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二语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2.406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2.115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2.326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2.264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聚类系数 C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母语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.939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.930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.935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.945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聚类系数 C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二语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.916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.897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.917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.912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模块度 Q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母语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.746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.721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.692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.767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模块度 Q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二语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.686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.598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.718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.653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501384" y="1563624"/>
            <a:ext cx="2496312" cy="2496312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2F6093"/>
            </a:solidFill>
            <a:prstDash val="solid"/>
          </a:ln>
          <a:effectLst>
            <a:outerShdw sx="100000" sy="100000" kx="0" ky="0" algn="bl" rotWithShape="0" blurRad="63500" dist="25400" dir="5400000">
              <a:srgbClr val="AAAAAA">
                <a:alpha val="35000"/>
              </a:srgbClr>
            </a:outerShdw>
          </a:effectLst>
        </p:spPr>
      </p:sp>
      <p:pic>
        <p:nvPicPr>
          <p:cNvPr id="9" name="Image 0" descr="/tmp/claude-0/-home-user-NATIONAL-SS-Funding/d399dd62-2b1c-5986-baf9-d080933e5780/scratchpad/ppt-work/assets/net-30汉语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37960" y="1600200"/>
            <a:ext cx="2423160" cy="24231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537960" y="405993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3D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30–40 岁 · 汉语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9198864" y="1563624"/>
            <a:ext cx="2496312" cy="2496312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2F6093"/>
            </a:solidFill>
            <a:prstDash val="solid"/>
          </a:ln>
          <a:effectLst>
            <a:outerShdw sx="100000" sy="100000" kx="0" ky="0" algn="bl" rotWithShape="0" blurRad="63500" dist="25400" dir="5400000">
              <a:srgbClr val="AAAAAA">
                <a:alpha val="35000"/>
              </a:srgbClr>
            </a:outerShdw>
          </a:effectLst>
        </p:spPr>
      </p:sp>
      <p:pic>
        <p:nvPicPr>
          <p:cNvPr id="12" name="Image 1" descr="/tmp/claude-0/-home-user-NATIONAL-SS-Funding/d399dd62-2b1c-5986-baf9-d080933e5780/scratchpad/ppt-work/assets/net-60汉语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235440" y="1600200"/>
            <a:ext cx="2423160" cy="24231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235440" y="405993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3D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61–70 岁 · 汉语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6537960" y="448056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从中年到晚年，母语网络社群分块更清晰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——晚年模块度回升，呈现补偿性重组。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2F60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3D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研究结果（RQ2）跨语言差异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F60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Cognitive Science (2026)   </a:t>
            </a:r>
            <a:pPr algn="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371600"/>
            <a:ext cx="5760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2F60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</a:t>
            </a:r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语言主效应与年龄 × 语言交互作用在</a:t>
            </a:r>
            <a:endParaRPr lang="en-US" sz="1500" dirty="0"/>
          </a:p>
          <a:p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四项指标上均显著（均 p &lt; .001）。</a:t>
            </a:r>
            <a:endParaRPr lang="en-US" sz="1500" dirty="0"/>
          </a:p>
          <a:p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2F60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</a:t>
            </a:r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母语网络整体具有更高的聚类系数和模块度，</a:t>
            </a:r>
            <a:endParaRPr lang="en-US" sz="1500" dirty="0"/>
          </a:p>
          <a:p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连接结构更稳定、社群分隔更清晰。</a:t>
            </a:r>
            <a:endParaRPr lang="en-US" sz="1500" dirty="0"/>
          </a:p>
          <a:p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2F60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</a:t>
            </a:r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二语网络的年龄变化幅度更大，</a:t>
            </a:r>
            <a:endParaRPr lang="en-US" sz="1500" dirty="0"/>
          </a:p>
          <a:p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尤其体现在平均度和模块度的阶段性波动。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785616"/>
          <a:ext cx="5760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1188720"/>
                <a:gridCol w="14630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6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语言 ηp²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6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交互 ηp²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6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主要跨语言差异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6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平均度〈k〉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.802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.821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多数年龄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组母语更高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最短路径 L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.796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.814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多数年龄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组母语更长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聚类系数 C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.973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.702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四组均母语 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&gt; 二语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模块度 Q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.951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.820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四组均母语 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&gt; 二语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501384" y="1563624"/>
            <a:ext cx="2496312" cy="2496312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2F6093"/>
            </a:solidFill>
            <a:prstDash val="solid"/>
          </a:ln>
          <a:effectLst>
            <a:outerShdw sx="100000" sy="100000" kx="0" ky="0" algn="bl" rotWithShape="0" blurRad="63500" dist="25400" dir="5400000">
              <a:srgbClr val="AAAAAA">
                <a:alpha val="35000"/>
              </a:srgbClr>
            </a:outerShdw>
          </a:effectLst>
        </p:spPr>
      </p:sp>
      <p:pic>
        <p:nvPicPr>
          <p:cNvPr id="9" name="Image 0" descr="/tmp/claude-0/-home-user-NATIONAL-SS-Funding/d399dd62-2b1c-5986-baf9-d080933e5780/scratchpad/ppt-work/assets/net-60汉语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37960" y="1600200"/>
            <a:ext cx="2423160" cy="24231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537960" y="405993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3D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61–70 岁 · 汉语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9198864" y="1563624"/>
            <a:ext cx="2496312" cy="2496312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2F6093"/>
            </a:solidFill>
            <a:prstDash val="solid"/>
          </a:ln>
          <a:effectLst>
            <a:outerShdw sx="100000" sy="100000" kx="0" ky="0" algn="bl" rotWithShape="0" blurRad="63500" dist="25400" dir="5400000">
              <a:srgbClr val="AAAAAA">
                <a:alpha val="35000"/>
              </a:srgbClr>
            </a:outerShdw>
          </a:effectLst>
        </p:spPr>
      </p:sp>
      <p:pic>
        <p:nvPicPr>
          <p:cNvPr id="12" name="Image 1" descr="/tmp/claude-0/-home-user-NATIONAL-SS-Funding/d399dd62-2b1c-5986-baf9-d080933e5780/scratchpad/ppt-work/assets/net-60英语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235440" y="1600200"/>
            <a:ext cx="2423160" cy="24231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235440" y="405993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3D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61–70 岁 · 英语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6537960" y="448056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同一年龄组内，母语网络社群结构更清晰、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聚集更强；二语网络结构对年龄更敏感。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2F60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3D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F60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Cognitive Science (2026)   </a:t>
            </a:r>
            <a:pPr algn="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440680" cy="4663440"/>
          </a:xfrm>
          <a:prstGeom prst="roundRect">
            <a:avLst>
              <a:gd name="adj" fmla="val 1569"/>
            </a:avLst>
          </a:prstGeom>
          <a:solidFill>
            <a:srgbClr val="F1F5FA"/>
          </a:solidFill>
          <a:ln w="12700">
            <a:solidFill>
              <a:srgbClr val="E7EDF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728216"/>
            <a:ext cx="164592" cy="164592"/>
          </a:xfrm>
          <a:prstGeom prst="ellipse">
            <a:avLst/>
          </a:prstGeom>
          <a:solidFill>
            <a:srgbClr val="2F60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51560" y="1600200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3D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年龄轨迹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2130552"/>
            <a:ext cx="4855464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平均度的倒 U 形轨迹与生命周期研究的总</a:t>
            </a:r>
            <a:endParaRPr lang="en-US" sz="18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体趋势一致，但峰值延后至 41–50 岁；</a:t>
            </a:r>
            <a:endParaRPr lang="en-US" sz="18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样本持续使用英语且教育程度较高，</a:t>
            </a:r>
            <a:endParaRPr lang="en-US" sz="18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可能延长网络扩展期（Dubossarsky et </a:t>
            </a:r>
            <a:endParaRPr lang="en-US" sz="18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al., 2017；Jeong &amp; Hills, 2024）。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17920" y="1417320"/>
            <a:ext cx="5468112" cy="4663440"/>
          </a:xfrm>
          <a:prstGeom prst="roundRect">
            <a:avLst>
              <a:gd name="adj" fmla="val 1569"/>
            </a:avLst>
          </a:prstGeom>
          <a:solidFill>
            <a:srgbClr val="F1F5FA"/>
          </a:solidFill>
          <a:ln w="12700">
            <a:solidFill>
              <a:srgbClr val="E7EDF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1728216"/>
            <a:ext cx="164592" cy="164592"/>
          </a:xfrm>
          <a:prstGeom prst="ellipse">
            <a:avLst/>
          </a:prstGeom>
          <a:solidFill>
            <a:srgbClr val="2F60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766560" y="1600200"/>
            <a:ext cx="4690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3D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语言差异与晚年重组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510528" y="2130552"/>
            <a:ext cx="4882896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母语网络表现出更高的聚集和模块化，</a:t>
            </a:r>
            <a:endParaRPr lang="en-US" sz="18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反映更成熟的局部连接与社群结构。</a:t>
            </a:r>
            <a:endParaRPr lang="en-US" sz="18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61–70 岁组模块度升高，</a:t>
            </a:r>
            <a:endParaRPr lang="en-US" sz="18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可从补偿性重组视角理解，</a:t>
            </a:r>
            <a:endParaRPr lang="en-US" sz="18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即通过更分隔的子系统维持词汇加工（</a:t>
            </a:r>
            <a:endParaRPr lang="en-US" sz="18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Reuter-Lorenz &amp; Cappell, 2008；</a:t>
            </a:r>
            <a:endParaRPr lang="en-US" sz="18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Cosgrove et al., 2023）。</a:t>
            </a:r>
            <a:endParaRPr lang="en-US" sz="18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二语更明显的波动说明其结构</a:t>
            </a:r>
            <a:endParaRPr lang="en-US" sz="18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对语言经验和年龄变化更敏感。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2F60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3D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研究启示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F60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Cognitive Science (2026)   </a:t>
            </a:r>
            <a:pPr algn="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91672" cy="1475232"/>
          </a:xfrm>
          <a:prstGeom prst="roundRect">
            <a:avLst>
              <a:gd name="adj" fmla="val 6198"/>
            </a:avLst>
          </a:prstGeom>
          <a:solidFill>
            <a:srgbClr val="F1F5FA"/>
          </a:solidFill>
          <a:ln w="12700">
            <a:solidFill>
              <a:srgbClr val="E7EDF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1862328"/>
            <a:ext cx="585216" cy="585216"/>
          </a:xfrm>
          <a:prstGeom prst="ellipse">
            <a:avLst/>
          </a:prstGeom>
          <a:solidFill>
            <a:srgbClr val="2F60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186232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1847088" y="1417320"/>
            <a:ext cx="9473184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05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双语词汇老化具有明显的阶段性，中年并非简单过渡期，</a:t>
            </a:r>
            <a:endParaRPr lang="en-US" sz="20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205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而是连接度达峰、网络结构发生转折的重要阶段。</a:t>
            </a:r>
            <a:endParaRPr lang="en-US" sz="2050" dirty="0"/>
          </a:p>
        </p:txBody>
      </p:sp>
      <p:sp>
        <p:nvSpPr>
          <p:cNvPr id="10" name="Shape 8"/>
          <p:cNvSpPr/>
          <p:nvPr/>
        </p:nvSpPr>
        <p:spPr>
          <a:xfrm>
            <a:off x="548640" y="3148584"/>
            <a:ext cx="11091672" cy="1475232"/>
          </a:xfrm>
          <a:prstGeom prst="roundRect">
            <a:avLst>
              <a:gd name="adj" fmla="val 6198"/>
            </a:avLst>
          </a:prstGeom>
          <a:solidFill>
            <a:srgbClr val="F1F5FA"/>
          </a:solidFill>
          <a:ln w="12700">
            <a:solidFill>
              <a:srgbClr val="E7EDF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14400" y="3593592"/>
            <a:ext cx="585216" cy="585216"/>
          </a:xfrm>
          <a:prstGeom prst="ellipse">
            <a:avLst/>
          </a:prstGeom>
          <a:solidFill>
            <a:srgbClr val="2F60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3593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500" dirty="0"/>
          </a:p>
        </p:txBody>
      </p:sp>
      <p:sp>
        <p:nvSpPr>
          <p:cNvPr id="13" name="Text 11"/>
          <p:cNvSpPr txBox="1"/>
          <p:nvPr/>
        </p:nvSpPr>
        <p:spPr>
          <a:xfrm>
            <a:off x="1847088" y="3148584"/>
            <a:ext cx="9473184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05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持续的二语使用与高水平认知活动可能延缓</a:t>
            </a:r>
            <a:endParaRPr lang="en-US" sz="20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205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部分网络变化，并支持晚年阶段的结构重组。</a:t>
            </a:r>
            <a:endParaRPr lang="en-US" sz="2050" dirty="0"/>
          </a:p>
        </p:txBody>
      </p:sp>
      <p:sp>
        <p:nvSpPr>
          <p:cNvPr id="14" name="Shape 12"/>
          <p:cNvSpPr/>
          <p:nvPr/>
        </p:nvSpPr>
        <p:spPr>
          <a:xfrm>
            <a:off x="548640" y="4879848"/>
            <a:ext cx="11091672" cy="1475232"/>
          </a:xfrm>
          <a:prstGeom prst="roundRect">
            <a:avLst>
              <a:gd name="adj" fmla="val 6198"/>
            </a:avLst>
          </a:prstGeom>
          <a:solidFill>
            <a:srgbClr val="F1F5FA"/>
          </a:solidFill>
          <a:ln w="12700">
            <a:solidFill>
              <a:srgbClr val="E7EDF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5324856"/>
            <a:ext cx="585216" cy="585216"/>
          </a:xfrm>
          <a:prstGeom prst="ellipse">
            <a:avLst/>
          </a:prstGeom>
          <a:solidFill>
            <a:srgbClr val="2F60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532485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500" dirty="0"/>
          </a:p>
        </p:txBody>
      </p:sp>
      <p:sp>
        <p:nvSpPr>
          <p:cNvPr id="17" name="Text 15"/>
          <p:cNvSpPr txBox="1"/>
          <p:nvPr/>
        </p:nvSpPr>
        <p:spPr>
          <a:xfrm>
            <a:off x="1847088" y="4879848"/>
            <a:ext cx="9473184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05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研究双语老化需同时考察母语与二语，并区分网络规模、</a:t>
            </a:r>
            <a:endParaRPr lang="en-US" sz="20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205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全局效率、局部聚集和社群结构等不同维度。</a:t>
            </a:r>
            <a:endParaRPr lang="en-US" sz="2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2F60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3D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不足与展望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F60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Cognitive Science (2026)   </a:t>
            </a:r>
            <a:pPr algn="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91672" cy="1475232"/>
          </a:xfrm>
          <a:prstGeom prst="roundRect">
            <a:avLst>
              <a:gd name="adj" fmla="val 6198"/>
            </a:avLst>
          </a:prstGeom>
          <a:solidFill>
            <a:srgbClr val="F1F5FA"/>
          </a:solidFill>
          <a:ln w="12700">
            <a:solidFill>
              <a:srgbClr val="E7EDF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1862328"/>
            <a:ext cx="585216" cy="585216"/>
          </a:xfrm>
          <a:prstGeom prst="ellipse">
            <a:avLst/>
          </a:prstGeom>
          <a:solidFill>
            <a:srgbClr val="2F60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186232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1847088" y="1417320"/>
            <a:ext cx="9473184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05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采用群体层面的反应词—反应词网络，</a:t>
            </a:r>
            <a:endParaRPr lang="en-US" sz="20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205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尚不能直接揭示个体内部母语与二语网络的对应关系。</a:t>
            </a:r>
            <a:endParaRPr lang="en-US" sz="2050" dirty="0"/>
          </a:p>
        </p:txBody>
      </p:sp>
      <p:sp>
        <p:nvSpPr>
          <p:cNvPr id="10" name="Shape 8"/>
          <p:cNvSpPr/>
          <p:nvPr/>
        </p:nvSpPr>
        <p:spPr>
          <a:xfrm>
            <a:off x="548640" y="3148584"/>
            <a:ext cx="11091672" cy="1475232"/>
          </a:xfrm>
          <a:prstGeom prst="roundRect">
            <a:avLst>
              <a:gd name="adj" fmla="val 6198"/>
            </a:avLst>
          </a:prstGeom>
          <a:solidFill>
            <a:srgbClr val="F1F5FA"/>
          </a:solidFill>
          <a:ln w="12700">
            <a:solidFill>
              <a:srgbClr val="E7EDF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14400" y="3593592"/>
            <a:ext cx="585216" cy="585216"/>
          </a:xfrm>
          <a:prstGeom prst="ellipse">
            <a:avLst/>
          </a:prstGeom>
          <a:solidFill>
            <a:srgbClr val="2F60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3593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500" dirty="0"/>
          </a:p>
        </p:txBody>
      </p:sp>
      <p:sp>
        <p:nvSpPr>
          <p:cNvPr id="13" name="Text 11"/>
          <p:cNvSpPr txBox="1"/>
          <p:nvPr/>
        </p:nvSpPr>
        <p:spPr>
          <a:xfrm>
            <a:off x="1847088" y="3148584"/>
            <a:ext cx="9473184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05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样本为高教育水平、语言活动频繁的大学英语教师，</a:t>
            </a:r>
            <a:endParaRPr lang="en-US" sz="20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205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且 61–70 岁组人数较少，结论普适性仍需检验。</a:t>
            </a:r>
            <a:endParaRPr lang="en-US" sz="2050" dirty="0"/>
          </a:p>
        </p:txBody>
      </p:sp>
      <p:sp>
        <p:nvSpPr>
          <p:cNvPr id="14" name="Shape 12"/>
          <p:cNvSpPr/>
          <p:nvPr/>
        </p:nvSpPr>
        <p:spPr>
          <a:xfrm>
            <a:off x="548640" y="4879848"/>
            <a:ext cx="11091672" cy="1475232"/>
          </a:xfrm>
          <a:prstGeom prst="roundRect">
            <a:avLst>
              <a:gd name="adj" fmla="val 6198"/>
            </a:avLst>
          </a:prstGeom>
          <a:solidFill>
            <a:srgbClr val="F1F5FA"/>
          </a:solidFill>
          <a:ln w="12700">
            <a:solidFill>
              <a:srgbClr val="E7EDF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5324856"/>
            <a:ext cx="585216" cy="585216"/>
          </a:xfrm>
          <a:prstGeom prst="ellipse">
            <a:avLst/>
          </a:prstGeom>
          <a:solidFill>
            <a:srgbClr val="2F60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532485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500" dirty="0"/>
          </a:p>
        </p:txBody>
      </p:sp>
      <p:sp>
        <p:nvSpPr>
          <p:cNvPr id="17" name="Text 15"/>
          <p:cNvSpPr txBox="1"/>
          <p:nvPr/>
        </p:nvSpPr>
        <p:spPr>
          <a:xfrm>
            <a:off x="1847088" y="4879848"/>
            <a:ext cx="9473184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05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认知健康主要依据自我报告；后续可结合个体网络、</a:t>
            </a:r>
            <a:endParaRPr lang="en-US" sz="20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205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纵向追踪、标准化认知测评及其他网络构建方式。</a:t>
            </a:r>
            <a:endParaRPr lang="en-US" sz="2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2F60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3D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主要参考文献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F60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Cognitive Science (2026)   </a:t>
            </a:r>
            <a:pPr algn="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41732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Agustín-Llach, M. P., &amp; Palapanidi, K. (2024). Apples, tomatoes, and health: Comparison of structural characteristics of the L1 and L2 mental lexicons. Applied Psycholinguistics, 45(5), 1–24.</a:t>
            </a:r>
            <a:endParaRPr lang="en-US" sz="1350" dirty="0"/>
          </a:p>
          <a:p>
            <a:pPr algn="l"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Borodkin, K., Kenett, Y. N., Faust, M., &amp; Mashal, N. (2016). When pumpkin is closer to onion than to squash: The structure of the second language lexicon. Cognition, 156, 60–70.</a:t>
            </a:r>
            <a:endParaRPr lang="en-US" sz="1350" dirty="0"/>
          </a:p>
          <a:p>
            <a:pPr algn="l"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Cosgrove, A. L., Kenett, Y. N., Beaty, R. E., &amp; Diaz, M. T. (2021). Quantifying flexibility in thought: The resiliency of semantic networks differs across the lifespan. Cognition, 211, 104631.</a:t>
            </a:r>
            <a:endParaRPr lang="en-US" sz="1350" dirty="0"/>
          </a:p>
          <a:p>
            <a:pPr algn="l"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Cosgrove, A. L., Beaty, R. E., Diaz, M. T., &amp; Kenett, Y. N. (2023). Age differences in semantic network structure. Psychology and Aging, 38(2), 87–102.</a:t>
            </a:r>
            <a:endParaRPr lang="en-US" sz="1350" dirty="0"/>
          </a:p>
          <a:p>
            <a:pPr algn="l"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Dubossarsky, H., De Deyne, S., &amp; Hills, T. T. (2017). Quantifying the structure of free association networks across the life span. Developmental Psychology, 53(8), 1560–1570.</a:t>
            </a:r>
            <a:endParaRPr lang="en-US" sz="1350" dirty="0"/>
          </a:p>
          <a:p>
            <a:pPr algn="l"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Hills, T. T. (2025). Cognitive network enrichment, not degradation, explains the aging mental lexicon. Psychological Review, 133(2), 488–506.</a:t>
            </a:r>
            <a:endParaRPr lang="en-US" sz="1350" dirty="0"/>
          </a:p>
          <a:p>
            <a:pPr algn="l"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Reuter-Lorenz, P. A., &amp; Cappell, K. A. (2008). Neurocognitive aging and the compensation hypothesis. Current Directions in Psychological Science, 17(3), 177–182.</a:t>
            </a:r>
            <a:endParaRPr lang="en-US" sz="1350" dirty="0"/>
          </a:p>
          <a:p>
            <a:pPr algn="l"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Wulff, D., Hills, T., &amp; Mata, R. (2022). Structural differences in the semantic networks of younger and older adults. Scientific Reports, 12, 21459.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01768" y="1234440"/>
            <a:ext cx="2194560" cy="2194560"/>
          </a:xfrm>
          <a:prstGeom prst="ellipse">
            <a:avLst/>
          </a:prstGeom>
          <a:solidFill>
            <a:srgbClr val="F1F5FA"/>
          </a:solidFill>
          <a:ln/>
        </p:spPr>
      </p:sp>
      <p:pic>
        <p:nvPicPr>
          <p:cNvPr id="3" name="Image 0" descr="/tmp/claude-0/-home-user-NATIONAL-SS-Funding/d399dd62-2b1c-5986-baf9-d080933e5780/scratchpad/ppt-work/assets/logo-sud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7168" y="1463040"/>
            <a:ext cx="1737360" cy="17373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527048" y="3520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3D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2100" dirty="0"/>
          </a:p>
        </p:txBody>
      </p:sp>
      <p:sp>
        <p:nvSpPr>
          <p:cNvPr id="5" name="Text 2"/>
          <p:cNvSpPr txBox="1"/>
          <p:nvPr/>
        </p:nvSpPr>
        <p:spPr>
          <a:xfrm>
            <a:off x="1527048" y="3931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SOOCHOW UNIVERSITY · School of Foreign Languages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1527048" y="46177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E3D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    Thank You</a:t>
            </a:r>
            <a:endParaRPr lang="en-US" sz="4600" dirty="0"/>
          </a:p>
        </p:txBody>
      </p:sp>
      <p:sp>
        <p:nvSpPr>
          <p:cNvPr id="7" name="Text 4"/>
          <p:cNvSpPr txBox="1"/>
          <p:nvPr/>
        </p:nvSpPr>
        <p:spPr>
          <a:xfrm>
            <a:off x="1527048" y="5943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Cognitive Science 50 (2026) e70205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2026-10-24T07:25:25Z</dcterms:created>
  <dcterms:modified xsi:type="dcterms:W3CDTF">2026-10-24T07:25:25Z</dcterms:modified>
</cp:coreProperties>
</file>