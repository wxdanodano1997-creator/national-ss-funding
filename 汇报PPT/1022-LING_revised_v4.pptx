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E2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D982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484632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50" spc="100" kern="0" dirty="0">
                <a:solidFill>
                  <a:srgbClr val="C9CE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SOOCHOW UNIVERSITY · School of Foreign Languages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778240" y="292608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0" b="1" dirty="0">
                <a:solidFill>
                  <a:srgbClr val="A8481C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</a:t>
            </a:r>
            <a:endParaRPr lang="en-US" sz="2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'Did I repeat so many English words?': Stability of L1 and L2 Word Association Responses over Time and across Response Positions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Xin Wang · Ping Zhang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434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9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310 (2024) 103804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EB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DOI: 10.1016/j.lingua.2024.103804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59436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9BA3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资助项目：国家社会科学基金（23BYY178）；江苏高校哲学社会科学研究重大项目（2022SJZD126）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384048"/>
          </a:xfrm>
          <a:prstGeom prst="roundRect">
            <a:avLst>
              <a:gd name="adj" fmla="val 25000"/>
            </a:avLst>
          </a:prstGeom>
          <a:solidFill>
            <a:srgbClr val="D982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成果发表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8096" y="1316736"/>
            <a:ext cx="3588654" cy="4773168"/>
          </a:xfrm>
          <a:prstGeom prst="roundRect">
            <a:avLst>
              <a:gd name="adj" fmla="val 1019"/>
            </a:avLst>
          </a:prstGeom>
          <a:solidFill>
            <a:srgbClr val="FFFFFF"/>
          </a:solidFill>
          <a:ln w="15875">
            <a:solidFill>
              <a:srgbClr val="D9822B"/>
            </a:solidFill>
            <a:prstDash val="solid"/>
          </a:ln>
          <a:effectLst>
            <a:outerShdw sx="100000" sy="100000" kx="0" ky="0" algn="bl" rotWithShape="0" blurRad="101600" dist="38100" dir="5400000">
              <a:srgbClr val="999999">
                <a:alpha val="40000"/>
              </a:srgbClr>
            </a:outerShdw>
          </a:effectLst>
        </p:spPr>
      </p:sp>
      <p:pic>
        <p:nvPicPr>
          <p:cNvPr id="7" name="Image 0" descr="/tmp/claude-0/-home-user-NATIONAL-SS-Funding/d399dd62-2b1c-5986-baf9-d080933e5780/scratchpad/ppt-work/assets/trim-LING-first-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3478926" cy="46634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6163056"/>
            <a:ext cx="34789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论文首页 · Published article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941966" y="1463040"/>
            <a:ext cx="660964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4941966" y="2286000"/>
            <a:ext cx="66096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Elsevier · SSCI 期刊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941966" y="274320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7ECE3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941966" y="27432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SSCI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30686" y="2743200"/>
            <a:ext cx="1316736" cy="365760"/>
          </a:xfrm>
          <a:prstGeom prst="roundRect">
            <a:avLst>
              <a:gd name="adj" fmla="val 50000"/>
            </a:avLst>
          </a:prstGeom>
          <a:solidFill>
            <a:srgbClr val="F7ECE3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30686" y="27432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语言学 Q1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941966" y="3291840"/>
            <a:ext cx="66096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Volume 310 (2024) · Article 103804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941966" y="3886200"/>
            <a:ext cx="66096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核心发现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941966" y="4343400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941966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554614" y="4297680"/>
            <a:ext cx="59970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二语英语的联想稳定性显著高于母语汉语（d = .868）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4941966" y="5056632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941966" y="5056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554614" y="5010912"/>
            <a:ext cx="59970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联想稳定性具有跨语言的个体一致性（r = .636）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4941966" y="5769864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941966" y="5769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5554614" y="5724144"/>
            <a:ext cx="59970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反应位置效应显著，第一反应最稳定、后续反应更不稳定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384048"/>
          </a:xfrm>
          <a:prstGeom prst="roundRect">
            <a:avLst>
              <a:gd name="adj" fmla="val 25000"/>
            </a:avLst>
          </a:prstGeom>
          <a:solidFill>
            <a:srgbClr val="D982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40680" cy="4572000"/>
          </a:xfrm>
          <a:prstGeom prst="roundRect">
            <a:avLst>
              <a:gd name="adj" fmla="val 1600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1691640"/>
            <a:ext cx="146304" cy="146304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14984" y="158191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总体背景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39112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词汇联想任务（WAT）通过即时反应考察心理词汇的连接方式。既有研究主要比较母语与二语的反应类型、反应速度和联想常模，显示两种语言的词汇组织与提取存在差异（Fitzpatrick &amp; Izura, 2011；Fitzpatrick &amp; Thwaites, 2020）。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68112" cy="4572000"/>
          </a:xfrm>
          <a:prstGeom prst="roundRect">
            <a:avLst>
              <a:gd name="adj" fmla="val 1600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73952" y="1691640"/>
            <a:ext cx="146304" cy="146304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29984" y="1581912"/>
            <a:ext cx="4736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已有发现与证据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039112"/>
            <a:ext cx="491947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测试—重测研究表明，联想反应具有一定稳定性，但自由联想也会随时间和个体状态发生变化（Gekoski &amp; Riegel, 1966；Fitzpatrick et al., 2015）。二语学习者在重复测试中常只重复部分反应，说明联想稳定性可反映词汇表征的可及性与竞争程度（Fitzpatrick, 2012）。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384048"/>
          </a:xfrm>
          <a:prstGeom prst="roundRect">
            <a:avLst>
              <a:gd name="adj" fmla="val 25000"/>
            </a:avLst>
          </a:prstGeom>
          <a:solidFill>
            <a:srgbClr val="D982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现有研究不足之处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1691640"/>
            <a:ext cx="9994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既有联想稳定性研究多关注单一语言、常模或单个反应位置，对同一批双语者母语与二语的稳定性缺少直接比较。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3154680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35608" y="3108960"/>
            <a:ext cx="9994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母语与二语稳定性是否在参与者层面和刺激词层面呈现一致关系，尚未得到检验。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4572000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35608" y="4526280"/>
            <a:ext cx="9994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连续词汇联想任务常收集多个反应，但研究主要用其扩大数据量，对不同反应位置的稳定性变化关注不足（Nissen &amp; Henriksen, 2006；Schmitt, 1998）。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384048"/>
          </a:xfrm>
          <a:prstGeom prst="roundRect">
            <a:avLst>
              <a:gd name="adj" fmla="val 25000"/>
            </a:avLst>
          </a:prstGeom>
          <a:solidFill>
            <a:srgbClr val="D982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3413760" cy="3291840"/>
          </a:xfrm>
          <a:prstGeom prst="roundRect">
            <a:avLst>
              <a:gd name="adj" fmla="val 2778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706880" y="2057400"/>
            <a:ext cx="1005840" cy="1005840"/>
          </a:xfrm>
          <a:prstGeom prst="ellipse">
            <a:avLst/>
          </a:prstGeom>
          <a:solidFill>
            <a:srgbClr val="A8481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706880" y="2057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RQ1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91840"/>
            <a:ext cx="2865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母语汉语与二语英语的总体联想稳定性（AS）是否存在差异？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373880" y="1737360"/>
            <a:ext cx="3413760" cy="3291840"/>
          </a:xfrm>
          <a:prstGeom prst="roundRect">
            <a:avLst>
              <a:gd name="adj" fmla="val 2778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77840" y="2057400"/>
            <a:ext cx="1005840" cy="1005840"/>
          </a:xfrm>
          <a:prstGeom prst="ellipse">
            <a:avLst/>
          </a:prstGeom>
          <a:solidFill>
            <a:srgbClr val="A8481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577840" y="2057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RQ2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648200" y="3291840"/>
            <a:ext cx="2865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母语与二语的联想稳定性在参与者层面和刺激词层面是否相关？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244840" y="1737360"/>
            <a:ext cx="3413760" cy="3291840"/>
          </a:xfrm>
          <a:prstGeom prst="roundRect">
            <a:avLst>
              <a:gd name="adj" fmla="val 2778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48800" y="2057400"/>
            <a:ext cx="1005840" cy="1005840"/>
          </a:xfrm>
          <a:prstGeom prst="ellipse">
            <a:avLst/>
          </a:prstGeom>
          <a:solidFill>
            <a:srgbClr val="A848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448800" y="2057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RQ3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519160" y="3291840"/>
            <a:ext cx="2865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反应位置是否影响母语与二语的联想稳定性？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384048"/>
          </a:xfrm>
          <a:prstGeom prst="roundRect">
            <a:avLst>
              <a:gd name="adj" fmla="val 25000"/>
            </a:avLst>
          </a:prstGeom>
          <a:solidFill>
            <a:srgbClr val="D982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研究被试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00200"/>
          <a:ext cx="10698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95528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信息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招募与最终样本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招募 40 人；1 人退出，最终 39 人完成全部测试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年龄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 = 19.73，SD = 1.13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专业与英语水平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英语或英语教育专业；均通过大学英语四级考试（CET-4）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学习经历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平均英语学习年限 12.10 年；无海外学习经历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384048"/>
          </a:xfrm>
          <a:prstGeom prst="roundRect">
            <a:avLst>
              <a:gd name="adj" fmla="val 25000"/>
            </a:avLst>
          </a:prstGeom>
          <a:solidFill>
            <a:srgbClr val="D982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实验材料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</a:t>
            </a:r>
            <a:pPr algn="l" indent="0" marL="0">
              <a:buNone/>
            </a:pPr>
            <a:r>
              <a:rPr lang="en-US" sz="1500" i="1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两套材料用于比较相同概念在母语与二语中的联想稳定性。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965960"/>
          <a:ext cx="10698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97280"/>
                <a:gridCol w="5394960"/>
                <a:gridCol w="2103120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材料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词汇特征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示例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英语刺激词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高频词；名词、动词、形容词；具体词与抽象词；3–10 个字母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kitchen, smile, value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汉语刺激词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与英语词构成翻译对应关系，词性与具体性匹配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厨房、微笑、价值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384048"/>
          </a:xfrm>
          <a:prstGeom prst="roundRect">
            <a:avLst>
              <a:gd name="adj" fmla="val 25000"/>
            </a:avLst>
          </a:prstGeom>
          <a:solidFill>
            <a:srgbClr val="D982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实验任务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00200"/>
          <a:ext cx="10698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95528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任务要求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任务类型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在线连续词汇联想任务（continuous word association task）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刺激呈现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 个刺激词逐个呈现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作答方式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每个刺激词输入最先想到的 3 个同语种反应词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作答要求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不设时间限制，但要求尽快、自然作答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384048"/>
          </a:xfrm>
          <a:prstGeom prst="roundRect">
            <a:avLst>
              <a:gd name="adj" fmla="val 25000"/>
            </a:avLst>
          </a:prstGeom>
          <a:solidFill>
            <a:srgbClr val="D982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实验过程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2583180" cy="2286000"/>
          </a:xfrm>
          <a:prstGeom prst="roundRect">
            <a:avLst>
              <a:gd name="adj" fmla="val 4000"/>
            </a:avLst>
          </a:prstGeom>
          <a:solidFill>
            <a:srgbClr val="FBF4ED"/>
          </a:solidFill>
          <a:ln w="15875">
            <a:solidFill>
              <a:srgbClr val="D9822B"/>
            </a:solidFill>
            <a:prstDash val="solid"/>
          </a:ln>
          <a:effectLst>
            <a:outerShdw sx="100000" sy="100000" kx="0" ky="0" algn="bl" rotWithShape="0" blurRad="63500" dist="25400" dir="5400000">
              <a:srgbClr val="BBBBBB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20190" y="1828800"/>
            <a:ext cx="548640" cy="548640"/>
          </a:xfrm>
          <a:prstGeom prst="ellipse">
            <a:avLst/>
          </a:prstGeom>
          <a:solidFill>
            <a:srgbClr val="A8481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2019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2514600"/>
            <a:ext cx="2363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第一轮测试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3063240"/>
            <a:ext cx="2253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先完成汉语任务</a:t>
            </a:r>
            <a:endParaRPr lang="en-US" sz="130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周后完成英语任务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04388" y="3136392"/>
            <a:ext cx="237744" cy="219456"/>
          </a:xfrm>
          <a:prstGeom prst="rightArrow">
            <a:avLst/>
          </a:prstGeom>
          <a:solidFill>
            <a:srgbClr val="D9822B"/>
          </a:solidFill>
          <a:ln/>
        </p:spPr>
      </p:sp>
      <p:sp>
        <p:nvSpPr>
          <p:cNvPr id="12" name="Shape 10"/>
          <p:cNvSpPr/>
          <p:nvPr/>
        </p:nvSpPr>
        <p:spPr>
          <a:xfrm>
            <a:off x="3360420" y="2103120"/>
            <a:ext cx="2583180" cy="2286000"/>
          </a:xfrm>
          <a:prstGeom prst="roundRect">
            <a:avLst>
              <a:gd name="adj" fmla="val 4000"/>
            </a:avLst>
          </a:prstGeom>
          <a:solidFill>
            <a:srgbClr val="F7ECE3"/>
          </a:solidFill>
          <a:ln w="15875">
            <a:solidFill>
              <a:srgbClr val="D9822B"/>
            </a:solidFill>
            <a:prstDash val="solid"/>
          </a:ln>
          <a:effectLst>
            <a:outerShdw sx="100000" sy="100000" kx="0" ky="0" algn="bl" rotWithShape="0" blurRad="63500" dist="25400" dir="5400000">
              <a:srgbClr val="BBBBBB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77690" y="1828800"/>
            <a:ext cx="548640" cy="548640"/>
          </a:xfrm>
          <a:prstGeom prst="ellipse">
            <a:avLst/>
          </a:prstGeom>
          <a:solidFill>
            <a:srgbClr val="A8481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7769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470148" y="2514600"/>
            <a:ext cx="2363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第二轮测试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525012" y="3063240"/>
            <a:ext cx="2253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再间隔 1 周</a:t>
            </a:r>
            <a:endParaRPr lang="en-US" sz="130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按相同顺序完成汉语、英语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61888" y="3136392"/>
            <a:ext cx="237744" cy="219456"/>
          </a:xfrm>
          <a:prstGeom prst="rightArrow">
            <a:avLst/>
          </a:prstGeom>
          <a:solidFill>
            <a:srgbClr val="D9822B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2103120"/>
            <a:ext cx="2583180" cy="2286000"/>
          </a:xfrm>
          <a:prstGeom prst="roundRect">
            <a:avLst>
              <a:gd name="adj" fmla="val 4000"/>
            </a:avLst>
          </a:prstGeom>
          <a:solidFill>
            <a:srgbClr val="FBF4ED"/>
          </a:solidFill>
          <a:ln w="15875">
            <a:solidFill>
              <a:srgbClr val="D9822B"/>
            </a:solidFill>
            <a:prstDash val="solid"/>
          </a:ln>
          <a:effectLst>
            <a:outerShdw sx="100000" sy="100000" kx="0" ky="0" algn="bl" rotWithShape="0" blurRad="63500" dist="25400" dir="5400000">
              <a:srgbClr val="BBBBBB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235190" y="1828800"/>
            <a:ext cx="548640" cy="548640"/>
          </a:xfrm>
          <a:prstGeom prst="ellipse">
            <a:avLst/>
          </a:prstGeom>
          <a:solidFill>
            <a:srgbClr val="A8481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3519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327648" y="2514600"/>
            <a:ext cx="2363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测试—重测间隔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382512" y="3063240"/>
            <a:ext cx="2253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同一语言两次测试</a:t>
            </a:r>
            <a:endParaRPr lang="en-US" sz="130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间隔均为 2 周，顺序一致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819388" y="3136392"/>
            <a:ext cx="237744" cy="219456"/>
          </a:xfrm>
          <a:prstGeom prst="rightArrow">
            <a:avLst/>
          </a:prstGeom>
          <a:solidFill>
            <a:srgbClr val="D9822B"/>
          </a:solidFill>
          <a:ln/>
        </p:spPr>
      </p:sp>
      <p:sp>
        <p:nvSpPr>
          <p:cNvPr id="24" name="Shape 22"/>
          <p:cNvSpPr/>
          <p:nvPr/>
        </p:nvSpPr>
        <p:spPr>
          <a:xfrm>
            <a:off x="9075420" y="2103120"/>
            <a:ext cx="2583180" cy="2286000"/>
          </a:xfrm>
          <a:prstGeom prst="roundRect">
            <a:avLst>
              <a:gd name="adj" fmla="val 4000"/>
            </a:avLst>
          </a:prstGeom>
          <a:solidFill>
            <a:srgbClr val="F7ECE3"/>
          </a:solidFill>
          <a:ln w="15875">
            <a:solidFill>
              <a:srgbClr val="D9822B"/>
            </a:solidFill>
            <a:prstDash val="solid"/>
          </a:ln>
          <a:effectLst>
            <a:outerShdw sx="100000" sy="100000" kx="0" ky="0" algn="bl" rotWithShape="0" blurRad="63500" dist="25400" dir="5400000">
              <a:srgbClr val="BBBBBB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2690" y="1828800"/>
            <a:ext cx="548640" cy="548640"/>
          </a:xfrm>
          <a:prstGeom prst="ellipse">
            <a:avLst/>
          </a:prstGeom>
          <a:solidFill>
            <a:srgbClr val="A8481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09269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185148" y="2514600"/>
            <a:ext cx="2363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数据处理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240012" y="3063240"/>
            <a:ext cx="2253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拼写校正 + 词形还原</a:t>
            </a:r>
            <a:endParaRPr lang="en-US" sz="130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比较两次重复出现的反应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4709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※ </a:t>
            </a:r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参与者事先不知道还会进行第二轮测试，以减少刻意记忆和重复。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384048"/>
          </a:xfrm>
          <a:prstGeom prst="roundRect">
            <a:avLst>
              <a:gd name="adj" fmla="val 25000"/>
            </a:avLst>
          </a:prstGeom>
          <a:solidFill>
            <a:srgbClr val="D982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40680" cy="4572000"/>
          </a:xfrm>
          <a:prstGeom prst="roundRect">
            <a:avLst>
              <a:gd name="adj" fmla="val 1600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1691640"/>
            <a:ext cx="146304" cy="146304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14984" y="158191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核心指标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39112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联想稳定性（AS）定义为两次测试中重复反应数占总反应数的百分比。分别在参与者层面和刺激词层面计算总体 AS 与各反应位置的 AS。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68112" cy="4572000"/>
          </a:xfrm>
          <a:prstGeom prst="roundRect">
            <a:avLst>
              <a:gd name="adj" fmla="val 1600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73952" y="1691640"/>
            <a:ext cx="146304" cy="146304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29984" y="1581912"/>
            <a:ext cx="4736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统计方法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039112"/>
            <a:ext cx="491947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总体母语—二语差异采用独立样本 t 检验；跨语言相关采用 Pearson 相关。反应位置分析考察语言 × 位置效应：参与者层面使用双因素 Welch 方差分析，刺激词层面使用双因素方差分析，并进行 Tukey 事后比较。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384048"/>
          </a:xfrm>
          <a:prstGeom prst="roundRect">
            <a:avLst>
              <a:gd name="adj" fmla="val 25000"/>
            </a:avLst>
          </a:prstGeom>
          <a:solidFill>
            <a:srgbClr val="D982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研究结果（RQ1）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417320"/>
            <a:ext cx="11155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参与者层面，二语英语的总体联想稳定性显著高于母语汉语（差值 7.35 个百分点，p &lt; .01，d = .703）。</a:t>
            </a:r>
            <a:endParaRPr lang="en-US" sz="1600" dirty="0"/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刺激词层面，二语英语同样显著更高（差值 5.87 个百分点，p &lt; .001，d = .868）。</a:t>
            </a:r>
            <a:endParaRPr lang="en-US" sz="1600" dirty="0"/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两种分析单位结论一致：两周后英语反应的重复率高于汉语。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273552"/>
          <a:ext cx="75895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03120"/>
                <a:gridCol w="210312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分析单位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汉语 AS（M±SD）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英语 AS（M±SD）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检验结果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参与者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31.74% ± 10.46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39.09% ± 10.86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 &lt; .01；d = .703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刺激词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62.68% ± 6.76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68.55% ± 5.37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 &lt; .001；d = .868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595360" y="3273552"/>
            <a:ext cx="3063240" cy="1234440"/>
          </a:xfrm>
          <a:prstGeom prst="roundRect">
            <a:avLst>
              <a:gd name="adj" fmla="val 7407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595360" y="338328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= .868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686800" y="402336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刺激词层面效应量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595360" y="4736592"/>
            <a:ext cx="3063240" cy="1234440"/>
          </a:xfrm>
          <a:prstGeom prst="roundRect">
            <a:avLst>
              <a:gd name="adj" fmla="val 7407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595360" y="484632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+7.35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0" y="548640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参与者层面 AS 差值（百分点）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384048"/>
          </a:xfrm>
          <a:prstGeom prst="roundRect">
            <a:avLst>
              <a:gd name="adj" fmla="val 25000"/>
            </a:avLst>
          </a:prstGeom>
          <a:solidFill>
            <a:srgbClr val="D982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研究结果（RQ2）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417320"/>
            <a:ext cx="11155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参与者层面，母语与二语 AS 呈中等偏强正相关（r = .636，p &lt; .001）。</a:t>
            </a:r>
            <a:endParaRPr lang="en-US" sz="1600" dirty="0"/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刺激词层面，汉英翻译对应词的 AS 相关不显著（r = .155，p = .414）。</a:t>
            </a:r>
            <a:endParaRPr lang="en-US" sz="1600" dirty="0"/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联想稳定性具有跨语言的个体一致性，但具体刺激词不会在两种语言中表现出对应的稳定程度。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273552"/>
          <a:ext cx="75895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554480"/>
                <a:gridCol w="1280160"/>
                <a:gridCol w="2103120"/>
                <a:gridCol w="10058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分析单位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相关系数 r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95% CI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结论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参与者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.636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.001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[.400, .792]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显著正相关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刺激词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.155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.414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[-.218, .488]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不显著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595360" y="3273552"/>
            <a:ext cx="3063240" cy="1234440"/>
          </a:xfrm>
          <a:prstGeom prst="roundRect">
            <a:avLst>
              <a:gd name="adj" fmla="val 7407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595360" y="338328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 = .636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686800" y="402336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参与者层面跨语言相关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384048"/>
          </a:xfrm>
          <a:prstGeom prst="roundRect">
            <a:avLst>
              <a:gd name="adj" fmla="val 25000"/>
            </a:avLst>
          </a:prstGeom>
          <a:solidFill>
            <a:srgbClr val="D982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研究结果（RQ3）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417320"/>
            <a:ext cx="11155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母语与二语的 AS 均从第一反应位置到第三反应位置持续下降。</a:t>
            </a:r>
            <a:endParaRPr lang="en-US" sz="1600" dirty="0"/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位置主效应显著且效应量大：参与者层面 η² = .666，刺激词层面 η² = .625（均 p &lt; .001）。</a:t>
            </a:r>
            <a:endParaRPr lang="en-US" sz="1600" dirty="0"/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语言主效应与语言 × 位置交互均不显著，位置效应在两种语言中表现一致。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273552"/>
          <a:ext cx="75895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371600"/>
                <a:gridCol w="1554480"/>
                <a:gridCol w="155448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分析单位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语言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第一位置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第二位置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第三位置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参与者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汉语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33.50%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12.73%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6.67%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参与者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英语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38.72%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15.73%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8.46%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刺激词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汉语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64.96%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44.27%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31.37%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刺激词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英语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70.34%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52.74%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37.69%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595360" y="3273552"/>
            <a:ext cx="3063240" cy="1234440"/>
          </a:xfrm>
          <a:prstGeom prst="roundRect">
            <a:avLst>
              <a:gd name="adj" fmla="val 7407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595360" y="338328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η² = .666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686800" y="402336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位置主效应（参与者层面）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384048"/>
          </a:xfrm>
          <a:prstGeom prst="roundRect">
            <a:avLst>
              <a:gd name="adj" fmla="val 25000"/>
            </a:avLst>
          </a:prstGeom>
          <a:solidFill>
            <a:srgbClr val="D982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40680" cy="4572000"/>
          </a:xfrm>
          <a:prstGeom prst="roundRect">
            <a:avLst>
              <a:gd name="adj" fmla="val 1600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1691640"/>
            <a:ext cx="146304" cy="146304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14984" y="158191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二语联想稳定性更高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39112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较高的二语重复率可能与二语词汇网络规模较小、连接较少有关：可竞争的替代反应有限，优势表征更易在两次测试中被重复提取（Meara, 2009；Wilks &amp; Meara, 2002）。母语网络更丰富，同一刺激可激活更多近义或相关反应，重复率相对较低。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68112" cy="4572000"/>
          </a:xfrm>
          <a:prstGeom prst="roundRect">
            <a:avLst>
              <a:gd name="adj" fmla="val 1600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73952" y="1691640"/>
            <a:ext cx="146304" cy="146304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29984" y="1581912"/>
            <a:ext cx="4736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个体一致性与位置效应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039112"/>
            <a:ext cx="491947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参与者层面的跨语言相关说明，个体的词汇组织或作答策略在两种语言中具有一致性。AS 从第一到第三位置下降，符合扩散激活观点：激活从强连接逐步扩散至较弱、较个人化的连接，后续反应因而更不稳定（Collins &amp; Loftus, 1975）。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384048"/>
          </a:xfrm>
          <a:prstGeom prst="roundRect">
            <a:avLst>
              <a:gd name="adj" fmla="val 25000"/>
            </a:avLst>
          </a:prstGeom>
          <a:solidFill>
            <a:srgbClr val="D982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研究启示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1691640"/>
            <a:ext cx="9994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联想稳定性可作为观察词汇表征可及性与竞争程度的补充指标，但较高稳定性并不等同于更成熟或更丰富的词汇网络。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3154680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35608" y="3108960"/>
            <a:ext cx="9994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参与者层面与刺激词层面的结果不能相互替代：前者反映个体差异，后者反映群体常模的稳定程度。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4572000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35608" y="4526280"/>
            <a:ext cx="9994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连续词汇联想任务必须区分反应位置；第一反应最稳定，后续反应更易受到弱连接和个人经验影响。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384048"/>
          </a:xfrm>
          <a:prstGeom prst="roundRect">
            <a:avLst>
              <a:gd name="adj" fmla="val 25000"/>
            </a:avLst>
          </a:prstGeom>
          <a:solidFill>
            <a:srgbClr val="D982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不足与展望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1691640"/>
            <a:ext cx="9994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同一语言的测试—重测间隔仅为两周，其他时间间隔下的二语联想稳定性仍需验证。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3154680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35608" y="3108960"/>
            <a:ext cx="9994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材料均为高频刺激词，结果是否适用于低频词、专业词汇或不同词类仍不确定。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4572000"/>
            <a:ext cx="384048" cy="384048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35608" y="4526280"/>
            <a:ext cx="9994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未对稳定和不稳定反应的语义关系类型进行分类；后续可结合反应类型、词频、熟练度与网络指标开展纵向研究。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384048"/>
          </a:xfrm>
          <a:prstGeom prst="roundRect">
            <a:avLst>
              <a:gd name="adj" fmla="val 25000"/>
            </a:avLst>
          </a:prstGeom>
          <a:solidFill>
            <a:srgbClr val="D982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主要参考文献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82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41732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Collins, A. M., &amp; Loftus, E. F. (1975). A spreading-activation theory of semantic processing. Psychological Review, 82, 407.</a:t>
            </a:r>
            <a:endParaRPr lang="en-US" sz="12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Fitzpatrick, T. (2012). Tracking the changes: Vocabulary acquisition in the study abroad context. Language Learning Journal, 40, 81–98.</a:t>
            </a:r>
            <a:endParaRPr lang="en-US" sz="12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Fitzpatrick, T., &amp; Izura, C. (2011). Word association in L1 and L2. Studies in Second Language Acquisition, 33, 373–398.</a:t>
            </a:r>
            <a:endParaRPr lang="en-US" sz="12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Fitzpatrick, T., Playfoot, D., Wray, A., &amp; Wright, M. J. (2015). Establishing the reliability of word association data. Applied Linguistics, 36, 23–50.</a:t>
            </a:r>
            <a:endParaRPr lang="en-US" sz="12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Fitzpatrick, T., &amp; Thwaites, P. (2020). Word association research and the L2 lexicon. Language Teaching, 53, 237–274.</a:t>
            </a:r>
            <a:endParaRPr lang="en-US" sz="12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Gekoski, W. L., &amp; Riegel, K. F. (1966). A study of the one-week stability of the Michigan restricted association norms. Psychological Reports, 18, 397–398.</a:t>
            </a:r>
            <a:endParaRPr lang="en-US" sz="12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Meara, P. (2009). Connected Words: Word Associations and Second Language Vocabulary Acquisition. John Benjamins.</a:t>
            </a:r>
            <a:endParaRPr lang="en-US" sz="12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Nissen, H. B., &amp; Henriksen, B. (2006). Word class influence on word association test results. International Journal of Applied Linguistics, 16, 389–408.</a:t>
            </a:r>
            <a:endParaRPr lang="en-US" sz="12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Wilks, C., &amp; Meara, P. (2002). Untangling word webs. Second Language Research, 18, 303–324.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5E2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41848" y="1600200"/>
            <a:ext cx="914400" cy="914400"/>
          </a:xfrm>
          <a:prstGeom prst="ellipse">
            <a:avLst/>
          </a:prstGeom>
          <a:solidFill>
            <a:srgbClr val="D982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41848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527048" y="2697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527048" y="3108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AEB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SOOCHOW UNIVERSITY · School of Foreign Languages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527048" y="38404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   Thank You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1527048" y="5212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BA3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310 (2024) 103804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2026-10-23T08:00:26Z</dcterms:created>
  <dcterms:modified xsi:type="dcterms:W3CDTF">2026-10-23T08:00:26Z</dcterms:modified>
</cp:coreProperties>
</file>