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1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8A68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48463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C9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SOOCHOW UNIVERSITY · School of Foreign Languages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778240" y="292608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0" b="1" dirty="0">
                <a:solidFill>
                  <a:srgbClr val="5B3A7E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</a:t>
            </a:r>
            <a:endParaRPr lang="en-US" sz="2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Lexical Development in Bilingual Adolescents: A Study of Chinese–English Word Association Networks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Ping Zhang · Xin Wang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434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Journal of Child Language (2026), 1–25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EB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DOI: 10.1017/S0305000926100695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943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9BA3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资助项目：国家社会科学基金（23BYY178）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8A6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成果发表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8096" y="1316736"/>
            <a:ext cx="3322838" cy="4773168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5875">
            <a:solidFill>
              <a:srgbClr val="8A68B0"/>
            </a:solidFill>
            <a:prstDash val="solid"/>
          </a:ln>
          <a:effectLst>
            <a:outerShdw sx="100000" sy="100000" kx="0" ky="0" algn="bl" rotWithShape="0" blurRad="101600" dist="38100" dir="5400000">
              <a:srgbClr val="999999">
                <a:alpha val="40000"/>
              </a:srgbClr>
            </a:outerShdw>
          </a:effectLst>
        </p:spPr>
      </p:sp>
      <p:pic>
        <p:nvPicPr>
          <p:cNvPr id="7" name="Image 0" descr="/tmp/claude-0/-home-user-NATIONAL-SS-Funding/d399dd62-2b1c-5986-baf9-d080933e5780/scratchpad/ppt-work/assets/trim-JCL-first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3213110" cy="46634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6163056"/>
            <a:ext cx="32131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论文首页 · Published article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676150" y="1463040"/>
            <a:ext cx="687546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Journal of Child Language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4676150" y="2286000"/>
            <a:ext cx="68754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Cambridge University Press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76150" y="274320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EEEAF4"/>
          </a:solidFill>
          <a:ln w="12700">
            <a:solidFill>
              <a:srgbClr val="8A68B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76150" y="2743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SSCI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64870" y="2743200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EEEAF4"/>
          </a:solidFill>
          <a:ln w="12700">
            <a:solidFill>
              <a:srgbClr val="8A68B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64870" y="27432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Access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676150" y="3291840"/>
            <a:ext cx="6875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2026, 1–25 · 开放获取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676150" y="3886200"/>
            <a:ext cx="68754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676150" y="4343400"/>
            <a:ext cx="384048" cy="384048"/>
          </a:xfrm>
          <a:prstGeom prst="ellipse">
            <a:avLst/>
          </a:prstGeom>
          <a:solidFill>
            <a:srgbClr val="8A68B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7615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288798" y="4297680"/>
            <a:ext cx="626281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母语汉语网络趋于整合与共享，结构更趋稳定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4676150" y="5056632"/>
            <a:ext cx="384048" cy="384048"/>
          </a:xfrm>
          <a:prstGeom prst="ellipse">
            <a:avLst/>
          </a:prstGeom>
          <a:solidFill>
            <a:srgbClr val="8A68B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67615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288798" y="5010912"/>
            <a:ext cx="626281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二语英语网络持续扩展，并形成更清晰的局部结构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676150" y="5769864"/>
            <a:ext cx="384048" cy="384048"/>
          </a:xfrm>
          <a:prstGeom prst="ellipse">
            <a:avLst/>
          </a:prstGeom>
          <a:solidFill>
            <a:srgbClr val="8A68B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676150" y="5769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288798" y="5724144"/>
            <a:ext cx="626281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从初二到高二，母语与二语的全局网络差异明显缩小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8A6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691640"/>
            <a:ext cx="146304" cy="146304"/>
          </a:xfrm>
          <a:prstGeom prst="ellipse">
            <a:avLst/>
          </a:prstGeom>
          <a:solidFill>
            <a:srgbClr val="8A68B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14984" y="15819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总体背景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39112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青春期的词汇发展不仅表现为词汇量增加，也涉及词义关系、共享概念和词汇组织方式的持续重构，是从儿童词汇系统向成人词汇系统过渡的关键阶段（Nippold, 2002；Berman, 2007）。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572000"/>
          </a:xfrm>
          <a:prstGeom prst="roundRect">
            <a:avLst>
              <a:gd name="adj" fmla="val 1600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3952" y="1691640"/>
            <a:ext cx="146304" cy="146304"/>
          </a:xfrm>
          <a:prstGeom prst="ellipse">
            <a:avLst/>
          </a:prstGeom>
          <a:solidFill>
            <a:srgbClr val="8A68B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29984" y="1581912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已有发现与证据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039112"/>
            <a:ext cx="491947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网络研究表明，词汇发展伴随节点与连接的增长以及全局、局部结构的调整（Steyvers &amp; Tenenbaum, 2005）。大规模母语联想网络数据显示，14–18 岁期间平均度上升、平均最短路径和聚类系数下降，反映词汇网络趋于整合（Dubossarsky et al., 2017）。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8A6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现有研究不足之处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384048" cy="384048"/>
          </a:xfrm>
          <a:prstGeom prst="ellipse">
            <a:avLst/>
          </a:prstGeom>
          <a:solidFill>
            <a:srgbClr val="8A68B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169164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青春期词汇研究多关注词汇量、词汇知识深度和联想反应类型，对整个词汇网络结构的研究较少。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384048" cy="384048"/>
          </a:xfrm>
          <a:prstGeom prst="ellipse">
            <a:avLst/>
          </a:prstGeom>
          <a:solidFill>
            <a:srgbClr val="8A68B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35608" y="310896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二语词汇网络研究主要集中于成人学习者和不同熟练度群体（Borodkin et al., 2016；Li et al., 2021），青少年阶段的结构变化证据不足。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384048" cy="384048"/>
          </a:xfrm>
          <a:prstGeom prst="ellipse">
            <a:avLst/>
          </a:prstGeom>
          <a:solidFill>
            <a:srgbClr val="8A68B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452628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既有研究提示母语与二语联想差异可能随年级缩小（Henriksen, 2008；Namei, 2004），但两种语言的整体网络是否沿相同轨迹发展尚未检验。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8A6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413760" cy="3291840"/>
          </a:xfrm>
          <a:prstGeom prst="roundRect">
            <a:avLst>
              <a:gd name="adj" fmla="val 277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06880" y="2057400"/>
            <a:ext cx="1005840" cy="1005840"/>
          </a:xfrm>
          <a:prstGeom prst="ellipse">
            <a:avLst/>
          </a:prstGeom>
          <a:solidFill>
            <a:srgbClr val="5B3A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06880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RQ1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91840"/>
            <a:ext cx="2865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从初二到高二，母语汉语词汇联想网络的结构如何变化？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373880" y="1737360"/>
            <a:ext cx="3413760" cy="3291840"/>
          </a:xfrm>
          <a:prstGeom prst="roundRect">
            <a:avLst>
              <a:gd name="adj" fmla="val 277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2057400"/>
            <a:ext cx="1005840" cy="1005840"/>
          </a:xfrm>
          <a:prstGeom prst="ellipse">
            <a:avLst/>
          </a:prstGeom>
          <a:solidFill>
            <a:srgbClr val="5B3A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77840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RQ2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48200" y="3291840"/>
            <a:ext cx="2865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从初二到高二，二语英语词汇联想网络的结构如何变化？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44840" y="1737360"/>
            <a:ext cx="3413760" cy="3291840"/>
          </a:xfrm>
          <a:prstGeom prst="roundRect">
            <a:avLst>
              <a:gd name="adj" fmla="val 277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48800" y="2057400"/>
            <a:ext cx="1005840" cy="1005840"/>
          </a:xfrm>
          <a:prstGeom prst="ellipse">
            <a:avLst/>
          </a:prstGeom>
          <a:solidFill>
            <a:srgbClr val="5B3A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48800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RQ3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519160" y="3291840"/>
            <a:ext cx="2865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在初二和高二阶段，母语汉语与二语英语的网络结构有何差异？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8A6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研究被试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pPr algn="l" indent="0" marL="0">
              <a:buNone/>
            </a:pPr>
            <a:r>
              <a:rPr lang="en-US" sz="1500" i="1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最终样本共 88 人，来自江苏无锡同一所公立学校；事后效能分析 power = .913。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65960"/>
          <a:ext cx="10698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828800"/>
                <a:gridCol w="1645920"/>
                <a:gridCol w="448056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年龄范围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平均年龄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语言背景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13–14 岁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13.21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母语为普通话；小学三年级开始学习英语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16–17 岁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16.18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母语为普通话；小学三年级开始学习英语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8A6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实验材料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pPr algn="l" indent="0" marL="0">
              <a:buNone/>
            </a:pPr>
            <a:r>
              <a:rPr lang="en-US" sz="1500" i="1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高频刺激词保证两个年级的参与者均能理解并产生联想反应。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65960"/>
          <a:ext cx="10698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3931920"/>
                <a:gridCol w="356616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材料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选词依据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匹配与控制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英语刺激词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Nation 前 1000 词和 2000 词表中的高频词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名词、动词、形容词；具体性与词长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汉语刺激词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英语刺激词的翻译对应词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与英语词在词性和具体性上对应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8A6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实验任务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95528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任务要求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任务类型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纸笔连续词汇联想任务（continuous word association task）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作答数量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针对每个刺激词写出最先想到的 3 个词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作答限制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不得查词典，不得修改答案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测试环境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在常规课堂内集体完成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8A6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实验过程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2583180" cy="2286000"/>
          </a:xfrm>
          <a:prstGeom prst="roundRect">
            <a:avLst>
              <a:gd name="adj" fmla="val 4000"/>
            </a:avLst>
          </a:prstGeom>
          <a:solidFill>
            <a:srgbClr val="F5F2FA"/>
          </a:solidFill>
          <a:ln w="15875">
            <a:solidFill>
              <a:srgbClr val="8A68B0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20190" y="1828800"/>
            <a:ext cx="548640" cy="548640"/>
          </a:xfrm>
          <a:prstGeom prst="ellipse">
            <a:avLst/>
          </a:prstGeom>
          <a:solidFill>
            <a:srgbClr val="5B3A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2019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51460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实施时间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306324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年春季学期末</a:t>
            </a:r>
            <a:endParaRPr lang="en-US" sz="13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在常规课堂中实施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4388" y="3136392"/>
            <a:ext cx="237744" cy="219456"/>
          </a:xfrm>
          <a:prstGeom prst="rightArrow">
            <a:avLst/>
          </a:prstGeom>
          <a:solidFill>
            <a:srgbClr val="8A68B0"/>
          </a:solidFill>
          <a:ln/>
        </p:spPr>
      </p:sp>
      <p:sp>
        <p:nvSpPr>
          <p:cNvPr id="12" name="Shape 10"/>
          <p:cNvSpPr/>
          <p:nvPr/>
        </p:nvSpPr>
        <p:spPr>
          <a:xfrm>
            <a:off x="3360420" y="2103120"/>
            <a:ext cx="2583180" cy="2286000"/>
          </a:xfrm>
          <a:prstGeom prst="roundRect">
            <a:avLst>
              <a:gd name="adj" fmla="val 4000"/>
            </a:avLst>
          </a:prstGeom>
          <a:solidFill>
            <a:srgbClr val="EEEAF4"/>
          </a:solidFill>
          <a:ln w="15875">
            <a:solidFill>
              <a:srgbClr val="8A68B0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7690" y="1828800"/>
            <a:ext cx="548640" cy="548640"/>
          </a:xfrm>
          <a:prstGeom prst="ellipse">
            <a:avLst/>
          </a:prstGeom>
          <a:solidFill>
            <a:srgbClr val="5B3A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7769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470148" y="251460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作答顺序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25012" y="306324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先英语，两周后汉语</a:t>
            </a:r>
            <a:endParaRPr lang="en-US" sz="13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降低母语启动的影响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61888" y="3136392"/>
            <a:ext cx="237744" cy="219456"/>
          </a:xfrm>
          <a:prstGeom prst="rightArrow">
            <a:avLst/>
          </a:prstGeom>
          <a:solidFill>
            <a:srgbClr val="8A68B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2103120"/>
            <a:ext cx="2583180" cy="2286000"/>
          </a:xfrm>
          <a:prstGeom prst="roundRect">
            <a:avLst>
              <a:gd name="adj" fmla="val 4000"/>
            </a:avLst>
          </a:prstGeom>
          <a:solidFill>
            <a:srgbClr val="F5F2FA"/>
          </a:solidFill>
          <a:ln w="15875">
            <a:solidFill>
              <a:srgbClr val="8A68B0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35190" y="1828800"/>
            <a:ext cx="548640" cy="548640"/>
          </a:xfrm>
          <a:prstGeom prst="ellipse">
            <a:avLst/>
          </a:prstGeom>
          <a:solidFill>
            <a:srgbClr val="5B3A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3519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251460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有效反应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306324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初二：汉 3954 / 英 3925</a:t>
            </a:r>
            <a:endParaRPr lang="en-US" sz="13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高二：汉 3948 / 英 3957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819388" y="3136392"/>
            <a:ext cx="237744" cy="219456"/>
          </a:xfrm>
          <a:prstGeom prst="rightArrow">
            <a:avLst/>
          </a:prstGeom>
          <a:solidFill>
            <a:srgbClr val="8A68B0"/>
          </a:solidFill>
          <a:ln/>
        </p:spPr>
      </p:sp>
      <p:sp>
        <p:nvSpPr>
          <p:cNvPr id="24" name="Shape 22"/>
          <p:cNvSpPr/>
          <p:nvPr/>
        </p:nvSpPr>
        <p:spPr>
          <a:xfrm>
            <a:off x="9075420" y="2103120"/>
            <a:ext cx="2583180" cy="2286000"/>
          </a:xfrm>
          <a:prstGeom prst="roundRect">
            <a:avLst>
              <a:gd name="adj" fmla="val 4000"/>
            </a:avLst>
          </a:prstGeom>
          <a:solidFill>
            <a:srgbClr val="EEEAF4"/>
          </a:solidFill>
          <a:ln w="15875">
            <a:solidFill>
              <a:srgbClr val="8A68B0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2690" y="1828800"/>
            <a:ext cx="548640" cy="548640"/>
          </a:xfrm>
          <a:prstGeom prst="ellipse">
            <a:avLst/>
          </a:prstGeom>
          <a:solidFill>
            <a:srgbClr val="5B3A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9269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185148" y="251460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240012" y="306324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汉：同源词、形容词统一</a:t>
            </a:r>
            <a:endParaRPr lang="en-US" sz="13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英：拼写、美式、复数还原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</a:t>
            </a:r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两种语言采用相同刺激词与作答要求，确保跨语言网络可比。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8A6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691640"/>
            <a:ext cx="146304" cy="146304"/>
          </a:xfrm>
          <a:prstGeom prst="ellipse">
            <a:avLst/>
          </a:prstGeom>
          <a:solidFill>
            <a:srgbClr val="8A68B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14984" y="15819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网络构建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39112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构建反应词—反应词网络。同一刺激词下共同出现的反应词形成边；同一刺激词内重复词型去重，仅由一名参与者产生的反应被剔除。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572000"/>
          </a:xfrm>
          <a:prstGeom prst="roundRect">
            <a:avLst>
              <a:gd name="adj" fmla="val 1600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3952" y="1691640"/>
            <a:ext cx="146304" cy="146304"/>
          </a:xfrm>
          <a:prstGeom prst="ellipse">
            <a:avLst/>
          </a:prstGeom>
          <a:solidFill>
            <a:srgbClr val="8A68B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29984" y="1581912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指标与统计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039112"/>
            <a:ext cx="491947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计算节点数 n、边数 m、平均度〈k〉、密度 D、平均最短路径 ASPL、聚类系数 CC、模块度 Q 和小世界性 S。每个网络生成 100 个 200 节点的 BFS 子图；组内比较用独立样本 t 检验，年级 × 语言比较用 Scheirer–Ray–Hare 检验。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8A6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研究结果（RQ1）母语汉语网络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7160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母语汉语网络从初二到高二节点数和边数略降，但平均度与密度上升。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高二组的聚类系数和模块度显著降低，反应更趋共享、网络整合程度提高（均 p = .017）。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平均最短路径的年级差异不显著（p = .642），整体传递距离保持稳定。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675888"/>
          <a:ext cx="56692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汉语网络指标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年级差异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节点数 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略降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边数 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5240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5220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略降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平均度〈k〉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21.833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22.213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密度 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.046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.047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高二更高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最短路径 ASPL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2.842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2.892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不显著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聚类系数 CC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.928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.917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初二更高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模块度 Q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.750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.731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初二更高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5566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8A68B0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35000"/>
              </a:srgbClr>
            </a:outerShdw>
          </a:effectLst>
        </p:spPr>
      </p:sp>
      <p:pic>
        <p:nvPicPr>
          <p:cNvPr id="9" name="Image 0" descr="/tmp/claude-0/-home-user-NATIONAL-SS-Funding/d399dd62-2b1c-5986-baf9-d080933e5780/scratchpad/ppt-work/assets/net-初二汉语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1600200"/>
            <a:ext cx="2423160" cy="2423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92240" y="4050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 · 汉语网络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915314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8A68B0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35000"/>
              </a:srgbClr>
            </a:outerShdw>
          </a:effectLst>
        </p:spPr>
      </p:sp>
      <p:pic>
        <p:nvPicPr>
          <p:cNvPr id="12" name="Image 1" descr="/tmp/claude-0/-home-user-NATIONAL-SS-Funding/d399dd62-2b1c-5986-baf9-d080933e5780/scratchpad/ppt-work/assets/net-高二汉语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89720" y="1600200"/>
            <a:ext cx="2423160" cy="24231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89720" y="4050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 · 汉语网络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6492240" y="44348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社群数与模块度下降，颜色分块趋于融合——高二母语网络连接更密、反应更趋共享。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8A6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研究结果（RQ2）二语英语网络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7160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二语英语网络从初二到高二明显扩展：节点数与边数增加。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密度和平均度下降、平均最短路径增长，反映网络规模扩张带来的路径延伸。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聚类系数与模块度显著升高，新增词汇逐步形成更清晰的局部连接与社群结构（均 p &lt; .001）。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675888"/>
          <a:ext cx="56692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英语网络指标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年级变化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节点数 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边数 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4401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4809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平均度〈k〉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23.918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22.420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密度 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.065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.052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显著下降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最短路径 ASPL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2.331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2.656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显著增长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聚类系数 CC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.868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.906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显著升高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模块度 Q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.545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.693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显著升高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5566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8A68B0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35000"/>
              </a:srgbClr>
            </a:outerShdw>
          </a:effectLst>
        </p:spPr>
      </p:sp>
      <p:pic>
        <p:nvPicPr>
          <p:cNvPr id="9" name="Image 0" descr="/tmp/claude-0/-home-user-NATIONAL-SS-Funding/d399dd62-2b1c-5986-baf9-d080933e5780/scratchpad/ppt-work/assets/net-初二英语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1600200"/>
            <a:ext cx="2423160" cy="2423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92240" y="4050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 · 英语网络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915314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8A68B0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35000"/>
              </a:srgbClr>
            </a:outerShdw>
          </a:effectLst>
        </p:spPr>
      </p:sp>
      <p:pic>
        <p:nvPicPr>
          <p:cNvPr id="12" name="Image 1" descr="/tmp/claude-0/-home-user-NATIONAL-SS-Funding/d399dd62-2b1c-5986-baf9-d080933e5780/scratchpad/ppt-work/assets/net-高二英语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89720" y="1600200"/>
            <a:ext cx="2423160" cy="24231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89720" y="4050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 · 英语网络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6492240" y="44348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高二英语网络节点更多、社群边界更清晰——词汇量扩展伴随局部组织与语义社群的形成。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8A6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研究结果（RQ3）跨语言比较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11155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初二阶段四项核心结构指标均存在显著母语—二语差异。</a:t>
            </a:r>
            <a:endParaRPr lang="en-US" sz="16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到高二，密度与平均最短路径的跨语言差异不再显著，两种语言全局结构趋近。</a:t>
            </a:r>
            <a:endParaRPr lang="en-US" sz="16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高二阶段汉语的聚类系数与模块度仍高于英语，母语在局部聚集和社群结构上保持优势。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73552"/>
          <a:ext cx="10698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01168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指标（子图均值）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初二汉语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初二英语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高二汉语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高二英语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密度 D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.105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.116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.107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.107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最短路径 ASPL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2.308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2.063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2.317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2.297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聚类系数 CC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.925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.849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.921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.906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模块度 Q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.692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.517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.685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.654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8A6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691640"/>
            <a:ext cx="146304" cy="146304"/>
          </a:xfrm>
          <a:prstGeom prst="ellipse">
            <a:avLst/>
          </a:prstGeom>
          <a:solidFill>
            <a:srgbClr val="8A68B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14984" y="15819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母语网络：趋于整合与共享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39112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汉语网络平均度上升、聚类与模块度下降，与 14–18 岁母语网络连接增加、结构整合的趋势一致（Dubossarsky et al., 2017；Jeong &amp; Hills, 2024）。学校教育与共享知识可能推动反应趋同。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572000"/>
          </a:xfrm>
          <a:prstGeom prst="roundRect">
            <a:avLst>
              <a:gd name="adj" fmla="val 1600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3952" y="1691640"/>
            <a:ext cx="146304" cy="146304"/>
          </a:xfrm>
          <a:prstGeom prst="ellipse">
            <a:avLst/>
          </a:prstGeom>
          <a:solidFill>
            <a:srgbClr val="8A68B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29984" y="1581912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二语网络：扩展与重组同步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039112"/>
            <a:ext cx="491947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英语网络节点和边增加，同时聚类与模块度升高，说明词汇量扩展伴随局部组织和语义社群的形成（Meara &amp; Wolter, 2004）。跨语言差异在高二阶段缩小，与青少年双语词汇逐步趋近的发现一致（Henriksen, 2008；Namei, 2004）。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8A6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研究启示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384048" cy="384048"/>
          </a:xfrm>
          <a:prstGeom prst="ellipse">
            <a:avLst/>
          </a:prstGeom>
          <a:solidFill>
            <a:srgbClr val="8A68B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169164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青春期母语和二语词汇网络沿不同路径发展：母语进一步整合，二语持续扩展并形成更清晰的局部结构。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384048" cy="384048"/>
          </a:xfrm>
          <a:prstGeom prst="ellipse">
            <a:avLst/>
          </a:prstGeom>
          <a:solidFill>
            <a:srgbClr val="8A68B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35608" y="310896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判断二语词汇发展不能只看词汇量，还应同时考察连接效率、聚类和模块化等组织指标。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384048" cy="384048"/>
          </a:xfrm>
          <a:prstGeom prst="ellipse">
            <a:avLst/>
          </a:prstGeom>
          <a:solidFill>
            <a:srgbClr val="8A68B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452628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从初二到高二，母语与二语的全局网络差异明显缩小，学校阶段的持续输入和使用可能促进双语词汇系统趋近。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8A6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不足与展望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384048" cy="384048"/>
          </a:xfrm>
          <a:prstGeom prst="ellipse">
            <a:avLst/>
          </a:prstGeom>
          <a:solidFill>
            <a:srgbClr val="8A68B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169164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未进一步分析联想反应类型与反应趋同程度，网络变化所对应的具体语义关系仍需检验。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384048" cy="384048"/>
          </a:xfrm>
          <a:prstGeom prst="ellipse">
            <a:avLst/>
          </a:prstGeom>
          <a:solidFill>
            <a:srgbClr val="8A68B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35608" y="310896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反应词—反应词网络反映群体层面的共现结构，后续可结合刺激词—反应词网络与个体网络进行比较。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384048" cy="384048"/>
          </a:xfrm>
          <a:prstGeom prst="ellipse">
            <a:avLst/>
          </a:prstGeom>
          <a:solidFill>
            <a:srgbClr val="8A68B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452628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采用横断面设计且只进行一轮任务；未来可通过纵向追踪观察同一批青少年的母语和二语网络变化。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8A6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主要参考文献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6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173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Berman, R. A. (2007). Developing linguistic knowledge and language use across adolescence. In Blackwell handbook of language development (pp. 347–367).</a:t>
            </a:r>
            <a:endParaRPr lang="en-US" sz="12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Borodkin, K., Kenett, Y. N., Faust, M., &amp; Mashal, N. (2016). When pumpkin is closer to onion than to squash. Cognition, 156, 60–70.</a:t>
            </a:r>
            <a:endParaRPr lang="en-US" sz="12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Dubossarsky, H., De Deyne, S., &amp; Hills, T. T. (2017). Quantifying the structure of free association networks across the life span. Developmental Psychology, 53(8), 1560–1570.</a:t>
            </a:r>
            <a:endParaRPr lang="en-US" sz="12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Henriksen, B. (2008). Declarative lexical knowledge. In Vocabulary and writing in a first and second language (pp. 22–66).</a:t>
            </a:r>
            <a:endParaRPr lang="en-US" sz="12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Jeong, D., &amp; Hills, T. T. (2024). Age-related diversification and specialization in the mental lexicon. Cognitive Science, 48(11), e70008.</a:t>
            </a:r>
            <a:endParaRPr lang="en-US" sz="12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Meara, P., &amp; Wolter, B. (2004). V_Links: Beyond vocabulary depth. Angles on the English Speaking World, 4, 85–96.</a:t>
            </a:r>
            <a:endParaRPr lang="en-US" sz="12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Namei, S. (2004). Bilingual lexical development: A Persian–Swedish word association study. International Journal of Applied Linguistics, 14(3), 363–388.</a:t>
            </a:r>
            <a:endParaRPr lang="en-US" sz="12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Nippold, M. A. (2002). Lexical learning in school-age children, adolescents, and adults. Journal of Child Language, 29(2), 449–488.</a:t>
            </a:r>
            <a:endParaRPr lang="en-US" sz="12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Steyvers, M., &amp; Tenenbaum, J. B. (2005). The large-scale structure of semantic networks. Cognitive Science, 29(1), 41–78.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41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1848" y="1600200"/>
            <a:ext cx="914400" cy="914400"/>
          </a:xfrm>
          <a:prstGeom prst="ellipse">
            <a:avLst/>
          </a:prstGeom>
          <a:solidFill>
            <a:srgbClr val="8A68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41848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527048" y="2697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27048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AEB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SOOCHOW UNIVERSITY · School of Foreign Languages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527048" y="3840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  Thank You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5212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BA3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Journal of Child Language (2026), 1–25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2026-10-23T08:03:20Z</dcterms:created>
  <dcterms:modified xsi:type="dcterms:W3CDTF">2026-10-23T08:03:20Z</dcterms:modified>
</cp:coreProperties>
</file>