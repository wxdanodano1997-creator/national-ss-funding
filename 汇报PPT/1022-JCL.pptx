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c591d8faef44dc" /><Relationship Type="http://schemas.openxmlformats.org/officeDocument/2006/relationships/extended-properties" Target="/docProps/app.xml" Id="R841ab29f8c504b78" /><Relationship Type="http://schemas.openxmlformats.org/officeDocument/2006/relationships/officeDocument" Target="/ppt/presentation.xml" Id="Rf3356038cad4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4b2d19d9054b4b"/>
  </p:sldMasterIdLst>
  <p:notesMasterIdLst>
    <p:notesMasterId xmlns:r="http://schemas.openxmlformats.org/officeDocument/2006/relationships" r:id="R9107d1755066488b"/>
  </p:notesMasterIdLst>
  <p:sldIdLst>
    <p:sldId xmlns:r="http://schemas.openxmlformats.org/officeDocument/2006/relationships" id="256" r:id="R64e98becaef24d64"/>
    <p:sldId xmlns:r="http://schemas.openxmlformats.org/officeDocument/2006/relationships" id="257" r:id="Rc34ed4ad08bf4a8d"/>
    <p:sldId xmlns:r="http://schemas.openxmlformats.org/officeDocument/2006/relationships" id="258" r:id="Rdfa36bddc46f4e60"/>
    <p:sldId xmlns:r="http://schemas.openxmlformats.org/officeDocument/2006/relationships" id="259" r:id="Rca15633c5680425c"/>
    <p:sldId xmlns:r="http://schemas.openxmlformats.org/officeDocument/2006/relationships" id="260" r:id="R8226061cd62e4900"/>
    <p:sldId xmlns:r="http://schemas.openxmlformats.org/officeDocument/2006/relationships" id="261" r:id="Ra50b5d6a024647b2"/>
    <p:sldId xmlns:r="http://schemas.openxmlformats.org/officeDocument/2006/relationships" id="262" r:id="R7412629dd3a44a74"/>
    <p:sldId xmlns:r="http://schemas.openxmlformats.org/officeDocument/2006/relationships" id="263" r:id="Rdd80be6733134672"/>
    <p:sldId xmlns:r="http://schemas.openxmlformats.org/officeDocument/2006/relationships" id="264" r:id="Rc3d4d264dad14a61"/>
    <p:sldId xmlns:r="http://schemas.openxmlformats.org/officeDocument/2006/relationships" id="265" r:id="R5285efe582ce43ef"/>
    <p:sldId xmlns:r="http://schemas.openxmlformats.org/officeDocument/2006/relationships" id="266" r:id="Rece04f6fedac420a"/>
    <p:sldId xmlns:r="http://schemas.openxmlformats.org/officeDocument/2006/relationships" id="267" r:id="R21e775ea64f949b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ce858c26b64f13" /><Relationship Type="http://schemas.openxmlformats.org/officeDocument/2006/relationships/slideMaster" Target="/ppt/slideMasters/slideMaster1.xml" Id="Re94b2d19d9054b4b" /><Relationship Type="http://schemas.openxmlformats.org/officeDocument/2006/relationships/notesMaster" Target="/ppt/notesMasters/notesMaster1.xml" Id="R9107d1755066488b" /><Relationship Type="http://schemas.openxmlformats.org/officeDocument/2006/relationships/presProps" Target="/ppt/presProps.xml" Id="R8408cc0a1c044086" /><Relationship Type="http://schemas.openxmlformats.org/officeDocument/2006/relationships/tableStyles" Target="/ppt/tableStyles.xml" Id="R2ec20c8cfd704b0c" /><Relationship Type="http://schemas.openxmlformats.org/officeDocument/2006/relationships/slide" Target="/ppt/slides/slide1.xml" Id="R64e98becaef24d64" /><Relationship Type="http://schemas.openxmlformats.org/officeDocument/2006/relationships/slide" Target="/ppt/slides/slide2.xml" Id="Rc34ed4ad08bf4a8d" /><Relationship Type="http://schemas.openxmlformats.org/officeDocument/2006/relationships/slide" Target="/ppt/slides/slide3.xml" Id="Rdfa36bddc46f4e60" /><Relationship Type="http://schemas.openxmlformats.org/officeDocument/2006/relationships/slide" Target="/ppt/slides/slide4.xml" Id="Rca15633c5680425c" /><Relationship Type="http://schemas.openxmlformats.org/officeDocument/2006/relationships/slide" Target="/ppt/slides/slide5.xml" Id="R8226061cd62e4900" /><Relationship Type="http://schemas.openxmlformats.org/officeDocument/2006/relationships/slide" Target="/ppt/slides/slide6.xml" Id="Ra50b5d6a024647b2" /><Relationship Type="http://schemas.openxmlformats.org/officeDocument/2006/relationships/slide" Target="/ppt/slides/slide7.xml" Id="R7412629dd3a44a74" /><Relationship Type="http://schemas.openxmlformats.org/officeDocument/2006/relationships/slide" Target="/ppt/slides/slide8.xml" Id="Rdd80be6733134672" /><Relationship Type="http://schemas.openxmlformats.org/officeDocument/2006/relationships/slide" Target="/ppt/slides/slide9.xml" Id="Rc3d4d264dad14a61" /><Relationship Type="http://schemas.openxmlformats.org/officeDocument/2006/relationships/slide" Target="/ppt/slides/slide10.xml" Id="R5285efe582ce43ef" /><Relationship Type="http://schemas.openxmlformats.org/officeDocument/2006/relationships/slide" Target="/ppt/slides/slide11.xml" Id="Rece04f6fedac420a" /><Relationship Type="http://schemas.openxmlformats.org/officeDocument/2006/relationships/slide" Target="/ppt/slides/slide12.xml" Id="R21e775ea64f9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eba3087f0740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df7714588a4a7b" /><Relationship Type="http://schemas.openxmlformats.org/officeDocument/2006/relationships/notesMaster" Target="/ppt/notesMasters/notesMaster1.xml" Id="Rd77f7d65fa75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d678a9c28740ff" /><Relationship Type="http://schemas.openxmlformats.org/officeDocument/2006/relationships/notesMaster" Target="/ppt/notesMasters/notesMaster1.xml" Id="R0d43515934f1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7cf62493e493e" /><Relationship Type="http://schemas.openxmlformats.org/officeDocument/2006/relationships/notesMaster" Target="/ppt/notesMasters/notesMaster1.xml" Id="R5aee58ebb35741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80ee96f90e4b15" /><Relationship Type="http://schemas.openxmlformats.org/officeDocument/2006/relationships/notesMaster" Target="/ppt/notesMasters/notesMaster1.xml" Id="Rd19558768668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257bc868074794" /><Relationship Type="http://schemas.openxmlformats.org/officeDocument/2006/relationships/notesMaster" Target="/ppt/notesMasters/notesMaster1.xml" Id="R445cf4cc854b48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565b43f4d441b8" /><Relationship Type="http://schemas.openxmlformats.org/officeDocument/2006/relationships/notesMaster" Target="/ppt/notesMasters/notesMaster1.xml" Id="R7da07856460f4a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480cfa99246aa" /><Relationship Type="http://schemas.openxmlformats.org/officeDocument/2006/relationships/notesMaster" Target="/ppt/notesMasters/notesMaster1.xml" Id="Rf2d05656248542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83fb156314f9e" /><Relationship Type="http://schemas.openxmlformats.org/officeDocument/2006/relationships/notesMaster" Target="/ppt/notesMasters/notesMaster1.xml" Id="R9a0963eb4f544d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2aa88d0d88494a" /><Relationship Type="http://schemas.openxmlformats.org/officeDocument/2006/relationships/notesMaster" Target="/ppt/notesMasters/notesMaster1.xml" Id="R59243f7c8b7a46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e0709674c24d8d" /><Relationship Type="http://schemas.openxmlformats.org/officeDocument/2006/relationships/notesMaster" Target="/ppt/notesMasters/notesMaster1.xml" Id="R500cca0ffd1e42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0c281eb36c43a6" /><Relationship Type="http://schemas.openxmlformats.org/officeDocument/2006/relationships/notesMaster" Target="/ppt/notesMasters/notesMaster1.xml" Id="R32946ff443be44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fad0d3ffb74a3f" /><Relationship Type="http://schemas.openxmlformats.org/officeDocument/2006/relationships/notesMaster" Target="/ppt/notesMasters/notesMaster1.xml" Id="R7e67c43c3793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c01ac23144b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51d71139b48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a6fc23f304c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6076a283f41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80f8a812647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0a21eafce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0F693F-8B6A-43B6-9E2A-C339CB7AE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160D05-AD2C-415A-B11C-AB7B652839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0C7098-DC12-4B03-9E25-DBEC8F5DE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144E23-C4C6-43DE-9A55-625DA1697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1D0C2C-51BA-46D9-8712-61D1972051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DF54AE-296F-4F60-9BFB-6DFD47DCC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5A7D99-838A-4030-B840-73707BF453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1B14D4-CCF3-4DFE-9CE4-1994FA278D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780F83-860D-4BF9-BBF6-8C60551B5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C2DED-DBF8-4392-AFF4-BDF5827204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d17fc0232421f" /><Relationship Type="http://schemas.openxmlformats.org/officeDocument/2006/relationships/slideLayout" Target="/ppt/slideLayouts/slideLayout1.xml" Id="R1e8aa17baf30425f" /><Relationship Type="http://schemas.openxmlformats.org/officeDocument/2006/relationships/slideLayout" Target="/ppt/slideLayouts/slideLayout2.xml" Id="R5eec264c02664db2" /><Relationship Type="http://schemas.openxmlformats.org/officeDocument/2006/relationships/slideLayout" Target="/ppt/slideLayouts/slideLayout3.xml" Id="R941122bcf7754a85" /><Relationship Type="http://schemas.openxmlformats.org/officeDocument/2006/relationships/slideLayout" Target="/ppt/slideLayouts/slideLayout4.xml" Id="R6b88e86f93b04d4a" /><Relationship Type="http://schemas.openxmlformats.org/officeDocument/2006/relationships/slideLayout" Target="/ppt/slideLayouts/slideLayout5.xml" Id="Ra2049dbc0ea24807" /><Relationship Type="http://schemas.openxmlformats.org/officeDocument/2006/relationships/slideLayout" Target="/ppt/slideLayouts/slideLayout6.xml" Id="Rec87095d14a0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aa17baf30425f"/>
    <p:sldLayoutId xmlns:r="http://schemas.openxmlformats.org/officeDocument/2006/relationships" id="2147483650" r:id="R5eec264c02664db2"/>
    <p:sldLayoutId xmlns:r="http://schemas.openxmlformats.org/officeDocument/2006/relationships" id="2147483651" r:id="R941122bcf7754a85"/>
    <p:sldLayoutId xmlns:r="http://schemas.openxmlformats.org/officeDocument/2006/relationships" id="2147483652" r:id="R6b88e86f93b04d4a"/>
    <p:sldLayoutId xmlns:r="http://schemas.openxmlformats.org/officeDocument/2006/relationships" id="2147483653" r:id="Ra2049dbc0ea24807"/>
    <p:sldLayoutId xmlns:r="http://schemas.openxmlformats.org/officeDocument/2006/relationships" id="2147483654" r:id="Rec87095d14a0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a6f7835ea4aaa" /><Relationship Type="http://schemas.openxmlformats.org/officeDocument/2006/relationships/notesSlide" Target="/ppt/notesSlides/notesSlide1.xml" Id="R5c2d1ad5011f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65a85aa444fae" /><Relationship Type="http://schemas.openxmlformats.org/officeDocument/2006/relationships/notesSlide" Target="/ppt/notesSlides/notesSlide2.xml" Id="R7a1c1a3e0294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3a02be96a40f7" /><Relationship Type="http://schemas.openxmlformats.org/officeDocument/2006/relationships/notesSlide" Target="/ppt/notesSlides/notesSlide3.xml" Id="R84024663a685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c1e524c694826" /><Relationship Type="http://schemas.openxmlformats.org/officeDocument/2006/relationships/notesSlide" Target="/ppt/notesSlides/notesSlide4.xml" Id="Rc3f6a4bb42af42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2f57729d84812" /><Relationship Type="http://schemas.openxmlformats.org/officeDocument/2006/relationships/notesSlide" Target="/ppt/notesSlides/notesSlide5.xml" Id="R5c1c9c9da26e43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28b4853914a0d" /><Relationship Type="http://schemas.openxmlformats.org/officeDocument/2006/relationships/notesSlide" Target="/ppt/notesSlides/notesSlide6.xml" Id="Rc08c46746ba347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6d9303e0d4dba" /><Relationship Type="http://schemas.openxmlformats.org/officeDocument/2006/relationships/notesSlide" Target="/ppt/notesSlides/notesSlide7.xml" Id="R7af0a999606344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5f3a2f00f4ae6" /><Relationship Type="http://schemas.openxmlformats.org/officeDocument/2006/relationships/notesSlide" Target="/ppt/notesSlides/notesSlide8.xml" Id="R66984cce1d4441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5c60cdb5a41c0" /><Relationship Type="http://schemas.openxmlformats.org/officeDocument/2006/relationships/notesSlide" Target="/ppt/notesSlides/notesSlide9.xml" Id="R6d4e4aab918c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a9b7692794214" /><Relationship Type="http://schemas.openxmlformats.org/officeDocument/2006/relationships/notesSlide" Target="/ppt/notesSlides/notesSlide10.xml" Id="Rae2d34da127046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05ba2667e4495" /><Relationship Type="http://schemas.openxmlformats.org/officeDocument/2006/relationships/notesSlide" Target="/ppt/notesSlides/notesSlide11.xml" Id="Ref72d411968945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1c5798fa04de8" /><Relationship Type="http://schemas.openxmlformats.org/officeDocument/2006/relationships/notesSlide" Target="/ppt/notesSlides/notesSlide12.xml" Id="Rc9fb3f332c1141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A41F6-203E-4F3C-AF24-0D886507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C5EC0-2BB0-46E2-AB8D-E3C4E0D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ED432-7425-49B4-B2FA-002F68D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790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Lexical Development in Bilingual Adolescents: A Study of Chinese–English Word Association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7D08F-4712-421E-AC5C-68DD26CF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Ping Zhang · Xin Wang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EC52-40ED-4A3A-94D6-483F6464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Journal of Child Language (2026), 1–25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DOI: 10.1017/S0305000926100695</a:t>
            </a:r>
          </a:p>
        </p:txBody>
      </p:sp>
    </p:spTree>
    <p:extLst>
      <p:ext uri="{BB962C8B-B14F-4D97-AF65-F5344CB8AC3E}">
        <p14:creationId xmlns:p14="http://schemas.microsoft.com/office/powerpoint/2010/main" val="904485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FA497-90D9-476F-813D-D0735A77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C0A47-CB81-4FF7-9AE9-C3C774E9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E7979-37FF-4EAF-A8AF-AA7AAEB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研究背景与研究空白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0717E-1F2D-4727-9F48-C9A5407D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研究背景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青少年时期的词汇发展包括词汇量增长，也包括词汇关系的持续整合与重组。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词汇联想网络将反应词表示为节点、将联想共现表示为边，可以从整体结构观察词汇系统的规模、连接和语义社群。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6B7F8-A0C9-42D3-8813-A598FBA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924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研究空白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既有青少年词汇研究主要考察词汇量、词汇知识或联想反应类型，对心理词库整体网络结构的研究较少。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网络研究多集中于母语生命周期变化或成人二语学习者，青少年双语词汇网络的发展证据仍然缺乏。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同一年龄阶段中母语与二语是否遵循不同的发展轨迹，以及两种语言的结构差异是否随年级缩小，尚不清楚。</a:t>
            </a:r>
          </a:p>
        </p:txBody>
      </p:sp>
    </p:spTree>
    <p:extLst>
      <p:ext uri="{BB962C8B-B14F-4D97-AF65-F5344CB8AC3E}">
        <p14:creationId xmlns:p14="http://schemas.microsoft.com/office/powerpoint/2010/main" val="96985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4B0DC-3776-4ABB-9F24-51DC7323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733A1-6070-4383-8DB3-0467FC8B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FD0F4-FD12-405D-B8C2-3F63BFB0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02D18-39B8-407E-8C1E-85B09022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9248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40000"/>
              </a:lnSpc>
              <a:spcAft>
                <a:spcPts val="22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从初二到高二，母语汉语词汇联想网络的结构如何变化？</a:t>
            </a:r>
          </a:p>
          <a:p xmlns:a="http://schemas.openxmlformats.org/drawingml/2006/main">
            <a:pPr>
              <a:lnSpc>
                <a:spcPct val="140000"/>
              </a:lnSpc>
              <a:spcAft>
                <a:spcPts val="22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从初二到高二，二语英语词汇联想网络的结构如何变化？</a:t>
            </a:r>
          </a:p>
          <a:p xmlns:a="http://schemas.openxmlformats.org/drawingml/2006/main">
            <a:pPr>
              <a:lnSpc>
                <a:spcPct val="140000"/>
              </a:lnSpc>
              <a:spcAft>
                <a:spcPts val="22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在初二和高二两个阶段，母语汉语与二语英语的网络结构存在什么差异？</a:t>
            </a:r>
          </a:p>
        </p:txBody>
      </p:sp>
    </p:spTree>
    <p:extLst>
      <p:ext uri="{BB962C8B-B14F-4D97-AF65-F5344CB8AC3E}">
        <p14:creationId xmlns:p14="http://schemas.microsoft.com/office/powerpoint/2010/main" val="2047855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8D688-3859-4087-8B29-FF2C532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A7F33-84E0-4BEA-8C21-6474D21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41DF1-9AFC-4732-BFA6-05E1146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参与者与实验材料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0453-B6D0-4EA3-B8D4-10AD7FF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最终样本为88名学生，均来自江苏无锡同一所公立学校。初二组44人，年龄13–14岁（M = 13.21）；高二组44人，年龄16–17岁（M = 16.18）。所有参与者的母语均为普通话，并从小学三年级开始学习英语。事后功效分析得到 power = .913。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79D97-9BE4-455C-877C-996DF6E8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7924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实验材料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选取30个高频英语刺激词及其汉语翻译对应词。英语词来自Nation前1000词和2000词表，以保证两个年级均能理解并完成联想。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刺激词覆盖名词、动词和形容词，并控制具体性和词长。具体词与抽象词的具体性差异显著，词性之间的具体性以及各条件的词长不存在显著差异。</a:t>
            </a:r>
          </a:p>
        </p:txBody>
      </p:sp>
    </p:spTree>
    <p:extLst>
      <p:ext uri="{BB962C8B-B14F-4D97-AF65-F5344CB8AC3E}">
        <p14:creationId xmlns:p14="http://schemas.microsoft.com/office/powerpoint/2010/main" val="1451366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700C7-B56F-43EF-AE18-4E3DDC5C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215EE-D18B-450F-9A73-50220A25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59759-8977-4D23-AB89-D9DFE31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实验任务与数据整理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A7A9B-CC0B-4C74-8DA8-0670626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实验任务与过程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研究于2025年春季学期末实施。学生在常规课堂中使用纸笔测试册完成连续词汇联想任务，每个刺激词填写最先想到的3个词，不得查词典或修改答案。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英语任务先进行，汉语任务在两周后完成，以降低母语对二语任务的启动影响。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C4DFD-2B8A-4C5F-A354-DC03C14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792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有效数据与预处理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初二组获得汉语3954个、英语3925个有效反应；高二组获得汉语3948个、英语3957个有效反应。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汉语数据校正明显错误并统一形容词形式。英语数据校正拼写、统一为美式拼写，并将复数名词还原为单数。</a:t>
            </a:r>
          </a:p>
        </p:txBody>
      </p:sp>
    </p:spTree>
    <p:extLst>
      <p:ext uri="{BB962C8B-B14F-4D97-AF65-F5344CB8AC3E}">
        <p14:creationId xmlns:p14="http://schemas.microsoft.com/office/powerpoint/2010/main" val="1443324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B3A4F-7B73-441A-9054-294248A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147E1-9F62-4F12-92D5-CC9190C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A4F6B-C8E1-41B0-935D-8009C73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网络构建与数据分析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CDAAD-B136-4619-AF1A-5B2E83B2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网络构建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分别构建初二和高二的汉语、英语反应词—反应词网络（response–response network）。节点为反应词；同一刺激词下共同出现的反应词形成加权边。每个刺激词内按词型去重，并删除仅由一名参与者产生的反应。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85A88-4258-4E55-A713-256D53FD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9248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网络指标与统计分析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指标包括网络规模（n、m）、连接（k、D）、平均最短路径ASPL、聚类系数CC、模块度Q和小世界指数S。每个原始网络与100个同规模、同密度的Erdős–Rényi随机图比较。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每个网络抽取100个包含200个节点的广度优先搜索子图。年级内比较采用独立样本 t 检验，年级与语言效应采用Scheirer–Ray–Hare非参数检验。</a:t>
            </a:r>
          </a:p>
        </p:txBody>
      </p:sp>
    </p:spTree>
    <p:extLst>
      <p:ext uri="{BB962C8B-B14F-4D97-AF65-F5344CB8AC3E}">
        <p14:creationId xmlns:p14="http://schemas.microsoft.com/office/powerpoint/2010/main" val="121888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A3D6-CCCB-446D-A16B-81A00BE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375B0-BE40-4D1B-B1CB-9FF26B63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1A864-7E91-47AD-BA41-C87656D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主要结果：母语汉语网络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7EC53-6879-41F2-BE8B-6772997878DB}"/>
              </a:ext>
            </a:extLst>
          </p:cNvPr>
          <p:cNvGraphicFramePr/>
          <p:nvPr/>
        </p:nvGraphicFramePr>
        <p:xfrm>
          <a:off xmlns:a="http://schemas.openxmlformats.org/drawingml/2006/main" x="1466850" y="1066800"/>
          <a:ext xmlns:a="http://schemas.openxmlformats.org/drawingml/2006/main" cx="62103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771650"/>
                <a:gridCol w="1771650"/>
              </a:tblGrid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原始网络指标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节点数 n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480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470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边数 m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5,240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5,220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平均度 k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21.833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22.213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密度 D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.046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.047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平均最短路径 ASPL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2.842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2.892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聚类系数 CC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.928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.917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模块度 Q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.750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.731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6BD29-032F-431D-A7DA-105C7D03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3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3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子图比较：高二的密度更高（p &lt; .001）；ASPL差异不显著（p = .642）；初二的CC和Q更高（p = .017）。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91714-ABE7-48CB-A006-A1573308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汉语网络整体保持稳定，组内联想趋同性增强；两个年级均具小世界特征（S = 16.54、15.33）。</a:t>
            </a:r>
          </a:p>
        </p:txBody>
      </p:sp>
    </p:spTree>
    <p:extLst>
      <p:ext uri="{BB962C8B-B14F-4D97-AF65-F5344CB8AC3E}">
        <p14:creationId xmlns:p14="http://schemas.microsoft.com/office/powerpoint/2010/main" val="292542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397BC-1992-4BD0-90B9-9020C47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C75AA-614B-405E-B7EC-7815D6C7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B4EEF-A143-4EC7-91BF-341E15D6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主要结果：二语英语网络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AAD66-AE04-40A7-A017-707EF3EC9E94}"/>
              </a:ext>
            </a:extLst>
          </p:cNvPr>
          <p:cNvGraphicFramePr/>
          <p:nvPr/>
        </p:nvGraphicFramePr>
        <p:xfrm>
          <a:off xmlns:a="http://schemas.openxmlformats.org/drawingml/2006/main" x="1466850" y="1066800"/>
          <a:ext xmlns:a="http://schemas.openxmlformats.org/drawingml/2006/main" cx="62103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771650"/>
                <a:gridCol w="1771650"/>
              </a:tblGrid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原始网络指标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节点数 n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368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429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边数 m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4,401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4,809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平均度 k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23.918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22.420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密度 D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.065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.052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平均最短路径 ASPL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2.331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2.656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聚类系数 CC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.868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.906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模块度 Q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.545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.693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A9673-9A9D-4982-83D6-B93C2B5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92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3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38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高二英语网络规模扩大，ASPL、CC和Q上升，平均度与密度下降。子图分析的四项年级差异均 p &lt; .001。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F9C88-151C-49CD-A042-CA6B3041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英语网络继续扩张并发生社群重组；两个年级均具小世界特征（S = 12.16、14.61）。</a:t>
            </a:r>
          </a:p>
        </p:txBody>
      </p:sp>
    </p:spTree>
    <p:extLst>
      <p:ext uri="{BB962C8B-B14F-4D97-AF65-F5344CB8AC3E}">
        <p14:creationId xmlns:p14="http://schemas.microsoft.com/office/powerpoint/2010/main" val="1626695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C87E0-1DCD-4BF8-B9E4-A402340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4B00E-C696-4AC1-9747-6C57C4A5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67BC5-1B1D-48DC-894A-859335BA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主要结果：母语与二语差异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F4FD5-2D2B-4DC8-9424-99C152B0AECF}"/>
              </a:ext>
            </a:extLst>
          </p:cNvPr>
          <p:cNvGraphicFramePr/>
          <p:nvPr/>
        </p:nvGraphicFramePr>
        <p:xfrm>
          <a:off xmlns:a="http://schemas.openxmlformats.org/drawingml/2006/main" x="438150" y="1123950"/>
          <a:ext xmlns:a="http://schemas.openxmlformats.org/drawingml/2006/main" cx="8267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590675"/>
                <a:gridCol w="1590675"/>
                <a:gridCol w="1590675"/>
                <a:gridCol w="1590675"/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200节点子图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初二汉语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初二英语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高二汉语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高二英语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密度 D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.105 (.004)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.116 (.004)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.107 (.004)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.107 (.005)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平均最短路径 ASPL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2.308 (.122)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2.063 (.092)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2.317 (.157)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2.297 (.104)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聚类系数 CC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.925 (.013)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.849 (.010)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.921 (.008)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.906 (.009)</a:t>
                      </a:r>
                    </a:p>
                  </a:txBody>
                  <a:tcPr marL="57150" marR="57150" marT="38100" marB="38100" anchor="ctr">
                    <a:solidFill>
                      <a:srgbClr val="EAF2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模块度 Q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.692 (.021)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.517 (.027)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.685 (.023)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.654 (.029)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CA0D6-52B2-4DC1-9E61-A0ED2A72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792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初二：英语密度更高，汉语的ASPL、CC和Q更高，四项差异均显著（p &lt; .001）。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D986F-64CF-49DD-95D8-C9B676F0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高二：密度和ASPL差异不显著；汉语的CC和Q仍然更高，但两种语言的结构差距明显缩小。</a:t>
            </a:r>
          </a:p>
        </p:txBody>
      </p:sp>
    </p:spTree>
    <p:extLst>
      <p:ext uri="{BB962C8B-B14F-4D97-AF65-F5344CB8AC3E}">
        <p14:creationId xmlns:p14="http://schemas.microsoft.com/office/powerpoint/2010/main" val="351650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38A40-B95C-4C48-AD15-C6DE5B53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B859E-7588-4FC4-AE01-0F3A2CBE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412FE-34D6-46F4-B309-93CC6AE0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结果解释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FD101-24CC-40BF-90A6-9CBD84FF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母语稳定化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从初二到高二，汉语网络的独特反应词减少，平均度小幅上升，聚类系数和模块度下降。学校教育中的共享概念和规范化知识可能推动联想向高频、共同的语义关系集中。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E0754-56E6-4D25-BB53-EF2D48AC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92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二语扩张与跨语言接近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英语网络的节点和边明显增加，同时聚类系数和模块度上升。词汇量扩张伴随局部连接加强和语义社群重组，平均最短路径增长也与网络规模扩大有关。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汉语网络在初中阶段已接近稳定，英语网络仍处于快速发展期。二语结构变化幅度更大，因此母语与二语的差距到高二明显缩小。</a:t>
            </a:r>
          </a:p>
        </p:txBody>
      </p:sp>
    </p:spTree>
    <p:extLst>
      <p:ext uri="{BB962C8B-B14F-4D97-AF65-F5344CB8AC3E}">
        <p14:creationId xmlns:p14="http://schemas.microsoft.com/office/powerpoint/2010/main" val="998112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5807D-5BBF-4635-859E-700025C8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B7B89-99CA-4663-9A1B-FE32DC94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017DE-00FB-421F-84A0-A514F59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研究贡献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6B757-0C3A-4627-A25F-6D3C148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研究设计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研究聚焦13–17岁的双语青少年，在同一所学校、相同材料和任务条件下比较母语与二语网络，补充了青少年阶段长期缺少的发展证据。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反应词—反应词网络结合随机网络基线与固定规模子图抽样，同时呈现原始网络特征和可检验的年级、语言差异。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BCD6E-59A7-49FF-A1FC-E75ABD5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924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理论价值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研究显示母语和二语在青少年时期处于不同的发展阶段。母语主要表现为稳定与趋同，二语主要表现为扩张与重组；四个网络均保持小世界结构。</a:t>
            </a:r>
          </a:p>
        </p:txBody>
      </p:sp>
    </p:spTree>
    <p:extLst>
      <p:ext uri="{BB962C8B-B14F-4D97-AF65-F5344CB8AC3E}">
        <p14:creationId xmlns:p14="http://schemas.microsoft.com/office/powerpoint/2010/main" val="867169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1E7BE-79D9-411D-85DD-0E30FEB6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2E754-7DF9-45D5-BC1F-077A8EDD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2EBE9-5F47-4FD1-BF58-15CBDC8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结论与研究局限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CE88C-0958-451E-B7AC-171B4F02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主要结论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从初二到高二，汉语网络表现为联想趋同，聚类和模块化略降。英语网络规模扩大，聚类和模块化显著增强。母语仍保有规模和结构优势，两种语言的差距随年级缩小。四个网络均呈现小世界特征。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F5CDD-45EB-4346-9C0B-3645875E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研究局限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研究未同时分析联想反应类型与趋同性，尚不能判断不同发展维度是否同步变化。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研究仅采用反应词—反应词网络，后续可与刺激词—反应词和刺激词—刺激词网络进行比较。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横断面的单轮群体网络不能追踪个体长期变化。未来可通过多轮任务构建个体网络，结合语言经历和水平解释个体差异。</a:t>
            </a:r>
          </a:p>
        </p:txBody>
      </p:sp>
    </p:spTree>
    <p:extLst>
      <p:ext uri="{BB962C8B-B14F-4D97-AF65-F5344CB8AC3E}">
        <p14:creationId xmlns:p14="http://schemas.microsoft.com/office/powerpoint/2010/main" val="1559543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2026-10-10T17:17:58.1320000Z</dcterms:created>
  <dcterms:modified xsi:type="dcterms:W3CDTF">2026-10-10T17:17:58.1320000Z</dcterms:modified>
</coreProperties>
</file>