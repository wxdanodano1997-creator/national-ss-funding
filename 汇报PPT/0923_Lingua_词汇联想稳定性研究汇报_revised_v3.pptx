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3f27c3847c4856" /><Relationship Type="http://schemas.openxmlformats.org/officeDocument/2006/relationships/extended-properties" Target="/docProps/app.xml" Id="Radbd9c3adae345bd" /><Relationship Type="http://schemas.openxmlformats.org/officeDocument/2006/relationships/officeDocument" Target="/ppt/presentation.xml" Id="Re445368ec76241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36e6be37bd49bf"/>
  </p:sldMasterIdLst>
  <p:notesMasterIdLst>
    <p:notesMasterId xmlns:r="http://schemas.openxmlformats.org/officeDocument/2006/relationships" r:id="R40a6c30092a24df8"/>
  </p:notesMasterIdLst>
  <p:sldIdLst>
    <p:sldId xmlns:r="http://schemas.openxmlformats.org/officeDocument/2006/relationships" id="256" r:id="Rcdcf2ce981834dc2"/>
    <p:sldId xmlns:r="http://schemas.openxmlformats.org/officeDocument/2006/relationships" id="257" r:id="R697d90fda1f045e9"/>
    <p:sldId xmlns:r="http://schemas.openxmlformats.org/officeDocument/2006/relationships" id="258" r:id="R1c629f2beaa24ed4"/>
    <p:sldId xmlns:r="http://schemas.openxmlformats.org/officeDocument/2006/relationships" id="259" r:id="Rc20f193bb9d147f6"/>
    <p:sldId xmlns:r="http://schemas.openxmlformats.org/officeDocument/2006/relationships" id="260" r:id="Rb331c69ac200479f"/>
    <p:sldId xmlns:r="http://schemas.openxmlformats.org/officeDocument/2006/relationships" id="261" r:id="R55cea455db8549a7"/>
    <p:sldId xmlns:r="http://schemas.openxmlformats.org/officeDocument/2006/relationships" id="262" r:id="Rb7289fc4ddf34b11"/>
    <p:sldId xmlns:r="http://schemas.openxmlformats.org/officeDocument/2006/relationships" id="263" r:id="R3a65c12aa860478e"/>
    <p:sldId xmlns:r="http://schemas.openxmlformats.org/officeDocument/2006/relationships" id="264" r:id="R0d11221f5fa2489c"/>
    <p:sldId xmlns:r="http://schemas.openxmlformats.org/officeDocument/2006/relationships" id="265" r:id="R789524e3720948bd"/>
    <p:sldId xmlns:r="http://schemas.openxmlformats.org/officeDocument/2006/relationships" id="266" r:id="R593712a4d69843a2"/>
    <p:sldId xmlns:r="http://schemas.openxmlformats.org/officeDocument/2006/relationships" id="267" r:id="R4e24fa84a54c4acc"/>
    <p:sldId xmlns:r="http://schemas.openxmlformats.org/officeDocument/2006/relationships" id="268" r:id="Rff7067d19d7447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5845c5853745f6" /><Relationship Type="http://schemas.openxmlformats.org/officeDocument/2006/relationships/slideMaster" Target="/ppt/slideMasters/slideMaster1.xml" Id="R0236e6be37bd49bf" /><Relationship Type="http://schemas.openxmlformats.org/officeDocument/2006/relationships/notesMaster" Target="/ppt/notesMasters/notesMaster1.xml" Id="R40a6c30092a24df8" /><Relationship Type="http://schemas.openxmlformats.org/officeDocument/2006/relationships/presProps" Target="/ppt/presProps.xml" Id="R4d6b976def5f43c0" /><Relationship Type="http://schemas.openxmlformats.org/officeDocument/2006/relationships/viewProps" Target="/ppt/viewProps.xml" Id="Ra40e2ddb7e134c23" /><Relationship Type="http://schemas.openxmlformats.org/officeDocument/2006/relationships/tableStyles" Target="/ppt/tableStyles.xml" Id="R363887bfcd444e0e" /><Relationship Type="http://schemas.openxmlformats.org/officeDocument/2006/relationships/slide" Target="/ppt/slides/slide1.xml" Id="Rcdcf2ce981834dc2" /><Relationship Type="http://schemas.openxmlformats.org/officeDocument/2006/relationships/slide" Target="/ppt/slides/slide2.xml" Id="R697d90fda1f045e9" /><Relationship Type="http://schemas.openxmlformats.org/officeDocument/2006/relationships/slide" Target="/ppt/slides/slide3.xml" Id="R1c629f2beaa24ed4" /><Relationship Type="http://schemas.openxmlformats.org/officeDocument/2006/relationships/slide" Target="/ppt/slides/slide4.xml" Id="Rc20f193bb9d147f6" /><Relationship Type="http://schemas.openxmlformats.org/officeDocument/2006/relationships/slide" Target="/ppt/slides/slide5.xml" Id="Rb331c69ac200479f" /><Relationship Type="http://schemas.openxmlformats.org/officeDocument/2006/relationships/slide" Target="/ppt/slides/slide6.xml" Id="R55cea455db8549a7" /><Relationship Type="http://schemas.openxmlformats.org/officeDocument/2006/relationships/slide" Target="/ppt/slides/slide7.xml" Id="Rb7289fc4ddf34b11" /><Relationship Type="http://schemas.openxmlformats.org/officeDocument/2006/relationships/slide" Target="/ppt/slides/slide8.xml" Id="R3a65c12aa860478e" /><Relationship Type="http://schemas.openxmlformats.org/officeDocument/2006/relationships/slide" Target="/ppt/slides/slide9.xml" Id="R0d11221f5fa2489c" /><Relationship Type="http://schemas.openxmlformats.org/officeDocument/2006/relationships/slide" Target="/ppt/slides/slide10.xml" Id="R789524e3720948bd" /><Relationship Type="http://schemas.openxmlformats.org/officeDocument/2006/relationships/slide" Target="/ppt/slides/slide11.xml" Id="R593712a4d69843a2" /><Relationship Type="http://schemas.openxmlformats.org/officeDocument/2006/relationships/slide" Target="/ppt/slides/slide12.xml" Id="R4e24fa84a54c4acc" /><Relationship Type="http://schemas.openxmlformats.org/officeDocument/2006/relationships/slide" Target="/ppt/slides/slide13.xml" Id="Rff7067d19d7447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7a4b7f1b1e4b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b206089164415" /><Relationship Type="http://schemas.openxmlformats.org/officeDocument/2006/relationships/notesMaster" Target="/ppt/notesMasters/notesMaster1.xml" Id="Re5166db8304b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e2c7a0981549b7" /><Relationship Type="http://schemas.openxmlformats.org/officeDocument/2006/relationships/notesMaster" Target="/ppt/notesMasters/notesMaster1.xml" Id="Rda49c2c19cbb46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2e048903144f8f" /><Relationship Type="http://schemas.openxmlformats.org/officeDocument/2006/relationships/notesMaster" Target="/ppt/notesMasters/notesMaster1.xml" Id="R991a2f2d0a9e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408328102246ed" /><Relationship Type="http://schemas.openxmlformats.org/officeDocument/2006/relationships/notesMaster" Target="/ppt/notesMasters/notesMaster1.xml" Id="R57202505dbdc48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58bbc397ea4215" /><Relationship Type="http://schemas.openxmlformats.org/officeDocument/2006/relationships/notesMaster" Target="/ppt/notesMasters/notesMaster1.xml" Id="Ra51a1208ec5c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2870e853a54a2c" /><Relationship Type="http://schemas.openxmlformats.org/officeDocument/2006/relationships/notesMaster" Target="/ppt/notesMasters/notesMaster1.xml" Id="R2e2bb59d458547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4d38cc0c9d4844" /><Relationship Type="http://schemas.openxmlformats.org/officeDocument/2006/relationships/notesMaster" Target="/ppt/notesMasters/notesMaster1.xml" Id="R8ec7ea5de29143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a69c36392a4f75" /><Relationship Type="http://schemas.openxmlformats.org/officeDocument/2006/relationships/notesMaster" Target="/ppt/notesMasters/notesMaster1.xml" Id="Rd37c4f9b1ce842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24356ee20a405f" /><Relationship Type="http://schemas.openxmlformats.org/officeDocument/2006/relationships/notesMaster" Target="/ppt/notesMasters/notesMaster1.xml" Id="Ra48b15fa155a45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1a7264d1e24b7d" /><Relationship Type="http://schemas.openxmlformats.org/officeDocument/2006/relationships/notesMaster" Target="/ppt/notesMasters/notesMaster1.xml" Id="Rc270dff8f16643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6f5e81b16445d7" /><Relationship Type="http://schemas.openxmlformats.org/officeDocument/2006/relationships/notesMaster" Target="/ppt/notesMasters/notesMaster1.xml" Id="Rd9b8d530a1b641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09f2994bbf4c93" /><Relationship Type="http://schemas.openxmlformats.org/officeDocument/2006/relationships/notesMaster" Target="/ppt/notesMasters/notesMaster1.xml" Id="Ree0ccc6773c348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3f0b8b8a6a4a42" /><Relationship Type="http://schemas.openxmlformats.org/officeDocument/2006/relationships/notesMaster" Target="/ppt/notesMasters/notesMaster1.xml" Id="R6f7a365e127a43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0649d8e7a46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7c281fb3ae41c3" /><Relationship Type="http://schemas.openxmlformats.org/officeDocument/2006/relationships/slideLayout" Target="/ppt/slideLayouts/slideLayout1.xml" Id="R4802b91323924f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02b91323924f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4a91b95bb4c51" /><Relationship Type="http://schemas.openxmlformats.org/officeDocument/2006/relationships/notesSlide" Target="/ppt/notesSlides/notesSlide1.xml" Id="R8ae2955f50044d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bbfdf963b424a" /><Relationship Type="http://schemas.openxmlformats.org/officeDocument/2006/relationships/notesSlide" Target="/ppt/notesSlides/notesSlide2.xml" Id="Ra6ea046a06134c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6ebaa43334a75" /><Relationship Type="http://schemas.openxmlformats.org/officeDocument/2006/relationships/notesSlide" Target="/ppt/notesSlides/notesSlide3.xml" Id="R59f1f6678f8e4c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b4f0ad0f94ee3" /><Relationship Type="http://schemas.openxmlformats.org/officeDocument/2006/relationships/notesSlide" Target="/ppt/notesSlides/notesSlide4.xml" Id="R00c2894473d54d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4d97c2ebc48cb" /><Relationship Type="http://schemas.openxmlformats.org/officeDocument/2006/relationships/notesSlide" Target="/ppt/notesSlides/notesSlide5.xml" Id="R0fa3567733ca42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1967b1dba4cca" /><Relationship Type="http://schemas.openxmlformats.org/officeDocument/2006/relationships/notesSlide" Target="/ppt/notesSlides/notesSlide6.xml" Id="R6cd0618d3c3047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4f2a79854404d" /><Relationship Type="http://schemas.openxmlformats.org/officeDocument/2006/relationships/notesSlide" Target="/ppt/notesSlides/notesSlide7.xml" Id="R0d694a67204843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938c8dafb4fb8" /><Relationship Type="http://schemas.openxmlformats.org/officeDocument/2006/relationships/chart" Target="/ppt/slides/charts/chart1.xml" Id="R2b84546315ab4709" /><Relationship Type="http://schemas.openxmlformats.org/officeDocument/2006/relationships/notesSlide" Target="/ppt/notesSlides/notesSlide8.xml" Id="Rd8cf817ea4db44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7cc4e685747dc" /><Relationship Type="http://schemas.openxmlformats.org/officeDocument/2006/relationships/notesSlide" Target="/ppt/notesSlides/notesSlide9.xml" Id="R71163b0b424c43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89bfd44db485c" /><Relationship Type="http://schemas.openxmlformats.org/officeDocument/2006/relationships/chart" Target="/ppt/slides/charts/chart2.xml" Id="R43ea7102e5bb4180" /><Relationship Type="http://schemas.openxmlformats.org/officeDocument/2006/relationships/notesSlide" Target="/ppt/notesSlides/notesSlide10.xml" Id="R1fa0e05f33ea44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5f8964bc74357" /><Relationship Type="http://schemas.openxmlformats.org/officeDocument/2006/relationships/notesSlide" Target="/ppt/notesSlides/notesSlide11.xml" Id="R8438f38d5a1b40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031c1cd6e4ae1" /><Relationship Type="http://schemas.openxmlformats.org/officeDocument/2006/relationships/notesSlide" Target="/ppt/notesSlides/notesSlide12.xml" Id="R58e38d27a5674a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2b7799de34e47" /><Relationship Type="http://schemas.openxmlformats.org/officeDocument/2006/relationships/notesSlide" Target="/ppt/notesSlides/notesSlide13.xml" Id="R4e7c11723b5d4b6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L1 汉语</c:v>
          </c:tx>
          <c:spPr>
            <a:solidFill xmlns:a="http://schemas.openxmlformats.org/drawingml/2006/main">
              <a:srgbClr val="2A5B7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按学习者</c:v>
                </c:pt>
                <c:pt idx="1">
                  <c:v>按刺激词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31.74</c:v>
                </c:pt>
                <c:pt idx="1">
                  <c:v>62.68</c:v>
                </c:pt>
              </c:numCache>
            </c:numRef>
          </c:val>
        </c:ser>
        <c:ser>
          <c:idx val="1"/>
          <c:order val="1"/>
          <c:tx>
            <c:v>L2 英语</c:v>
          </c:tx>
          <c:spPr>
            <a:solidFill xmlns:a="http://schemas.openxmlformats.org/drawingml/2006/main">
              <a:srgbClr val="C17845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按学习者</c:v>
                </c:pt>
                <c:pt idx="1">
                  <c:v>按刺激词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39.09</c:v>
                </c:pt>
                <c:pt idx="1">
                  <c:v>68.55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L1 汉语</c:v>
          </c:tx>
          <c:spPr>
            <a:ln xmlns:a="http://schemas.openxmlformats.org/drawingml/2006/main" w="28575">
              <a:solidFill>
                <a:srgbClr val="2A5B78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A5B78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反应 1</c:v>
                </c:pt>
                <c:pt idx="1">
                  <c:v>反应 2</c:v>
                </c:pt>
                <c:pt idx="2">
                  <c:v>反应 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33.5</c:v>
                </c:pt>
                <c:pt idx="1">
                  <c:v>12.73</c:v>
                </c:pt>
                <c:pt idx="2">
                  <c:v>6.67</c:v>
                </c:pt>
              </c:numCache>
            </c:numRef>
          </c:val>
          <c:smooth val="1"/>
        </c:ser>
        <c:ser>
          <c:idx val="1"/>
          <c:order val="1"/>
          <c:tx>
            <c:v>L2 英语</c:v>
          </c:tx>
          <c:spPr>
            <a:ln xmlns:a="http://schemas.openxmlformats.org/drawingml/2006/main" w="28575">
              <a:solidFill>
                <a:srgbClr val="C17845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C17845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反应 1</c:v>
                </c:pt>
                <c:pt idx="1">
                  <c:v>反应 2</c:v>
                </c:pt>
                <c:pt idx="2">
                  <c:v>反应 3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38.72</c:v>
                </c:pt>
                <c:pt idx="1">
                  <c:v>15.73</c:v>
                </c:pt>
                <c:pt idx="2">
                  <c:v>8.46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3CB7D4-5E8E-494F-AD4B-E3F975E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F43B4DF-F035-4B14-A04F-C5A42B2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71599"/>
            <a:ext cx="10362644" cy="197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“我重复了这么多英语词吗？”：L1和L2词汇联想反应在不同时间及反应位置上的稳定性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9D7FECA-8035-441B-B236-6235CCC3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DB6FAA-5543-4AA1-AB42-F450FDE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4735"/>
            <a:ext cx="5018314" cy="53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Xin Wang · Ping Zhang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AC98C-1F2A-4189-BEBE-F8C8047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6542314" cy="422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Lingua 310 (2024) 103804</a:t>
            </a: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DOI 10.1016/j.lingua.2024.103804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DC405-A457-4A7D-8681-14179D2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B723F-EBAF-41A8-AEE9-3CD412B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National Social Science Fund of China (23BYY178)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A42E5-61FB-4B09-9ACF-15EE57F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Major Program Fund of Jiangsu Education Department (2022SJZD126)</a:t>
            </a:r>
          </a:p>
        </p:txBody>
      </p:sp>
    </p:spTree>
    <p:extLst>
      <p:ext uri="{BB962C8B-B14F-4D97-AF65-F5344CB8AC3E}">
        <p14:creationId xmlns:p14="http://schemas.microsoft.com/office/powerpoint/2010/main" val="1788157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B7C34-C6FD-407B-B08A-0724088B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9E765C-440B-4A29-8C59-82633A6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汇报内容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9C57E24-F39A-4CC4-9645-261828B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588FDF0-8554-4E4C-AC52-B8F924F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A73601C-2491-429D-9952-F382A41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3FF4F2A-5B23-4484-A0A3-4718BB3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5E26E9-1297-497A-A264-F8EFF41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1D49EBF-3E14-4E4E-8D44-9B5A39E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2F647A1D-DB82-45C9-A1B3-726D182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569BA4-A148-4164-93D6-C725E2C2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1BC809D-50F5-4D93-8CB6-114EC71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0F08158-AFD1-47CF-8ACE-AE5089C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A162656-DA17-46F4-8FA9-6B1DFC6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4248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F12E822-816B-4B09-B3F1-856EB317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4D0A663-D9F3-4E44-9A67-20B1DBC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575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1580B-2E46-4E38-9887-07EFDDF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0679F-0ECD-4F6B-A1ED-AD07BE1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88232-9534-4EF8-9567-047D20D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研究背景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9D737-1823-4517-B8D5-4C7DF9D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574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研究背景与研究问题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F8B8B-0681-4122-9C88-3E88F89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3EE86-BA28-4464-97C5-3FCBAAA0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4213E-2710-43C2-ABDD-AE8151A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研究设计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72B8B-14F5-497C-9954-4B80D7B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参与者与材料、实验流程、指标与分析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D5169-AB1D-4535-B4C4-F4B4A57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C7DE4-A167-4A58-AB08-3EE22FE1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61946-F2AB-4E3B-A07E-2D0DE67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90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主要结果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2FE48-A969-4877-A933-6FA97A0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整体差异、跨语言一致性与反应位置效应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E650B-2F53-4F44-86DF-B7359AA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F3682-4A4F-4632-9DBD-25F171C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7C0EF-6BE9-4BA9-AB90-DB6B0E78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讨论与结论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7AF24-B739-472B-BD77-372349AC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结果解释、研究贡献、局限与结论</a:t>
            </a:r>
          </a:p>
        </p:txBody>
      </p:sp>
    </p:spTree>
    <p:extLst>
      <p:ext uri="{BB962C8B-B14F-4D97-AF65-F5344CB8AC3E}">
        <p14:creationId xmlns:p14="http://schemas.microsoft.com/office/powerpoint/2010/main" val="436412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BD5022-AABC-4D5F-A46F-D53F10B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2576DA-310B-432A-A3FA-E0C81C09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研究背景与研究空白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9F45281-8080-4B00-9359-19A5C14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7AA38E2-3C90-494F-8DD5-90C65730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19274A-A7C0-465C-B1D1-755EB65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定义（Definition）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7A41497-31AE-4F3A-B943-57030B2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Associative stability (AS)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FC124C-79E1-4BA8-BDCB-E9573D3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248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同一学习者在不同时间面对同一刺激词时，重复产生相同反应词的程度。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06E776A-AC8F-48A3-89FE-EF6C0FCF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本研究以两次测试之间的反应重复率（repetition rate）衡量 associative stability。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645813-4E41-4895-9565-677EFAB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研究空白（Research Gap）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59BA60A-10EC-4682-BD12-D157FEA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F099DA2-08AA-45F2-B985-C155C8B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的整体联想稳定性（associative stability）是否不同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3CD270C4-25CB-4F5D-B75C-F5C897E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7529E0-2819-4C8D-A2C9-7539E34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 L1 与 L2 中的联想稳定性是否一致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A868AFA-B59D-4348-8CDF-89FA623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E6914A5-D8CC-4462-9D3E-571BFDF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连续词汇联想任务（continuous WAT）的反应位置效应（response-position effect）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2595616-3718-491D-84CF-96235FE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研究聚焦同一联想反应跨时间再次出现的概率。</a:t>
            </a:r>
          </a:p>
        </p:txBody>
      </p:sp>
    </p:spTree>
    <p:extLst>
      <p:ext uri="{BB962C8B-B14F-4D97-AF65-F5344CB8AC3E}">
        <p14:creationId xmlns:p14="http://schemas.microsoft.com/office/powerpoint/2010/main" val="1247854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41A8C-8A48-47C3-8A2A-F20F5AC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213A3F-EE5A-4115-894E-461E06D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  <a:endParaRPr sz="2850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9913482-D929-4B77-B346-D878DB2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8116FEF-EC63-40D0-B103-D1DDBA3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3B75D-8A43-4D0D-82FA-4447329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E129F1-5F3B-4623-AACA-0E3CF57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的整体联想稳定性（associative stability）是否存在差异？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112D6C-1DD9-4A25-A5E1-872E036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9875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017A04-A5BC-48B8-9AA2-FC2E29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F88155-59AE-46DE-A86B-95288EC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C544AA5-C5D1-487E-B70D-4080B44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575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按学习者与按刺激词计算时，L1 与 L2 的稳定性是否相关？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D151D334-096C-4C9E-9BCA-6C7D221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479C95E-5EEC-43A4-80C1-A5C1B1E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900090-ED51-48DB-BEC2-974F189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BC9B7B-6BCB-49E8-AE21-42B8D0C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第一、第二、第三个反应位置的联想稳定性是否不同？</a:t>
            </a:r>
          </a:p>
        </p:txBody>
      </p:sp>
    </p:spTree>
    <p:extLst>
      <p:ext uri="{BB962C8B-B14F-4D97-AF65-F5344CB8AC3E}">
        <p14:creationId xmlns:p14="http://schemas.microsoft.com/office/powerpoint/2010/main" val="1618371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4507B8-3EA5-4D00-8EE2-60C0A4E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AC45661-D1C6-4322-8DBB-B030DF7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参与者与实验材料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0A1AD52-CD53-424E-8FB3-CFC19EB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ACF1B3C-0709-433D-A27A-C4F1204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4FF415-ADA7-49AD-8CBE-6DE0441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3EF0FF-1800-468B-B8C1-9051D02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1BAE94-3B2F-4C11-BC7D-2E8A0A6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初始样本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5294B0FA-78D1-43CD-B207-CC4191A0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1B8BBE-3C01-4C32-8179-9D1F582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有效样本  N = 39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3364F-807D-4B19-B6FD-DF5BBDA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来自 3 所高校的本科生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英语或英语教育专业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均通过大学英语四级（CET-4）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平均年龄 19.73 岁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158528AB-A259-41FB-9248-698BC56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086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87738A7-2C82-430C-A850-1FB8E50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实验材料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8B5461F-23DE-4938-A7A3-974B5C6D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515DA17-F994-4092-848C-0031364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汉英翻译对等刺激词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466461-7182-455E-B024-F2DF93A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词频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F4002-EAA6-404C-A987-F7BB626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词类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AB54FAC-CE00-46E4-9EA8-51AC529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具体性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708085E-627D-451D-973B-C3D83D2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名词、动词、形容词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78E36B9-7426-4206-9D68-FB086E2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具体词与抽象词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111F8-4391-465C-963B-895042E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768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示例：kitchen / 厨房，smile / 微笑，value / 价值</a:t>
            </a:r>
          </a:p>
        </p:txBody>
      </p:sp>
    </p:spTree>
    <p:extLst>
      <p:ext uri="{BB962C8B-B14F-4D97-AF65-F5344CB8AC3E}">
        <p14:creationId xmlns:p14="http://schemas.microsoft.com/office/powerpoint/2010/main" val="2134837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5EBAB9-B4B9-4542-B8C7-7369E38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AAB59B0-1C69-4BE8-8E6C-ED24D38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实验过程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253A86-0704-4EE3-AE67-2F60588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每种语言测试两次，两次间隔为两周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3A1CE3C-1906-4A4A-AF77-8DB50AB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E870174E-D690-4785-8FD9-C5E9C05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82870EB1-DF6A-4FC1-8BD3-F4B2D91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0AA9D2-7330-4A6A-BE50-BD2954F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D57FAD-75C3-4320-9366-641093A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 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57160-4E89-4B12-B02B-3172CB4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一种语言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8C0C960-C2BB-4F2E-925C-551D7AA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E5EA205-B1F1-4DC0-8848-7693908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BE63A1-22E3-4B9E-A1B9-6AAD337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 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FF2226F-B245-4EA6-B408-59F3824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另一种语言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913442D2-5068-4102-8789-7F652D4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13C8ACE-6DE7-4ACB-AB30-9684E5D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EEF491F-ACB1-43A0-98BD-9BAE91F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重测 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B81532E-469D-4327-B6EA-BD20B4B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与测试 1 相同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9EADA70C-42D0-437D-B239-2B08249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568B45-7ABA-4B91-ABC9-A74B18A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840E341-678D-4D00-880C-4CAF1DB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重测 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14EA7E1-66A9-4C01-A3B7-CD27BFD4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与测试 2 相同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EF35D30E-AA9A-45DB-A4D3-CD0AD60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0DE9D88-317C-4E68-B684-66A03A0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每次测试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14EA942-F2EA-4155-8F8B-4D7C113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 个刺激词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5B6CEC5-6F54-4860-AA3A-28E7788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每个刺激词产出 3 个联想反应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1AD26E7-7F0F-4FF3-99D2-73C4712F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不设时限，尽快作答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987B3BD-93E1-48F9-9BB4-96D4993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重测的时间、刺激词顺序和说明保持一致；参与者事先不知道会再次完成同一测试。</a:t>
            </a:r>
          </a:p>
        </p:txBody>
      </p:sp>
    </p:spTree>
    <p:extLst>
      <p:ext uri="{BB962C8B-B14F-4D97-AF65-F5344CB8AC3E}">
        <p14:creationId xmlns:p14="http://schemas.microsoft.com/office/powerpoint/2010/main" val="1020202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3E15F-E754-4F92-B2C7-3793FAC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E2F8F7-548E-4863-BFA6-A111205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F275DE4-9B0B-4533-89FF-BA079CE8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6A29F09-936D-4D7F-B178-71FAEF7C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19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59DAE1-F7B8-4CBF-82B3-1EF4B61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10A7AC3-F70B-48F0-8762-C5180CE1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4171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联想稳定性（associative stability, AS）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= 两次测试中重复反应的百分比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0224558-6AFF-406B-9AD8-F61814A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统计前进行词形还原（lemmatization）与拼写修正。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C79335D-EBA8-4E06-9897-51B7822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44B17C-A28B-49B6-A1B3-4809751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分析单位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90A021-1674-4D3E-B2AD-434B0CA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3D73D33-B0B8-4077-8B65-2CBEF49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个体层面的跨时间重复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59DB286-DBDD-4426-98CB-1D108BD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按刺激词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83BD94-B2DF-4D24-ACFB-B5A4377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刺激词层面的群体稳定性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698438A5-EACD-444E-B5B5-6F9586E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7A0CD62-B4B9-4CDC-A1D8-AE1983B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统计检验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F5B39A-DC72-4B35-A5E5-AD972F4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71270C8-E251-46AC-9CC0-C4D9DD8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独立样本 t 检验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0BD03F1-8A19-499E-A5FC-1BB4E4D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比较 L1 与 L2 的重复率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22ACD23-413A-4C1D-8091-1E0D492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48AB43-C9C4-4607-BBCA-26B39B8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Pearson 相关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75B694-DE54-4B38-BB5F-5351036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按学习者与刺激词分别计算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D7B64DD-74F8-42A1-83E5-700EBC74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CFDCC9-43D5-41D8-B639-BC06CDF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双因素方差分析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5E8061D-1530-4EB5-A816-6763776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语言 × 反应位置</a:t>
            </a:r>
          </a:p>
        </p:txBody>
      </p:sp>
    </p:spTree>
    <p:extLst>
      <p:ext uri="{BB962C8B-B14F-4D97-AF65-F5344CB8AC3E}">
        <p14:creationId xmlns:p14="http://schemas.microsoft.com/office/powerpoint/2010/main" val="136243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676DF2-7DEC-453B-943F-4B6D380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279471-B3AA-4D15-8E19-42511D7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L2整体联想稳定性高于L1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4DDEE7-79A0-4E77-BC10-646A31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学习者与刺激词两个层面的结果方向一致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93C83BF3-D16A-4DC2-A03E-F3D48F8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BC19ED22-2170-4B95-9FA1-3636610D0136}"/>
              </a:ext>
            </a:extLst>
          </p:cNvPr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84546315ab4709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0C3F6A1-79EF-44C4-A2E6-9EB1583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048EC4-01C3-4D03-9D9D-7E8369D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3FF2EB2-F594-488D-A1FB-F6AFD94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+7.35 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DB5827-8497-4B18-AE01-5EEBFD6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.01 · d = .703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CA79A81-A929-440E-9C68-ADF4A37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4AF9D44-3AF4-43F4-A978-2DC02CD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按刺激词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198217E-7784-48A5-9AC3-70A1FBD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+5.87 pp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34ABD-8762-4C70-AEC7-514A082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.001 · d = .868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7183F0-FBBB-41FB-9051-85900F7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按刺激词计算的群体稳定性高于学习者层面的反应稳定性。</a:t>
            </a:r>
          </a:p>
        </p:txBody>
      </p:sp>
    </p:spTree>
    <p:extLst>
      <p:ext uri="{BB962C8B-B14F-4D97-AF65-F5344CB8AC3E}">
        <p14:creationId xmlns:p14="http://schemas.microsoft.com/office/powerpoint/2010/main" val="148426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5B8FFE0-35F4-4B56-A88B-6152DA5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1E26ED-76B2-4FDF-9500-A3E467F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学习者层面的跨语言一致性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D6896F-DC6C-4AA5-9F4C-881ABD2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E1551BD-05BA-4CC8-BE03-764DA89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95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1654E0-CC57-4A63-8076-751231E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按学习者（by participant）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F23D6C-9B82-4BEA-8317-9D60C22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r = .636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B000F4-67D3-4372-9BDC-5805052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&lt; .001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EA1C83-FFE0-4EC9-ADCA-3197679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[.400, .792]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458482A-2E12-4A60-A206-016AE61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中重复率较高的学习者，在 L2 中通常也有较高重复率。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7260380-D1BA-43D5-AE42-8C3A3B1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5276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0BC5D9-79FA-4F9F-8EBE-2284AE8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按刺激词（by item）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71CEEA4-446D-49C2-8ED4-9D51E9FC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r = .155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8A098F-49B1-4312-A90C-FD834F8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= .414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61CF569-C4CD-45BC-9164-44379F09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[-.218, .488]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FA243E-D1B6-43EA-83F5-B55F3DB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翻译对等刺激词在两种语言中未呈现稳定的对应关系。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A75DE71-C2EE-4F8E-AEBE-7BE715A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跨语言一致性主要体现在学习者层面。</a:t>
            </a:r>
          </a:p>
        </p:txBody>
      </p:sp>
    </p:spTree>
    <p:extLst>
      <p:ext uri="{BB962C8B-B14F-4D97-AF65-F5344CB8AC3E}">
        <p14:creationId xmlns:p14="http://schemas.microsoft.com/office/powerpoint/2010/main" val="1674317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73C01F6-1CF8-41AE-9583-6AFB83E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0B0125-EDAF-438E-80ED-538718FA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联想稳定性随反应位置后移而下降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980B87-1CC8-441C-8E43-3ECEF2B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从第一个到第三个反应，L1 与 L2 的联想稳定性均持续下降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8F88BE5-56B6-4ECC-B21A-DAC7BF9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148E394E-9955-42D3-B71C-70E62545C540}"/>
              </a:ext>
            </a:extLst>
          </p:cNvPr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ea7102e5bb4180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6324B79-C855-4F96-B86B-5EF6FDC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495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07F0C-8B64-4A90-B786-03BF187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95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反应位置效应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0FC2C5C-A556-41A1-ACA0-FAE0B561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 &lt; .001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4D2CF04-5196-4586-9EC4-8E50D444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η² = .666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4586835-2822-416F-9355-9260D3D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955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A87782-1F4D-4A54-BC5B-BCC16A8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双因素模型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0D94F3-C218-42CB-914B-15F8489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43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语言主效应  p = .156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7444464-F553-4959-8625-77F0426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交互作用  p = .621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09FF198-9C44-46CD-A008-8B4F2A0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反应位置是主要影响因素。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EEB9BA5-15F9-4F35-BAC7-4E7D379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第三个反应位置中，平均重复约 2 个 L1 反应和 3 个 L2 反应。</a:t>
            </a:r>
          </a:p>
        </p:txBody>
      </p:sp>
    </p:spTree>
    <p:extLst>
      <p:ext uri="{BB962C8B-B14F-4D97-AF65-F5344CB8AC3E}">
        <p14:creationId xmlns:p14="http://schemas.microsoft.com/office/powerpoint/2010/main" val="1499157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8ED591-970C-4C09-84F0-0F987538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3660A5F-7DA1-4400-B61F-EE4FEA6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L2联想稳定性较高的解释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76AF51-4145-4DB4-B031-18BE61A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研究结果可以用词汇网络（lexical network）视角进行解读。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BA43DC1-00E8-48C7-85E8-CAF8CA5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354561-FA3C-48F7-AEE8-C70B0DF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819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FF0393-21A0-4293-9F91-E0F1961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词汇网络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244A61-F54D-4A17-A1FF-A86EBB8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词汇量更大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语义连接更丰富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竞争性反应更多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52B86A-F60A-4A69-973F-EBF821B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不同测试中可及的反应更多，重复率相对较低。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9149842-68D6-4EAA-9EEF-E763C89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5334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304631E-4F6D-4E88-B024-0B071AA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词汇网络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167105-4DC2-4625-B57D-7571512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438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可及反应较少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语义连接较弱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优势表征更突出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D4733B6-7475-4AE8-9380-35A9CD7C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优势反应更容易在不同测试中重复出现。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EB2B183-024B-466B-97E2-8EB84A3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48A9F7-2E49-4385-8EEF-48E9CB0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词项层面的影响还包括多义性、具体性和评分标准。</a:t>
            </a:r>
          </a:p>
        </p:txBody>
      </p:sp>
    </p:spTree>
    <p:extLst>
      <p:ext uri="{BB962C8B-B14F-4D97-AF65-F5344CB8AC3E}">
        <p14:creationId xmlns:p14="http://schemas.microsoft.com/office/powerpoint/2010/main" val="745633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335C1-52E7-4A51-845A-429CC95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3DD1B7-1555-462D-87D2-8F91848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研究贡献与启示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0309F03-74C9-4EEB-9B49-6A2951B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B46DE7D-95F7-4AE8-9AF4-84392F1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13D6D0-F920-49DF-B142-1097606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BAEC774-79D2-4D94-A9BF-C1E221B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理论视角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E6D02D5-9490-4DC8-BE73-A04481D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联想稳定性可作为观察双语心理词汇的重测指标。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4369E45-1FC8-4CA8-A846-44A2C1B8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A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CFC6B1-B771-4F98-94C5-43167D4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141A5F-6B95-43AA-A3DF-A0AE8C4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分析层次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4C3C4BE-CEEA-4E91-A425-1CDB44F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学习者、刺激词与反应位置的分析呈现不同模式。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A9D75B4-E326-4B65-81CB-7DB4445D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D9C7BF-F734-491D-A33E-8F10387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FEA178-6099-4D5D-A51B-29D0F0C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方法启示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4A582-D494-4661-B831-9821F68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后续反应稳定性较低，个体差异更明显。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5C5F2F-A1AF-4970-9F53-CAB41F2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较高重复率可能反映可及反应的范围较窄。</a:t>
            </a:r>
          </a:p>
        </p:txBody>
      </p:sp>
    </p:spTree>
    <p:extLst>
      <p:ext uri="{BB962C8B-B14F-4D97-AF65-F5344CB8AC3E}">
        <p14:creationId xmlns:p14="http://schemas.microsoft.com/office/powerpoint/2010/main" val="96670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134273C-6E32-4585-A5DD-A2F1092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AD3B54-06BE-42B6-92DB-1C7E8AC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研究局限与结论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AD0629F-1516-4B43-B333-8BC4D86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65511F-C54A-422E-9238-99973B0C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C3AACE-2D0C-4C11-B8F7-91FF906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3B417A-4583-4E9E-9538-986B1C3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同一语言两次测试间隔仅为两周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DD172559-6ABA-48BD-941B-9471663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66170B-000D-42C3-87ED-1FCAE05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刺激词均为高频词，结果的适用范围有限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F10DAFD-CA93-44F3-9516-6B9A9A5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C909B0A-87FE-4E15-9BCB-FAB5635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未比较稳定与不稳定反应的语义类别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8A31A3B5-D0E3-4BB7-AB72-DC8BE9D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8FCBB1-11EA-4385-8985-55A62A9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5E61D0-C6AF-42A8-A1A2-732261B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L2 的整体重复率高于 L1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8F9F04-77F0-44D9-B9F6-E57F1E2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学习者层面的 L1 与 L2 稳定性显著相关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DC76DB6-C71D-4ACE-8DCA-442F9C1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稳定性从第一个到第三个反应持续下降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1B9DC117-A808-449F-BCB0-391449D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6A6A6B5-070E-4032-BCA2-E870337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联想稳定性反映同一词汇联系跨时间再次出现的可能性。</a:t>
            </a:r>
          </a:p>
        </p:txBody>
      </p:sp>
    </p:spTree>
    <p:extLst>
      <p:ext uri="{BB962C8B-B14F-4D97-AF65-F5344CB8AC3E}">
        <p14:creationId xmlns:p14="http://schemas.microsoft.com/office/powerpoint/2010/main" val="1344331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2026-10-10T10:29:17.9530000Z</dcterms:created>
  <dcterms:modified xsi:type="dcterms:W3CDTF">2026-10-10T10:29:17.9530000Z</dcterms:modified>
</coreProperties>
</file>