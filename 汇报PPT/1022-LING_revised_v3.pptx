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e198f18604754" /><Relationship Type="http://schemas.openxmlformats.org/officeDocument/2006/relationships/extended-properties" Target="/docProps/app.xml" Id="R08d1e48b67e849a1" /><Relationship Type="http://schemas.openxmlformats.org/officeDocument/2006/relationships/officeDocument" Target="/ppt/presentation.xml" Id="Raca1a7780631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74ff604cf34093"/>
  </p:sldMasterIdLst>
  <p:notesMasterIdLst>
    <p:notesMasterId xmlns:r="http://schemas.openxmlformats.org/officeDocument/2006/relationships" r:id="Rb3fd65b75d2c4135"/>
  </p:notesMasterIdLst>
  <p:sldIdLst>
    <p:sldId xmlns:r="http://schemas.openxmlformats.org/officeDocument/2006/relationships" id="256" r:id="Rd3e1c51517494190"/>
    <p:sldId xmlns:r="http://schemas.openxmlformats.org/officeDocument/2006/relationships" id="257" r:id="R0d34bcbb55f74867"/>
    <p:sldId xmlns:r="http://schemas.openxmlformats.org/officeDocument/2006/relationships" id="258" r:id="R254d961799384852"/>
    <p:sldId xmlns:r="http://schemas.openxmlformats.org/officeDocument/2006/relationships" id="259" r:id="Rc7e765fc926f4452"/>
    <p:sldId xmlns:r="http://schemas.openxmlformats.org/officeDocument/2006/relationships" id="260" r:id="R45c9b91b81a74198"/>
    <p:sldId xmlns:r="http://schemas.openxmlformats.org/officeDocument/2006/relationships" id="261" r:id="Rdbb4949fe9834d04"/>
    <p:sldId xmlns:r="http://schemas.openxmlformats.org/officeDocument/2006/relationships" id="262" r:id="Rae53d382e7c74685"/>
    <p:sldId xmlns:r="http://schemas.openxmlformats.org/officeDocument/2006/relationships" id="263" r:id="R3e57bc767b474fd0"/>
    <p:sldId xmlns:r="http://schemas.openxmlformats.org/officeDocument/2006/relationships" id="264" r:id="Rb85ae565a7384953"/>
    <p:sldId xmlns:r="http://schemas.openxmlformats.org/officeDocument/2006/relationships" id="265" r:id="Ra18a1ab841944c8a"/>
    <p:sldId xmlns:r="http://schemas.openxmlformats.org/officeDocument/2006/relationships" id="266" r:id="R8c72c499519b4240"/>
    <p:sldId xmlns:r="http://schemas.openxmlformats.org/officeDocument/2006/relationships" id="267" r:id="R0301dd02fc3c4e71"/>
    <p:sldId xmlns:r="http://schemas.openxmlformats.org/officeDocument/2006/relationships" id="268" r:id="R54757a2e6ce24bb5"/>
    <p:sldId xmlns:r="http://schemas.openxmlformats.org/officeDocument/2006/relationships" id="269" r:id="R6d3789a43f4d4946"/>
    <p:sldId xmlns:r="http://schemas.openxmlformats.org/officeDocument/2006/relationships" id="270" r:id="Rf3d7c3eada714e92"/>
    <p:sldId xmlns:r="http://schemas.openxmlformats.org/officeDocument/2006/relationships" id="271" r:id="Rcb499be332a64db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be7b809bea40c4" /><Relationship Type="http://schemas.openxmlformats.org/officeDocument/2006/relationships/slideMaster" Target="/ppt/slideMasters/slideMaster1.xml" Id="Rff74ff604cf34093" /><Relationship Type="http://schemas.openxmlformats.org/officeDocument/2006/relationships/notesMaster" Target="/ppt/notesMasters/notesMaster1.xml" Id="Rb3fd65b75d2c4135" /><Relationship Type="http://schemas.openxmlformats.org/officeDocument/2006/relationships/presProps" Target="/ppt/presProps.xml" Id="Ree8072567ead4285" /><Relationship Type="http://schemas.openxmlformats.org/officeDocument/2006/relationships/tableStyles" Target="/ppt/tableStyles.xml" Id="R59016eea635c4f75" /><Relationship Type="http://schemas.openxmlformats.org/officeDocument/2006/relationships/slide" Target="/ppt/slides/slide1.xml" Id="Rd3e1c51517494190" /><Relationship Type="http://schemas.openxmlformats.org/officeDocument/2006/relationships/slide" Target="/ppt/slides/slide2.xml" Id="R0d34bcbb55f74867" /><Relationship Type="http://schemas.openxmlformats.org/officeDocument/2006/relationships/slide" Target="/ppt/slides/slide3.xml" Id="R254d961799384852" /><Relationship Type="http://schemas.openxmlformats.org/officeDocument/2006/relationships/slide" Target="/ppt/slides/slide4.xml" Id="Rc7e765fc926f4452" /><Relationship Type="http://schemas.openxmlformats.org/officeDocument/2006/relationships/slide" Target="/ppt/slides/slide5.xml" Id="R45c9b91b81a74198" /><Relationship Type="http://schemas.openxmlformats.org/officeDocument/2006/relationships/slide" Target="/ppt/slides/slide6.xml" Id="Rdbb4949fe9834d04" /><Relationship Type="http://schemas.openxmlformats.org/officeDocument/2006/relationships/slide" Target="/ppt/slides/slide7.xml" Id="Rae53d382e7c74685" /><Relationship Type="http://schemas.openxmlformats.org/officeDocument/2006/relationships/slide" Target="/ppt/slides/slide8.xml" Id="R3e57bc767b474fd0" /><Relationship Type="http://schemas.openxmlformats.org/officeDocument/2006/relationships/slide" Target="/ppt/slides/slide9.xml" Id="Rb85ae565a7384953" /><Relationship Type="http://schemas.openxmlformats.org/officeDocument/2006/relationships/slide" Target="/ppt/slides/slide10.xml" Id="Ra18a1ab841944c8a" /><Relationship Type="http://schemas.openxmlformats.org/officeDocument/2006/relationships/slide" Target="/ppt/slides/slide11.xml" Id="R8c72c499519b4240" /><Relationship Type="http://schemas.openxmlformats.org/officeDocument/2006/relationships/slide" Target="/ppt/slides/slide12.xml" Id="R0301dd02fc3c4e71" /><Relationship Type="http://schemas.openxmlformats.org/officeDocument/2006/relationships/slide" Target="/ppt/slides/slide13.xml" Id="R54757a2e6ce24bb5" /><Relationship Type="http://schemas.openxmlformats.org/officeDocument/2006/relationships/slide" Target="/ppt/slides/slide14.xml" Id="R6d3789a43f4d4946" /><Relationship Type="http://schemas.openxmlformats.org/officeDocument/2006/relationships/slide" Target="/ppt/slides/slide15.xml" Id="Rf3d7c3eada714e92" /><Relationship Type="http://schemas.openxmlformats.org/officeDocument/2006/relationships/slide" Target="/ppt/slides/slide16.xml" Id="Rcb499be332a6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c6dc3b939c46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b0fc1a8bd4b58" /><Relationship Type="http://schemas.openxmlformats.org/officeDocument/2006/relationships/notesMaster" Target="/ppt/notesMasters/notesMaster1.xml" Id="R9bfe4ec41ad34d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79313b7aa749ac" /><Relationship Type="http://schemas.openxmlformats.org/officeDocument/2006/relationships/notesMaster" Target="/ppt/notesMasters/notesMaster1.xml" Id="Ree4e4ca85556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97335f778547d7" /><Relationship Type="http://schemas.openxmlformats.org/officeDocument/2006/relationships/notesMaster" Target="/ppt/notesMasters/notesMaster1.xml" Id="R24c783262f39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89ba588d1c40a8" /><Relationship Type="http://schemas.openxmlformats.org/officeDocument/2006/relationships/notesMaster" Target="/ppt/notesMasters/notesMaster1.xml" Id="R019beb73ec8c4a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373df67cb7411b" /><Relationship Type="http://schemas.openxmlformats.org/officeDocument/2006/relationships/notesMaster" Target="/ppt/notesMasters/notesMaster1.xml" Id="R60405fa5a0a1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e716f61676419d" /><Relationship Type="http://schemas.openxmlformats.org/officeDocument/2006/relationships/notesMaster" Target="/ppt/notesMasters/notesMaster1.xml" Id="R8698d1d6398b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aab7b39cdc4264" /><Relationship Type="http://schemas.openxmlformats.org/officeDocument/2006/relationships/notesMaster" Target="/ppt/notesMasters/notesMaster1.xml" Id="R972fb952bac14c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0d9e8b28ac4dfd" /><Relationship Type="http://schemas.openxmlformats.org/officeDocument/2006/relationships/notesMaster" Target="/ppt/notesMasters/notesMaster1.xml" Id="Re41e60b3c46a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048d31c38e4eae" /><Relationship Type="http://schemas.openxmlformats.org/officeDocument/2006/relationships/notesMaster" Target="/ppt/notesMasters/notesMaster1.xml" Id="R19c5875834964e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3c782f75c84a02" /><Relationship Type="http://schemas.openxmlformats.org/officeDocument/2006/relationships/notesMaster" Target="/ppt/notesMasters/notesMaster1.xml" Id="R4cf0ebd0e70b42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962a219ff141ee" /><Relationship Type="http://schemas.openxmlformats.org/officeDocument/2006/relationships/notesMaster" Target="/ppt/notesMasters/notesMaster1.xml" Id="Ra8f4351bd9d74a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33ee3f8a894ac2" /><Relationship Type="http://schemas.openxmlformats.org/officeDocument/2006/relationships/notesMaster" Target="/ppt/notesMasters/notesMaster1.xml" Id="R64048417e5e742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25115bf68e40c9" /><Relationship Type="http://schemas.openxmlformats.org/officeDocument/2006/relationships/notesMaster" Target="/ppt/notesMasters/notesMaster1.xml" Id="R7b6cd205ad5348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4adce5a24f4880" /><Relationship Type="http://schemas.openxmlformats.org/officeDocument/2006/relationships/notesMaster" Target="/ppt/notesMasters/notesMaster1.xml" Id="R2cf88156dde94e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4799b31d9f4be4" /><Relationship Type="http://schemas.openxmlformats.org/officeDocument/2006/relationships/notesMaster" Target="/ppt/notesMasters/notesMaster1.xml" Id="R3465aab4652544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e6f995849245f4" /><Relationship Type="http://schemas.openxmlformats.org/officeDocument/2006/relationships/notesMaster" Target="/ppt/notesMasters/notesMaster1.xml" Id="Rd477765a355f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b46c54db548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19c264f284b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ceecd19ca40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a96eae2c541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68dd96cbf44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84b7c27c943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BFB836-7050-4142-9D26-B33597B296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1D7238-2365-453A-98C9-BFF1D9E002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744C7F-8090-4A69-A824-ECC2371C0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5AC610-F2E6-4045-9C51-567AEABE8C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7544CD-B50C-4969-80C6-535ABF1C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4B48A8-DD5A-45BD-B22A-3CC3D7E27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36C76E-8DB6-4CC3-91D4-A544701213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0042D9-ACF9-4F71-A560-7E6DC626FD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1BF992-53F2-4BFF-AD21-793645C9C9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45426F-55D8-40FD-9DEF-61ECE5638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7ed82d25d473b" /><Relationship Type="http://schemas.openxmlformats.org/officeDocument/2006/relationships/slideLayout" Target="/ppt/slideLayouts/slideLayout1.xml" Id="R62ff08467b234454" /><Relationship Type="http://schemas.openxmlformats.org/officeDocument/2006/relationships/slideLayout" Target="/ppt/slideLayouts/slideLayout2.xml" Id="Re5a71bfd0b6a4413" /><Relationship Type="http://schemas.openxmlformats.org/officeDocument/2006/relationships/slideLayout" Target="/ppt/slideLayouts/slideLayout3.xml" Id="Rafaed1d4b17247c4" /><Relationship Type="http://schemas.openxmlformats.org/officeDocument/2006/relationships/slideLayout" Target="/ppt/slideLayouts/slideLayout4.xml" Id="Raeffd6f4dd964179" /><Relationship Type="http://schemas.openxmlformats.org/officeDocument/2006/relationships/slideLayout" Target="/ppt/slideLayouts/slideLayout5.xml" Id="R7f2171b5ea124bb2" /><Relationship Type="http://schemas.openxmlformats.org/officeDocument/2006/relationships/slideLayout" Target="/ppt/slideLayouts/slideLayout6.xml" Id="Rb262918cb7ba40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ff08467b234454"/>
    <p:sldLayoutId xmlns:r="http://schemas.openxmlformats.org/officeDocument/2006/relationships" id="2147483650" r:id="Re5a71bfd0b6a4413"/>
    <p:sldLayoutId xmlns:r="http://schemas.openxmlformats.org/officeDocument/2006/relationships" id="2147483651" r:id="Rafaed1d4b17247c4"/>
    <p:sldLayoutId xmlns:r="http://schemas.openxmlformats.org/officeDocument/2006/relationships" id="2147483652" r:id="Raeffd6f4dd964179"/>
    <p:sldLayoutId xmlns:r="http://schemas.openxmlformats.org/officeDocument/2006/relationships" id="2147483653" r:id="R7f2171b5ea124bb2"/>
    <p:sldLayoutId xmlns:r="http://schemas.openxmlformats.org/officeDocument/2006/relationships" id="2147483654" r:id="Rb262918cb7ba40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8bf56e1e1b4381" /><Relationship Type="http://schemas.openxmlformats.org/officeDocument/2006/relationships/notesSlide" Target="/ppt/notesSlides/notesSlide1.xml" Id="R190765dec1f64c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0ccb2497040fc" /><Relationship Type="http://schemas.openxmlformats.org/officeDocument/2006/relationships/notesSlide" Target="/ppt/notesSlides/notesSlide2.xml" Id="R354b3778c97749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7914ba005d4618" /><Relationship Type="http://schemas.openxmlformats.org/officeDocument/2006/relationships/notesSlide" Target="/ppt/notesSlides/notesSlide3.xml" Id="R174195a0753d46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569e3dc824204" /><Relationship Type="http://schemas.openxmlformats.org/officeDocument/2006/relationships/notesSlide" Target="/ppt/notesSlides/notesSlide4.xml" Id="Rf8f2b519536940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78582b0044555" /><Relationship Type="http://schemas.openxmlformats.org/officeDocument/2006/relationships/notesSlide" Target="/ppt/notesSlides/notesSlide5.xml" Id="R4f416f826d5d4b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2bc8d3b5a4c3c" /><Relationship Type="http://schemas.openxmlformats.org/officeDocument/2006/relationships/notesSlide" Target="/ppt/notesSlides/notesSlide6.xml" Id="R8b66551929684d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cb06a8d74446e" /><Relationship Type="http://schemas.openxmlformats.org/officeDocument/2006/relationships/notesSlide" Target="/ppt/notesSlides/notesSlide7.xml" Id="R028f9f8efcec4d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d9c36a41e4fbe" /><Relationship Type="http://schemas.openxmlformats.org/officeDocument/2006/relationships/notesSlide" Target="/ppt/notesSlides/notesSlide8.xml" Id="R46fc95a8eb874c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73f220d184f91" /><Relationship Type="http://schemas.openxmlformats.org/officeDocument/2006/relationships/notesSlide" Target="/ppt/notesSlides/notesSlide9.xml" Id="R6b83514d06a9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696d7d77a4db1" /><Relationship Type="http://schemas.openxmlformats.org/officeDocument/2006/relationships/notesSlide" Target="/ppt/notesSlides/notesSlide10.xml" Id="R7fb08a79d52340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b54836e464573" /><Relationship Type="http://schemas.openxmlformats.org/officeDocument/2006/relationships/notesSlide" Target="/ppt/notesSlides/notesSlide11.xml" Id="R10da952381d94c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eef7951684555" /><Relationship Type="http://schemas.openxmlformats.org/officeDocument/2006/relationships/notesSlide" Target="/ppt/notesSlides/notesSlide12.xml" Id="Ra69838a876dc48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81626a1694535" /><Relationship Type="http://schemas.openxmlformats.org/officeDocument/2006/relationships/notesSlide" Target="/ppt/notesSlides/notesSlide13.xml" Id="R79a7346470804b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11ee977c0481a" /><Relationship Type="http://schemas.openxmlformats.org/officeDocument/2006/relationships/notesSlide" Target="/ppt/notesSlides/notesSlide14.xml" Id="R9b49a2318dec42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34ab07344459c" /><Relationship Type="http://schemas.openxmlformats.org/officeDocument/2006/relationships/notesSlide" Target="/ppt/notesSlides/notesSlide15.xml" Id="Rae0426e39a654e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a2df0cdf3475d" /><Relationship Type="http://schemas.openxmlformats.org/officeDocument/2006/relationships/notesSlide" Target="/ppt/notesSlides/notesSlide16.xml" Id="R847b1e06e0b5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9401C-829A-4A3A-8A3E-AA7B4A37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36C47-8545-4F76-9536-26FB0757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126C5-F0A0-4C63-A6A7-E31E7DB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8058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‘Did I repeat so many English words?’: Stability of L1 and L2 Word Association Responses over Time and across Response Positions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75539-E038-4405-B41F-FC71669E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Xin Wang · Ping Zhang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F3220-A680-407A-8483-B40AC26A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Lingua 310 (2024) 103804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DOI: 10.1016/j.lingua.2024.103804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5B66B-3496-405D-B24C-C9521A59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38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资助项目：国家社会科学基金（23BYY178）；江苏高校哲学社会科学研究重大项目（2022SJZD126）</a:t>
            </a:r>
          </a:p>
        </p:txBody>
      </p:sp>
    </p:spTree>
    <p:extLst>
      <p:ext uri="{BB962C8B-B14F-4D97-AF65-F5344CB8AC3E}">
        <p14:creationId xmlns:p14="http://schemas.microsoft.com/office/powerpoint/2010/main" val="2115153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2C402-1934-4E53-89EC-8553C874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5756A-3651-43B3-B900-6F932E5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574E7-C5F1-40C3-8ED9-4B0D0210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2E7ED-613C-47D1-80B2-CB394ED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7924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总体背景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词汇联想任务（word association test, WAT）通过即时反应考察心理词汇的连接方式。既有研究主要比较母语与二语的反应类型、反应速度和联想常模，显示两种语言的词汇组织与提取存在差异（Fitzpatrick &amp; Izura, 2011；Fitzpatrick &amp; Thwaites, 2020）。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15BD3-4192-4BA6-B6DA-16FFF365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7924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已有发现与证据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测试—重测研究表明，联想反应具有一定稳定性，但自由联想也会随时间和个体状态发生变化（Gekoski &amp; Riegel, 1966；Fitzpatrick et al., 2015）。二语学习者在重复测试中常只重复部分反应，说明联想稳定性可反映词汇表征的可及性与竞争程度（Fitzpatrick, 2012）。</a:t>
            </a:r>
          </a:p>
        </p:txBody>
      </p:sp>
    </p:spTree>
    <p:extLst>
      <p:ext uri="{BB962C8B-B14F-4D97-AF65-F5344CB8AC3E}">
        <p14:creationId xmlns:p14="http://schemas.microsoft.com/office/powerpoint/2010/main" val="984684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C51FD-E0E7-4DB1-83AB-EDBF9228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496DA-EC0E-4EF5-81C5-97BDE6F6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DAE59-991D-4BF4-BE98-0BE0BBBF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现有研究不足之处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F6F59-E465-4537-9E9E-8E038DB4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9248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16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既有联想稳定性研究多关注单一语言、常模或单个反应位置，对同一批双语者母语与二语的稳定性缺少直接比较。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6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母语与二语稳定性是否在参与者层面和刺激词层面呈现一致关系，尚未得到检验。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6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连续词汇联想任务常收集多个反应，但研究主要将其用于扩大数据量，对不同反应位置的稳定性变化关注不足（Nissen &amp; Henriksen, 2006；Schmitt, 1998）。</a:t>
            </a:r>
          </a:p>
        </p:txBody>
      </p:sp>
    </p:spTree>
    <p:extLst>
      <p:ext uri="{BB962C8B-B14F-4D97-AF65-F5344CB8AC3E}">
        <p14:creationId xmlns:p14="http://schemas.microsoft.com/office/powerpoint/2010/main" val="833993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26467-E601-4C8D-84CB-85234E4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803A1-E7F7-4499-B281-A133A57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2F1C0-1BF4-475B-A765-8E0284F0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0568F-B7BF-4FCD-902D-37FEEA1A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924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8000"/>
              </a:lnSpc>
              <a:spcAft>
                <a:spcPts val="1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RQ1：母语汉语与二语英语的总体联想稳定性（associative stability, AS）是否存在差异？</a:t>
            </a:r>
          </a:p>
          <a:p xmlns:a="http://schemas.openxmlformats.org/drawingml/2006/main">
            <a:pPr>
              <a:lnSpc>
                <a:spcPct val="138000"/>
              </a:lnSpc>
              <a:spcAft>
                <a:spcPts val="1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RQ2：母语与二语的联想稳定性在参与者层面和刺激词层面是否相关？</a:t>
            </a:r>
          </a:p>
          <a:p xmlns:a="http://schemas.openxmlformats.org/drawingml/2006/main">
            <a:pPr>
              <a:lnSpc>
                <a:spcPct val="138000"/>
              </a:lnSpc>
              <a:spcAft>
                <a:spcPts val="1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RQ3：反应位置是否影响母语与二语的联想稳定性？</a:t>
            </a:r>
          </a:p>
        </p:txBody>
      </p:sp>
    </p:spTree>
    <p:extLst>
      <p:ext uri="{BB962C8B-B14F-4D97-AF65-F5344CB8AC3E}">
        <p14:creationId xmlns:p14="http://schemas.microsoft.com/office/powerpoint/2010/main" val="1787177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6D7A2-0C0C-4C92-A0E1-0B8AFC4B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CD47B-538C-43DA-84C7-C6958B8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D22E2-164C-4979-A7E7-151245FE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研究被试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D43DB-085D-46C1-B2FC-56CD08927054}"/>
              </a:ext>
            </a:extLst>
          </p:cNvPr>
          <p:cNvGraphicFramePr/>
          <p:nvPr/>
        </p:nvGraphicFramePr>
        <p:xfrm>
          <a:off xmlns:a="http://schemas.openxmlformats.org/drawingml/2006/main" x="666750" y="1352550"/>
          <a:ext xmlns:a="http://schemas.openxmlformats.org/drawingml/2006/main" cx="78105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项目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信息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招募与最终样本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招募40人；1人退出，最终39人完成全部测试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年龄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 = 19.73，SD = 1.13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专业与英语水平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英语或英语教育专业；均通过大学英语四级考试（CET-4）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学习经历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平均英语学习年限12.10年；无海外学习经历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784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673D9-7EB2-48BA-B49B-8027B386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412EA-48A2-4257-B630-53DD75F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DD3F5-B3B4-4FC9-BBC7-C24117F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1E25A-8DE2-471B-8555-5715914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两套材料用于比较相同概念在母语与二语中的联想稳定性。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6FFC8-697D-48C6-939D-A22CD43207FD}"/>
              </a:ext>
            </a:extLst>
          </p:cNvPr>
          <p:cNvGraphicFramePr/>
          <p:nvPr/>
        </p:nvGraphicFramePr>
        <p:xfrm>
          <a:off xmlns:a="http://schemas.openxmlformats.org/drawingml/2006/main" x="533400" y="1657350"/>
          <a:ext xmlns:a="http://schemas.openxmlformats.org/drawingml/2006/main" cx="80772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819150"/>
                <a:gridCol w="3638550"/>
                <a:gridCol w="2190750"/>
              </a:tblGrid>
              <a:tr h="6794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材料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数量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词汇特征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示例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英语刺激词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高频词；名词、动词、形容词；具体词与抽象词；3–10个字母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kitchen, smile, value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汉语刺激词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与英语词构成翻译对应关系，词性与具体性匹配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厨房、微笑、价值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851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8EE38-788F-44F9-A94D-1C17DB04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2532F-3867-4C99-877E-6B69D62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348EC-CED9-448A-B47D-A80C536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实验任务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D5E07-49B3-4B56-A5FB-D2B20F888657}"/>
              </a:ext>
            </a:extLst>
          </p:cNvPr>
          <p:cNvGraphicFramePr/>
          <p:nvPr/>
        </p:nvGraphicFramePr>
        <p:xfrm>
          <a:off xmlns:a="http://schemas.openxmlformats.org/drawingml/2006/main" x="685800" y="1371600"/>
          <a:ext xmlns:a="http://schemas.openxmlformats.org/drawingml/2006/main" cx="77724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962650"/>
              </a:tblGrid>
              <a:tr h="54483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项目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任务要求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任务类型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在线连续词汇联想任务（continuous word association task）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刺激呈现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30个刺激词逐个呈现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作答方式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每个刺激词输入最先想到的3个同语种反应词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作答要求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不设时间限制，但要求尽快、自然作答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10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27D2E-0BA7-4342-97A5-FD234F05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15B88-D9DE-4783-828F-C94A68E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9D8A7-8D1B-4B7B-BA1C-7B49A382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781C6-0B93-4C87-B5A8-98FE2BC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28000"/>
              </a:lnSpc>
              <a:spcAft>
                <a:spcPts val="1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第一轮先完成汉语任务，一周后完成英语任务。</a:t>
            </a:r>
          </a:p>
          <a:p xmlns:a="http://schemas.openxmlformats.org/drawingml/2006/main">
            <a:pPr>
              <a:lnSpc>
                <a:spcPct val="128000"/>
              </a:lnSpc>
              <a:spcAft>
                <a:spcPts val="1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再间隔一周开始第二轮，并按相同顺序完成汉语和英语任务。</a:t>
            </a:r>
          </a:p>
          <a:p xmlns:a="http://schemas.openxmlformats.org/drawingml/2006/main">
            <a:pPr>
              <a:lnSpc>
                <a:spcPct val="128000"/>
              </a:lnSpc>
              <a:spcAft>
                <a:spcPts val="1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同一语言的测试—重测间隔均为两周；刺激词顺序和作答要求保持一致。</a:t>
            </a:r>
          </a:p>
          <a:p xmlns:a="http://schemas.openxmlformats.org/drawingml/2006/main">
            <a:pPr>
              <a:lnSpc>
                <a:spcPct val="128000"/>
              </a:lnSpc>
              <a:spcAft>
                <a:spcPts val="1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参与者事先不知道还会进行第二轮测试，以减少刻意记忆和重复。</a:t>
            </a:r>
          </a:p>
          <a:p xmlns:a="http://schemas.openxmlformats.org/drawingml/2006/main">
            <a:pPr>
              <a:lnSpc>
                <a:spcPct val="128000"/>
              </a:lnSpc>
              <a:spcAft>
                <a:spcPts val="1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5. 数据校正拼写并进行词形还原后，比较两次测试中重复出现的反应。</a:t>
            </a:r>
          </a:p>
        </p:txBody>
      </p:sp>
    </p:spTree>
    <p:extLst>
      <p:ext uri="{BB962C8B-B14F-4D97-AF65-F5344CB8AC3E}">
        <p14:creationId xmlns:p14="http://schemas.microsoft.com/office/powerpoint/2010/main" val="2103863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37E55-A274-46CA-AB72-FC311F22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BBB6F-DA43-44B6-8848-BC77C2A5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35AAC-FF1B-4A2E-BEBC-E2C7BD0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99D00-5E08-4B34-85D6-78FE30C0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核心指标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联想稳定性（associative stability, AS）定义为两次测试中重复反应数占总反应数的百分比。分别在参与者层面和刺激词层面计算总体AS与各反应位置的AS。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83FDC-930C-47EA-A7AA-77B3BC5D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924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统计方法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总体母语—二语差异采用独立样本 t 检验；跨语言相关采用 Pearson 相关。反应位置分析考察语言×位置效应，参与者层面使用双因素 Welch 方差分析，刺激词层面使用双因素方差分析，并进行 Tukey 事后比较。</a:t>
            </a:r>
          </a:p>
        </p:txBody>
      </p:sp>
    </p:spTree>
    <p:extLst>
      <p:ext uri="{BB962C8B-B14F-4D97-AF65-F5344CB8AC3E}">
        <p14:creationId xmlns:p14="http://schemas.microsoft.com/office/powerpoint/2010/main" val="1559546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9BE94-9D20-46D7-A584-BB338A20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E6646-2A5A-417C-90C4-7D2C3342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4FB7D-F69C-4A91-8E68-2E005D05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研究结果（RQ1）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77A46-5165-4612-B422-F920179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参与者层面，二语英语的总体联想稳定性显著高于母语汉语（差值7.35个百分点，p &lt; .01，d = .703）。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刺激词层面，二语英语的总体联想稳定性同样显著更高（差值5.87个百分点，p &lt; .001，d = .868）。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两种分析单位得出一致结论：两周后英语反应的重复率高于汉语。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1D74A-E4F9-47CC-81B5-07F6D4924F51}"/>
              </a:ext>
            </a:extLst>
          </p:cNvPr>
          <p:cNvGraphicFramePr/>
          <p:nvPr/>
        </p:nvGraphicFramePr>
        <p:xfrm>
          <a:off xmlns:a="http://schemas.openxmlformats.org/drawingml/2006/main" x="495300" y="2590800"/>
          <a:ext xmlns:a="http://schemas.openxmlformats.org/drawingml/2006/main" cx="8153400" cy="1695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095500"/>
                <a:gridCol w="2095500"/>
                <a:gridCol w="2286000"/>
              </a:tblGrid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分析单位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汉语 AS（M ± SD）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英语 AS（M ± SD）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检验结果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参与者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31.74% ± 10.46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39.09% ± 10.86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 &lt; .01；d = .703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62.68% ± 6.76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68.55% ± 5.37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 &lt; .001；d = .868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109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523AD-134F-410B-9A59-9EC82896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95ED9-4EE9-4172-B991-CB46C97A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80FE6-C8FC-4035-A38F-8DEDFF9F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研究结果（RQ2）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F1E72-ECAB-46DA-AA63-BE6CFB11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参与者层面，母语与二语AS呈中等偏强正相关（r = .636，p &lt; .001）。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刺激词层面，汉英翻译对应词的AS相关不显著（r = .155，p = .414）。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联想稳定性具有跨语言的个体一致性，但具体刺激词并不会在两种语言中表现出对应的稳定程度。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92AD4-C78D-4F60-AC17-A9CB0F9BDAAB}"/>
              </a:ext>
            </a:extLst>
          </p:cNvPr>
          <p:cNvGraphicFramePr/>
          <p:nvPr/>
        </p:nvGraphicFramePr>
        <p:xfrm>
          <a:off xmlns:a="http://schemas.openxmlformats.org/drawingml/2006/main" x="495300" y="2552700"/>
          <a:ext xmlns:a="http://schemas.openxmlformats.org/drawingml/2006/main" cx="815340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238250"/>
                <a:gridCol w="1047750"/>
                <a:gridCol w="2190750"/>
                <a:gridCol w="2190750"/>
              </a:tblGrid>
              <a:tr h="58420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分析单位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相关系数 r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95% CI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结论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参与者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.636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[.400, .792]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显著正相关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.155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.414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[-.218, .488]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相关不显著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5024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71E8D-AB2B-4EA7-BCAE-60DC001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5D294-09D9-418D-BAC4-A998B2E5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B8B8F-4D5E-42CC-8D73-27C50979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研究结果（RQ3）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09E65-B8D1-4BE0-9138-D08D5BDB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母语与二语的AS均从第一反应位置到第三反应位置持续下降。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位置主效应显著且效应量较大：参与者层面 η² = .666，刺激词层面 η² = .625（均 p &lt; .001）。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语言主效应与语言×位置交互均不显著，位置效应在两种语言中表现一致。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48EE8-DDCA-4AA9-B88F-B55B67B0E791}"/>
              </a:ext>
            </a:extLst>
          </p:cNvPr>
          <p:cNvGraphicFramePr/>
          <p:nvPr/>
        </p:nvGraphicFramePr>
        <p:xfrm>
          <a:off xmlns:a="http://schemas.openxmlformats.org/drawingml/2006/main" x="495300" y="2457450"/>
          <a:ext xmlns:a="http://schemas.openxmlformats.org/drawingml/2006/main" cx="81534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190625"/>
                <a:gridCol w="1714500"/>
                <a:gridCol w="1714500"/>
                <a:gridCol w="1714500"/>
              </a:tblGrid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分析单位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语言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第一位置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第二位置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第三位置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参与者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汉语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33.50%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12.73%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6.67%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参与者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英语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38.72%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15.73%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8.46%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汉语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64.96%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44.27%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31.37%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英语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70.34%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52.74%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37.69%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1759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8324D-1B59-4414-A1EC-6A902248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189EA-CFE7-40BA-9BDD-E3385F9C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46889-7A9D-44CE-AE45-71499F2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讨论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CCBB7-0176-4C7E-B90B-3CF15F0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92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二语联想稳定性更高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较高的二语重复率可能与二语词汇网络规模较小、连接较少有关：可竞争的替代反应有限，优势表征更容易在两次测试中被重复提取（Meara, 2009；Wilks &amp; Meara, 2002）。母语网络更丰富，同一刺激可激活更多近义或相关反应，因此重复率相对较低。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EAD9E-6D23-4C98-99C3-BA4B23D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24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个体一致性与位置效应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参与者层面的跨语言相关说明，个体的词汇组织或作答策略在两种语言中具有一致性。AS从第一到第三位置下降，符合扩散激活观点：激活从强连接逐步扩散至较弱、较个人化的连接，后续反应因而更不稳定（Collins &amp; Loftus, 1975）。</a:t>
            </a:r>
          </a:p>
        </p:txBody>
      </p:sp>
    </p:spTree>
    <p:extLst>
      <p:ext uri="{BB962C8B-B14F-4D97-AF65-F5344CB8AC3E}">
        <p14:creationId xmlns:p14="http://schemas.microsoft.com/office/powerpoint/2010/main" val="5252307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A417A-D8C1-4F69-8A9E-C9C8C80D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88BB1-1079-4B1C-977A-02650F46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A499B-2DBF-4C1C-95A5-373DF301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研究启示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3FC34-3825-46B8-A59F-3039ECF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9248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联想稳定性可作为观察词汇表征可及性与竞争程度的补充指标，但较高稳定性并不等同于更成熟或更丰富的词汇网络。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参与者层面与刺激词层面的结果不能相互替代：前者反映个体差异，后者反映群体常模的稳定程度。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连续词汇联想任务必须区分反应位置；第一反应最稳定，后续反应更易受到弱连接和个人经验影响。</a:t>
            </a:r>
          </a:p>
        </p:txBody>
      </p:sp>
    </p:spTree>
    <p:extLst>
      <p:ext uri="{BB962C8B-B14F-4D97-AF65-F5344CB8AC3E}">
        <p14:creationId xmlns:p14="http://schemas.microsoft.com/office/powerpoint/2010/main" val="6940326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9CF3F-FF29-4EE0-AE3E-9005E2D7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03F96-EF46-412E-98C9-C40063A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BDF26-CB13-48F9-84AE-F8552054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不足与展望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5D045-1848-4672-8F8A-DFB11154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9248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同一语言的测试—重测间隔仅为两周，其他时间间隔下的二语联想稳定性仍需验证。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材料均为高频刺激词，结果是否适用于低频词、专业词汇或不同词类仍不确定。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研究未对稳定和不稳定反应的语义关系类型进行分类。后续可结合反应类型、词频、熟练度和网络指标开展纵向研究。</a:t>
            </a:r>
          </a:p>
        </p:txBody>
      </p:sp>
    </p:spTree>
    <p:extLst>
      <p:ext uri="{BB962C8B-B14F-4D97-AF65-F5344CB8AC3E}">
        <p14:creationId xmlns:p14="http://schemas.microsoft.com/office/powerpoint/2010/main" val="18021792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CB151-A8E6-4F46-870B-D3074C4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1F3CA-1650-4AA4-8C5F-5EAC7F5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ED089-36F5-43CE-80A8-9D6FB0E7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主要参考文献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CD00A-7234-4B62-B7C2-40ADC00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3810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Collins, A. M., &amp; Loftus, E. F. (1975). A spreading-activation theory of semantic processing. Psychological Review, 82, 407.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Fitzpatrick, T. (2012). Tracking the changes: Vocabulary acquisition in the study abroad context. Language Learning Journal, 40, 81–98.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Fitzpatrick, T., &amp; Izura, C. (2011). Word association in L1 and L2. Studies in Second Language Acquisition, 33, 373–398.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Fitzpatrick, T., Playfoot, D., Wray, A., &amp; Wright, M. J. (2015). Establishing the reliability of word association data. Applied Linguistics, 36, 23–50.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F1D33-8FD4-40CD-BFE5-4F879076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066800"/>
            <a:ext cx="3810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Fitzpatrick, T., &amp; Thwaites, P. (2020). Word association research and the L2 lexicon. Language Teaching, 53, 237–274.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Gekoski, W. L., &amp; Riegel, K. F. (1966). A study of the one-week stability of the Michigan restricted association norms. Psychological Reports, 18, 397–398.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Meara, P. (2009). Connected Words: Word Associations and Second Language Vocabulary Acquisition. John Benjamins.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Nissen, H. B., &amp; Henriksen, B. (2006). Word class influence on word association test results. International Journal of Applied Linguistics, 16, 389–408.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Wilks, C., &amp; Meara, P. (2002). Untangling word webs. Second Language Research, 18, 303–324.</a:t>
            </a:r>
          </a:p>
        </p:txBody>
      </p:sp>
    </p:spTree>
    <p:extLst>
      <p:ext uri="{BB962C8B-B14F-4D97-AF65-F5344CB8AC3E}">
        <p14:creationId xmlns:p14="http://schemas.microsoft.com/office/powerpoint/2010/main" val="1324485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2026-10-22T09:12:15.3320000Z</dcterms:created>
  <dcterms:modified xsi:type="dcterms:W3CDTF">2026-10-22T09:12:15.3320000Z</dcterms:modified>
</coreProperties>
</file>