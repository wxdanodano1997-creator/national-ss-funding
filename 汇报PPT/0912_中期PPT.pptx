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360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National Bureau of Statistics of China. (2026). 2025 national economic performance and population data. https://www.stats.gov.cn/sj/zxfb/202601/t20260119_1962330.html</a:t>
            </a:r>
          </a:p>
          <a:p>
            <a:r>
              <a:t>Ministry of Education of the PRC. (2025). Education Powerhouse Development Plan (2024–2035). https://www.moe.gov.cn/jyb_xxgk/moe_1777/moe_1778/202501/t20250119_1176193.html</a:t>
            </a:r>
          </a:p>
          <a:p>
            <a:r>
              <a:t>Ministry of Education of the PRC. (2022). Compulsory Education Curriculum Plan and Curriculum Standards (2022 edition). https://www.moe.gov.cn/srcsite/A26/s8001/202204/t20220420_619921.html</a:t>
            </a:r>
          </a:p>
          <a:p>
            <a:r>
              <a:t>Ministry of Education of the PRC. (2020). General Senior High School Curriculum Standards (2017 edition, revised 2020). https://www.moe.gov.cn/srcsite/A26/s8001/202006/t20200603_462199.html</a:t>
            </a:r>
          </a:p>
          <a:p>
            <a:r>
              <a:t>UNESCO. (2023). Guidance for generative AI in education and research. https://www.unesco.org/en/articles/guidance-generative-ai-education-and-research?hub=88737</a:t>
            </a:r>
          </a:p>
          <a:p>
            <a:r>
              <a:t>The statements about concentrated family expectations and the lexical baseline for AI-supported learning are research-grounded interpretations, not tested causal claims in this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 statements synthesize the literature review and methodological discussion in 23博-王鑫-博士论文中期稿.docx.</a:t>
            </a:r>
          </a:p>
          <a:p>
            <a:r>
              <a:t>The practical significance is framed as an implication rather than evidence that the present observational study establishes instructional effectiveness.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separates the study purpose from the research gaps and presents the five research questions used in the dissertation.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Aggregate grade-level network comparison based on participant matching.</a:t>
            </a:r>
          </a:p>
          <a:p>
            <a:r>
              <a:t>Nodes and edges capture genuine diversification; density, mean degree, clustering, path length, and small-world index remain size-sensitive and should not be interpreted as size-free architecture.</a:t>
            </a:r>
          </a:p>
          <a:p>
            <a:r>
              <a:t>Degree centralization is the most robust scale-controlled structural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5">
            <a:extLst>
              <a:ext uri="{FF2B5EF4-FFF2-40B4-BE49-F238E27FC236}">
                <a16:creationId xmlns:a16="http://schemas.microsoft.com/office/drawing/2014/main" id="{0A41B030-C1DF-425D-AE51-3073CE6DD027}"/>
              </a:ext>
            </a:extLst>
          </p:cNvPr>
          <p:cNvSpPr>
            <a:spLocks noGrp="1"/>
          </p:cNvSpPr>
          <p:nvPr/>
        </p:nvSpPr>
        <p:spPr>
          <a:xfrm>
            <a:off x="457200" y="1057640"/>
            <a:ext cx="6769677" cy="6126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30000"/>
              </a:lnSpc>
              <a:buNone/>
            </a:pPr>
            <a:r>
              <a:rPr sz="24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中小学生英语心理词库多维发展的词汇联想研究</a:t>
            </a:r>
            <a:endParaRPr sz="240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0E0F2F1-481A-4121-B1BF-CFDD4EF653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26C9410-6660-4B6D-A4F0-926B61F3FF4F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035" y="251460"/>
            <a:ext cx="1230283" cy="1230283"/>
          </a:xfrm>
          <a:prstGeom prst="rect">
            <a:avLst/>
          </a:prstGeom>
        </p:spPr>
      </p:pic>
      <p:pic>
        <p:nvPicPr>
          <p:cNvPr id="2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877" y="4416103"/>
            <a:ext cx="1700990" cy="541224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C5A449C8-17BA-4B6A-B655-5561354E098A}"/>
              </a:ext>
            </a:extLst>
          </p:cNvPr>
          <p:cNvSpPr>
            <a:spLocks noGrp="1"/>
          </p:cNvSpPr>
          <p:nvPr/>
        </p:nvSpPr>
        <p:spPr>
          <a:xfrm>
            <a:off x="457200" y="409879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外国语学院  ·  外国语言学及应用语言学</a:t>
            </a:r>
            <a:endParaRPr sz="11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86A93B8-4D19-4FBA-A330-26C3A53B54C4}"/>
              </a:ext>
            </a:extLst>
          </p:cNvPr>
          <p:cNvSpPr>
            <a:spLocks noGrp="1"/>
          </p:cNvSpPr>
          <p:nvPr/>
        </p:nvSpPr>
        <p:spPr>
          <a:xfrm>
            <a:off x="457200" y="63155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2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博士学位论文中期考核汇报</a:t>
            </a:r>
            <a:endParaRPr sz="12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EA2AEA8-3662-46EB-B5E6-DBBA83FC1F7F}"/>
              </a:ext>
            </a:extLst>
          </p:cNvPr>
          <p:cNvSpPr>
            <a:spLocks noGrp="1"/>
          </p:cNvSpPr>
          <p:nvPr/>
        </p:nvSpPr>
        <p:spPr>
          <a:xfrm>
            <a:off x="457199" y="1704058"/>
            <a:ext cx="7003473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35000"/>
              </a:lnSpc>
              <a:buNone/>
            </a:pPr>
            <a:r>
              <a:rPr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A Word Association Study on the Multi-Dimensional Development</a:t>
            </a:r>
            <a:endParaRPr/>
          </a:p>
          <a:p>
            <a:pPr marL="0" indent="0">
              <a:lnSpc>
                <a:spcPct val="135000"/>
              </a:lnSpc>
              <a:buNone/>
            </a:pPr>
            <a:r>
              <a:rPr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of English Mental Lexicon among Primary and Secondary School Students</a:t>
            </a:r>
            <a:endParaRPr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4887B25-A952-4016-A66D-20BB17701841}"/>
              </a:ext>
            </a:extLst>
          </p:cNvPr>
          <p:cNvSpPr>
            <a:spLocks noGrp="1"/>
          </p:cNvSpPr>
          <p:nvPr/>
        </p:nvSpPr>
        <p:spPr>
          <a:xfrm>
            <a:off x="457200" y="2996324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报告人：王 鑫                指导教师：张 萍    教 授</a:t>
            </a:r>
            <a:endParaRPr sz="1500" b="1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FE3BCC2-CAED-46F6-BC1D-4BBC4077A53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2026 年 9 月</a:t>
            </a:r>
            <a:endParaRPr sz="1100"/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333E042D-A776-4DBC-80C5-0F0402273038}"/>
              </a:ext>
            </a:extLst>
          </p:cNvPr>
          <p:cNvSpPr>
            <a:spLocks noGrp="1"/>
          </p:cNvSpPr>
          <p:nvPr/>
        </p:nvSpPr>
        <p:spPr>
          <a:xfrm>
            <a:off x="457199" y="2699559"/>
            <a:ext cx="6156614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77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151A8E-4E02-49EA-B85F-CD034339BC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67B2F2-F581-49C2-80DF-BA418A3CC03E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3242C0-F929-4958-89A5-F4D726B5E14A}"/>
              </a:ext>
            </a:extLst>
          </p:cNvPr>
          <p:cNvSpPr>
            <a:spLocks noGrp="1"/>
          </p:cNvSpPr>
          <p:nvPr/>
        </p:nvSpPr>
        <p:spPr>
          <a:xfrm>
            <a:off x="7132320" y="2743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36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02</a:t>
            </a:r>
            <a:endParaRPr sz="3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39C55A-BAC0-474E-9106-91627CB303AD}"/>
              </a:ext>
            </a:extLst>
          </p:cNvPr>
          <p:cNvSpPr>
            <a:spLocks noGrp="1"/>
          </p:cNvSpPr>
          <p:nvPr/>
        </p:nvSpPr>
        <p:spPr>
          <a:xfrm>
            <a:off x="867641" y="4572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汇报提纲</a:t>
            </a:r>
            <a:endParaRPr sz="28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992998-7B05-42EF-991C-A84D4E8035F9}"/>
              </a:ext>
            </a:extLst>
          </p:cNvPr>
          <p:cNvSpPr>
            <a:spLocks noGrp="1"/>
          </p:cNvSpPr>
          <p:nvPr/>
        </p:nvSpPr>
        <p:spPr>
          <a:xfrm>
            <a:off x="867641" y="12801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01</a:t>
            </a:r>
            <a:endParaRPr sz="2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81063D-7BCB-4DBC-B160-A295766C6764}"/>
              </a:ext>
            </a:extLst>
          </p:cNvPr>
          <p:cNvSpPr>
            <a:spLocks noGrp="1"/>
          </p:cNvSpPr>
          <p:nvPr/>
        </p:nvSpPr>
        <p:spPr>
          <a:xfrm>
            <a:off x="1416281" y="1280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研究概述</a:t>
            </a:r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16AD0AB-27E3-42C1-AA58-DC9489805FE8}"/>
              </a:ext>
            </a:extLst>
          </p:cNvPr>
          <p:cNvSpPr>
            <a:spLocks noGrp="1"/>
          </p:cNvSpPr>
          <p:nvPr/>
        </p:nvSpPr>
        <p:spPr>
          <a:xfrm>
            <a:off x="867641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02</a:t>
            </a:r>
            <a:endParaRPr sz="2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9DBBDF6-92AF-4CA6-89A2-AEDF7A120C7F}"/>
              </a:ext>
            </a:extLst>
          </p:cNvPr>
          <p:cNvSpPr>
            <a:spLocks noGrp="1"/>
          </p:cNvSpPr>
          <p:nvPr/>
        </p:nvSpPr>
        <p:spPr>
          <a:xfrm>
            <a:off x="1416281" y="1783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研究方法</a:t>
            </a:r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DE54BFA-3093-4B21-A27A-32E1472BF953}"/>
              </a:ext>
            </a:extLst>
          </p:cNvPr>
          <p:cNvSpPr>
            <a:spLocks noGrp="1"/>
          </p:cNvSpPr>
          <p:nvPr/>
        </p:nvSpPr>
        <p:spPr>
          <a:xfrm>
            <a:off x="867641" y="22860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03</a:t>
            </a:r>
            <a:endParaRPr sz="2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EE7E5B9-0664-49D0-8753-83981E4FE0BA}"/>
              </a:ext>
            </a:extLst>
          </p:cNvPr>
          <p:cNvSpPr>
            <a:spLocks noGrp="1"/>
          </p:cNvSpPr>
          <p:nvPr/>
        </p:nvSpPr>
        <p:spPr>
          <a:xfrm>
            <a:off x="1416281" y="22860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主要发现</a:t>
            </a:r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05205EF-0DAB-414D-A275-B06C54C847E6}"/>
              </a:ext>
            </a:extLst>
          </p:cNvPr>
          <p:cNvSpPr>
            <a:spLocks noGrp="1"/>
          </p:cNvSpPr>
          <p:nvPr/>
        </p:nvSpPr>
        <p:spPr>
          <a:xfrm>
            <a:off x="867641" y="27889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04</a:t>
            </a:r>
            <a:endParaRPr sz="2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B7A51F0-BF13-4628-BED5-796C34588CE1}"/>
              </a:ext>
            </a:extLst>
          </p:cNvPr>
          <p:cNvSpPr>
            <a:spLocks noGrp="1"/>
          </p:cNvSpPr>
          <p:nvPr/>
        </p:nvSpPr>
        <p:spPr>
          <a:xfrm>
            <a:off x="1416281" y="2788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讨论与启示</a:t>
            </a:r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585A68D-E45F-45F9-83E4-EB4A3507D332}"/>
              </a:ext>
            </a:extLst>
          </p:cNvPr>
          <p:cNvSpPr>
            <a:spLocks noGrp="1"/>
          </p:cNvSpPr>
          <p:nvPr/>
        </p:nvSpPr>
        <p:spPr>
          <a:xfrm>
            <a:off x="867641" y="32918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05</a:t>
            </a:r>
            <a:endParaRPr sz="20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2223172-03AB-4A68-85BF-4387144F57D1}"/>
              </a:ext>
            </a:extLst>
          </p:cNvPr>
          <p:cNvSpPr>
            <a:spLocks noGrp="1"/>
          </p:cNvSpPr>
          <p:nvPr/>
        </p:nvSpPr>
        <p:spPr>
          <a:xfrm>
            <a:off x="1416281" y="32918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待解决的问题</a:t>
            </a:r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912C24B-6F21-42F8-B35B-CBEEED533423}"/>
              </a:ext>
            </a:extLst>
          </p:cNvPr>
          <p:cNvSpPr>
            <a:spLocks noGrp="1"/>
          </p:cNvSpPr>
          <p:nvPr/>
        </p:nvSpPr>
        <p:spPr>
          <a:xfrm>
            <a:off x="867641" y="37947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06</a:t>
            </a:r>
            <a:endParaRPr sz="2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B1C0B8A-AB60-44BA-B23F-C3ED456006C1}"/>
              </a:ext>
            </a:extLst>
          </p:cNvPr>
          <p:cNvSpPr>
            <a:spLocks noGrp="1"/>
          </p:cNvSpPr>
          <p:nvPr/>
        </p:nvSpPr>
        <p:spPr>
          <a:xfrm>
            <a:off x="1416281" y="37947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工作进展与后续计划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765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5B5D79-A5E4-45E8-82A3-E9A4993AA2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3F597A-EC31-4EA8-B179-A821BDCAC813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7FDA73-0A3E-4A7A-A4D1-A3A065DDC430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01 · RESEARCH OVERVIEW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829AC6-0599-4CE6-87E2-9F279D15BFD5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03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521BEC-35C3-4918-BD70-6A5CB375A5B9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研究背景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Research Background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1CE775-B4AA-4CC6-AE65-EE01514A8443}"/>
              </a:ext>
            </a:extLst>
          </p:cNvPr>
          <p:cNvSpPr>
            <a:spLocks noGrp="1"/>
          </p:cNvSpPr>
          <p:nvPr/>
        </p:nvSpPr>
        <p:spPr>
          <a:xfrm>
            <a:off x="820882" y="1129284"/>
            <a:ext cx="6826827" cy="2611443"/>
          </a:xfrm>
          <a:prstGeom prst="rect">
            <a:avLst/>
          </a:prstGeom>
          <a:noFill/>
        </p:spPr>
        <p:txBody>
          <a:bodyPr wrap="square" lIns="0" tIns="127000" rIns="0" bIns="0" anchor="t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心理词库（mental lexicon）是语言使用者存储和组织词汇知识的内部系统，词汇联想（word association）是探测其结构的经典方法之一</a:t>
            </a:r>
            <a:endParaRPr sz="1400"/>
          </a:p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已有研究多从单一维度（如反应类型）考察词库发展，维度间的关联尚未被系统整合</a:t>
            </a:r>
            <a:endParaRPr sz="1400"/>
          </a:p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网络科学方法近年被引入词库研究，但尚停留在群体描述层面，缺少个体层面的量化</a:t>
            </a:r>
            <a:endParaRPr sz="1400"/>
          </a:p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中国基础教育阶段（小学—初中—高中）的英语词库跨学段发展缺乏实证数据</a:t>
            </a:r>
            <a:endParaRPr sz="1400"/>
          </a:p>
          <a:p>
            <a:pPr marL="0" indent="0">
              <a:lnSpc>
                <a:spcPct val="150000"/>
              </a:lnSpc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刺激词的词性、具体性、情感效价等属性如何调节发展，缺少系统考察</a:t>
            </a:r>
            <a:endParaRPr sz="1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87E7C5A-C917-4E24-86D3-D04826284A98}"/>
              </a:ext>
            </a:extLst>
          </p:cNvPr>
          <p:cNvSpPr>
            <a:spLocks noGrp="1"/>
          </p:cNvSpPr>
          <p:nvPr/>
        </p:nvSpPr>
        <p:spPr>
          <a:xfrm>
            <a:off x="457200" y="43891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613D35A-CB36-4C96-AC44-A98EA48334AE}"/>
              </a:ext>
            </a:extLst>
          </p:cNvPr>
          <p:cNvSpPr>
            <a:spLocks noGrp="1"/>
          </p:cNvSpPr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本研究从词汇表征、语义组织和网络整合三个维度，系统考察中国英语学习者心理词库的多维度发展特征</a:t>
            </a:r>
            <a:endParaRPr sz="12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0B8C4F-34AE-47D3-8E56-E79DF729B35C}"/>
              </a:ext>
            </a:extLst>
          </p:cNvPr>
          <p:cNvSpPr>
            <a:spLocks noGrp="1"/>
          </p:cNvSpPr>
          <p:nvPr/>
        </p:nvSpPr>
        <p:spPr>
          <a:xfrm>
            <a:off x="0" y="102870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4B446E-365E-40AE-B2F3-8C57F142C2D0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400" b="1" i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社会与政策背景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0B928F-3EBF-49BD-A31D-C776317E616C}"/>
              </a:ext>
            </a:extLst>
          </p:cNvPr>
          <p:cNvSpPr>
            <a:spLocks noGrp="1"/>
          </p:cNvSpPr>
          <p:nvPr/>
        </p:nvSpPr>
        <p:spPr>
          <a:xfrm>
            <a:off x="4762500" y="1200150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400" b="1" i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国际、技术与学术背景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779A16-5CC1-4883-B8B7-BD8F65AA1F8A}"/>
              </a:ext>
            </a:extLst>
          </p:cNvPr>
          <p:cNvSpPr>
            <a:spLocks noGrp="1"/>
          </p:cNvSpPr>
          <p:nvPr/>
        </p:nvSpPr>
        <p:spPr>
          <a:xfrm>
            <a:off x="457200" y="1562100"/>
            <a:ext cx="3905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marL="177800" indent="-101600" algn="l">
              <a:spcAft>
                <a:spcPts val="800"/>
              </a:spcAft>
              <a:buChar char="•"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人口结构变化：</a:t>
            </a:r>
            <a:r>
              <a:rPr sz="11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2025年出生人口为792万，低于2024年的954万。学龄人口变化使基础教育更强调质量、适配和个体发展。</a:t>
            </a:r>
          </a:p>
          <a:p>
            <a:pPr marL="177800" indent="-101600" algn="l">
              <a:spcAft>
                <a:spcPts val="800"/>
              </a:spcAft>
              <a:buChar char="•"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教育政策要求：</a:t>
            </a:r>
            <a:r>
              <a:rPr sz="11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《教育强国建设规划纲要（2024—2035年）》提出办强办优基础教育，并建立与人口变化相适应的资源配置机制。</a:t>
            </a:r>
          </a:p>
          <a:p>
            <a:pPr marL="177800" indent="-101600" algn="l">
              <a:spcAft>
                <a:spcPts val="800"/>
              </a:spcAft>
              <a:buChar char="•"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家庭与学校现实：</a:t>
            </a:r>
            <a:r>
              <a:rPr sz="11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少子化背景下，家庭对单个子女的教育质量、升学竞争力和未来发展投入更集中；中小学英语教学仍需处理考试要求与真实语言能力之间的张力。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B9CBE6-1A33-42AF-8C4A-D39AF968C270}"/>
              </a:ext>
            </a:extLst>
          </p:cNvPr>
          <p:cNvSpPr>
            <a:spLocks noGrp="1"/>
          </p:cNvSpPr>
          <p:nvPr/>
        </p:nvSpPr>
        <p:spPr>
          <a:xfrm>
            <a:off x="4762500" y="1562100"/>
            <a:ext cx="39243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07"/>
          </a:bodyPr>
          <a:lstStyle/>
          <a:p>
            <a:pPr algn="l">
              <a:lnSpc>
                <a:spcPct val="118000"/>
              </a:lnSpc>
              <a:buNone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AI时代的语言学习：</a:t>
            </a:r>
            <a:r>
              <a:rPr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生成式AI可即时提供词义、搭配和表达，但外部生成不等于学习者形成可独立提取、组织和调用的内部词汇知识。本研究以无AI支持的词汇联想任务测量三个维度，为判断AI辅助学习能否转化为稳定词汇能力提供基线。</a:t>
            </a:r>
          </a:p>
          <a:p>
            <a:pPr algn="l">
              <a:lnSpc>
                <a:spcPct val="118000"/>
              </a:lnSpc>
              <a:buNone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课程目标的变化：</a:t>
            </a:r>
            <a:r>
              <a:rPr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现行《义务教育英语课程标准（2022年版）》和《普通高中英语课程标准（2017年版2020年修订）》仍以英语学科核心素养为课程目标，强调语境中的理解、表达和语言运用。本研究把“会多少词”细化为能否提取、建立关系并灵活调用（教育部，2022；教育部，2020）。</a:t>
            </a:r>
          </a:p>
          <a:p>
            <a:pPr algn="l">
              <a:lnSpc>
                <a:spcPct val="118000"/>
              </a:lnSpc>
              <a:buNone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青少年发展的关键期：</a:t>
            </a:r>
            <a:r>
              <a:rPr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小学至高中横跨词形学习、语义深化和词汇网络重组阶段，心理词库的发展可能呈现阶段性和非线性。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DF91AF5-22D9-4A54-8D97-D7B68E2F9DC3}"/>
              </a:ext>
            </a:extLst>
          </p:cNvPr>
          <p:cNvSpPr>
            <a:spLocks noGrp="1"/>
          </p:cNvSpPr>
          <p:nvPr/>
        </p:nvSpPr>
        <p:spPr>
          <a:xfrm>
            <a:off x="457200" y="4191000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A451E2-3332-4B5F-937D-A82A2EA7F110}"/>
              </a:ext>
            </a:extLst>
          </p:cNvPr>
          <p:cNvSpPr>
            <a:spLocks noGrp="1"/>
          </p:cNvSpPr>
          <p:nvPr/>
        </p:nvSpPr>
        <p:spPr>
          <a:xfrm>
            <a:off x="647700" y="4362450"/>
            <a:ext cx="784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现实问题已从“学生记住多少词”转向“词汇能否被稳定提取、形成关系，并支持真实语言使用”。</a:t>
            </a:r>
          </a:p>
        </p:txBody>
      </p:sp>
    </p:spTree>
    <p:extLst>
      <p:ext uri="{BB962C8B-B14F-4D97-AF65-F5344CB8AC3E}">
        <p14:creationId xmlns:p14="http://schemas.microsoft.com/office/powerpoint/2010/main" val="2468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03B152-E393-4D29-A644-004B768BB6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49BA75-9AD2-4B71-90A2-03D9F6B8F8C1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F2A607-3122-4360-8F29-8255651179ED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01 · RESEARCH OVERVIEW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A27632-FA8A-482F-8B2D-68F45BFDF5F3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04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85FBE6-F502-472F-8D2A-916BAEA12E3A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待解决的问题与研究意义│ Research Gaps and Significance</a:t>
            </a:r>
            <a:endParaRPr sz="2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3DBFF0-3A8C-4A6B-B8D9-8651F80B69D8}"/>
              </a:ext>
            </a:extLst>
          </p:cNvPr>
          <p:cNvSpPr>
            <a:spLocks noGrp="1"/>
          </p:cNvSpPr>
          <p:nvPr/>
        </p:nvSpPr>
        <p:spPr>
          <a:xfrm>
            <a:off x="457200" y="1129485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67913E-B817-498A-A11F-AAD287EFE5D2}"/>
              </a:ext>
            </a:extLst>
          </p:cNvPr>
          <p:cNvSpPr>
            <a:spLocks noGrp="1"/>
          </p:cNvSpPr>
          <p:nvPr/>
        </p:nvSpPr>
        <p:spPr>
          <a:xfrm>
            <a:off x="457200" y="1129485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RQ1</a:t>
            </a:r>
            <a:endParaRPr sz="1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423D985-430F-49DC-B30B-89BEA26B6664}"/>
              </a:ext>
            </a:extLst>
          </p:cNvPr>
          <p:cNvSpPr>
            <a:spLocks noGrp="1"/>
          </p:cNvSpPr>
          <p:nvPr/>
        </p:nvSpPr>
        <p:spPr>
          <a:xfrm>
            <a:off x="1188720" y="1083765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 i="1">
                <a:latin typeface="Calibri"/>
                <a:ea typeface="Calibri"/>
                <a:cs typeface="Calibri"/>
              </a:rPr>
              <a:t>How does the L2 English mental lexicon develop across Grade 6, Grade 8, and Grade 11 in terms of lexical representation, semantic organization, and network integration?</a:t>
            </a:r>
            <a:endParaRPr sz="1400" b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384511E-9F1C-4631-A283-8C215EB450BD}"/>
              </a:ext>
            </a:extLst>
          </p:cNvPr>
          <p:cNvSpPr>
            <a:spLocks noGrp="1"/>
          </p:cNvSpPr>
          <p:nvPr/>
        </p:nvSpPr>
        <p:spPr>
          <a:xfrm>
            <a:off x="1188720" y="148589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三个年级的英语心理词库在词汇表征、语义组织和网络整合三个维度上呈现怎样的发展特征？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56EE7A8-D4B8-4DD5-8244-B531A64701A1}"/>
              </a:ext>
            </a:extLst>
          </p:cNvPr>
          <p:cNvSpPr>
            <a:spLocks noGrp="1"/>
          </p:cNvSpPr>
          <p:nvPr/>
        </p:nvSpPr>
        <p:spPr>
          <a:xfrm>
            <a:off x="457200" y="1989845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3C6F770-5189-4526-8B69-69FB8D8EF4EB}"/>
              </a:ext>
            </a:extLst>
          </p:cNvPr>
          <p:cNvSpPr>
            <a:spLocks noGrp="1"/>
          </p:cNvSpPr>
          <p:nvPr/>
        </p:nvSpPr>
        <p:spPr>
          <a:xfrm>
            <a:off x="457200" y="1989845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RQ2</a:t>
            </a:r>
            <a:endParaRPr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A643AFE-D962-4FAC-864D-5EC0FA466C83}"/>
              </a:ext>
            </a:extLst>
          </p:cNvPr>
          <p:cNvSpPr>
            <a:spLocks noGrp="1"/>
          </p:cNvSpPr>
          <p:nvPr/>
        </p:nvSpPr>
        <p:spPr>
          <a:xfrm>
            <a:off x="1188720" y="1944125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lvl1pPr indent="0">
              <a:buNone/>
              <a:defRPr sz="1400" b="1" i="1">
                <a:latin typeface="Calibri"/>
                <a:ea typeface="Calibri"/>
                <a:cs typeface="Calibri"/>
              </a:defRPr>
            </a:lvl1pPr>
          </a:lstStyle>
          <a:p>
            <a:r>
              <a:t>How do grade level and cue-level lexical properties (word class, concreteness, and valence) affect lexical representation?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F01F0A3-EB33-49F6-897A-2D5877B3580F}"/>
              </a:ext>
            </a:extLst>
          </p:cNvPr>
          <p:cNvSpPr>
            <a:spLocks noGrp="1"/>
          </p:cNvSpPr>
          <p:nvPr/>
        </p:nvSpPr>
        <p:spPr>
          <a:xfrm>
            <a:off x="1188720" y="233378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年级与刺激词属性（词类、具体性、效价）如何共同影响词汇表征的发展？</a:t>
            </a:r>
            <a:endParaRPr sz="12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42E2410-5562-431C-A188-FC8A1C84DC9B}"/>
              </a:ext>
            </a:extLst>
          </p:cNvPr>
          <p:cNvSpPr>
            <a:spLocks noGrp="1"/>
          </p:cNvSpPr>
          <p:nvPr/>
        </p:nvSpPr>
        <p:spPr>
          <a:xfrm>
            <a:off x="457200" y="2761891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AE514EA-D891-4427-BBC1-32E7949CE899}"/>
              </a:ext>
            </a:extLst>
          </p:cNvPr>
          <p:cNvSpPr>
            <a:spLocks noGrp="1"/>
          </p:cNvSpPr>
          <p:nvPr/>
        </p:nvSpPr>
        <p:spPr>
          <a:xfrm>
            <a:off x="457200" y="2761891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RQ3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1D00B39-5314-45A9-AC5E-57CD52B559F9}"/>
              </a:ext>
            </a:extLst>
          </p:cNvPr>
          <p:cNvSpPr>
            <a:spLocks noGrp="1"/>
          </p:cNvSpPr>
          <p:nvPr/>
        </p:nvSpPr>
        <p:spPr>
          <a:xfrm>
            <a:off x="1188720" y="2716171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lvl1pPr indent="0">
              <a:buNone/>
              <a:defRPr sz="1400" b="1" i="1">
                <a:latin typeface="Calibri"/>
                <a:ea typeface="Calibri"/>
                <a:cs typeface="Calibri"/>
              </a:defRPr>
            </a:lvl1pPr>
          </a:lstStyle>
          <a:p>
            <a:r>
              <a:t>How do grade level and cue-level lexical properties influence semantic organization?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FC158BA-7EEE-4A5C-B8EF-8AAD28D2748E}"/>
              </a:ext>
            </a:extLst>
          </p:cNvPr>
          <p:cNvSpPr>
            <a:spLocks noGrp="1"/>
          </p:cNvSpPr>
          <p:nvPr/>
        </p:nvSpPr>
        <p:spPr>
          <a:xfrm>
            <a:off x="1188720" y="3081931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年级与刺激词属性如何共同影响语义组织的发展？</a:t>
            </a:r>
            <a:endParaRPr sz="12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89B2ECC-FC19-4B15-93B6-196BFE4161BC}"/>
              </a:ext>
            </a:extLst>
          </p:cNvPr>
          <p:cNvSpPr>
            <a:spLocks noGrp="1"/>
          </p:cNvSpPr>
          <p:nvPr/>
        </p:nvSpPr>
        <p:spPr>
          <a:xfrm>
            <a:off x="457200" y="3497575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47F4137-B597-449E-AC5A-BBF738805325}"/>
              </a:ext>
            </a:extLst>
          </p:cNvPr>
          <p:cNvSpPr>
            <a:spLocks noGrp="1"/>
          </p:cNvSpPr>
          <p:nvPr/>
        </p:nvSpPr>
        <p:spPr>
          <a:xfrm>
            <a:off x="457200" y="3497575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RQ4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5D532E9-59AE-48CD-97B8-B783AD3F8F2A}"/>
              </a:ext>
            </a:extLst>
          </p:cNvPr>
          <p:cNvSpPr>
            <a:spLocks noGrp="1"/>
          </p:cNvSpPr>
          <p:nvPr/>
        </p:nvSpPr>
        <p:spPr>
          <a:xfrm>
            <a:off x="1188720" y="3451855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lvl1pPr indent="0">
              <a:buNone/>
              <a:defRPr sz="1400" b="1" i="1">
                <a:latin typeface="Calibri"/>
                <a:ea typeface="Calibri"/>
                <a:cs typeface="Calibri"/>
              </a:defRPr>
            </a:lvl1pPr>
          </a:lstStyle>
          <a:p>
            <a:r>
              <a:t>How do grade level and cue properties influence individual-level network integration, and how do aggregate networks differ across grades?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ACFCE1D-AFDB-4E05-A060-C61243276A4C}"/>
              </a:ext>
            </a:extLst>
          </p:cNvPr>
          <p:cNvSpPr>
            <a:spLocks noGrp="1"/>
          </p:cNvSpPr>
          <p:nvPr/>
        </p:nvSpPr>
        <p:spPr>
          <a:xfrm>
            <a:off x="1188720" y="3760359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年级与刺激词属性如何影响个体层面网络整合，各年级群体网络的结构有何差异？</a:t>
            </a:r>
            <a:endParaRPr sz="12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7650D8B-2036-4BC2-9612-F5E3E020CD7B}"/>
              </a:ext>
            </a:extLst>
          </p:cNvPr>
          <p:cNvSpPr>
            <a:spLocks noGrp="1"/>
          </p:cNvSpPr>
          <p:nvPr/>
        </p:nvSpPr>
        <p:spPr>
          <a:xfrm>
            <a:off x="457200" y="4222860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B1F3979-BC96-49FD-A540-758DE586E01C}"/>
              </a:ext>
            </a:extLst>
          </p:cNvPr>
          <p:cNvSpPr>
            <a:spLocks noGrp="1"/>
          </p:cNvSpPr>
          <p:nvPr/>
        </p:nvSpPr>
        <p:spPr>
          <a:xfrm>
            <a:off x="457200" y="422286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RQ5</a:t>
            </a:r>
            <a:endParaRPr sz="10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0E1E7FC-A773-4871-B2BB-342335264CCC}"/>
              </a:ext>
            </a:extLst>
          </p:cNvPr>
          <p:cNvSpPr>
            <a:spLocks noGrp="1"/>
          </p:cNvSpPr>
          <p:nvPr/>
        </p:nvSpPr>
        <p:spPr>
          <a:xfrm>
            <a:off x="1188720" y="4177140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lvl1pPr indent="0">
              <a:buNone/>
              <a:defRPr sz="1400" b="1" i="1">
                <a:latin typeface="Calibri"/>
                <a:ea typeface="Calibri"/>
                <a:cs typeface="Calibri"/>
              </a:defRPr>
            </a:lvl1pPr>
          </a:lstStyle>
          <a:p>
            <a:r>
              <a:t>How can the findings across the three dimensions be integrated into a coherent theoretical account?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E42969A-5C4B-4DD5-B457-3424DD8C87EB}"/>
              </a:ext>
            </a:extLst>
          </p:cNvPr>
          <p:cNvSpPr>
            <a:spLocks noGrp="1"/>
          </p:cNvSpPr>
          <p:nvPr/>
        </p:nvSpPr>
        <p:spPr>
          <a:xfrm>
            <a:off x="1188720" y="4457499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三个维度的研究发现如何整合为一个连贯的理论解释？</a:t>
            </a:r>
            <a:endParaRPr sz="12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C5E2C70-C6C0-4A31-9DE4-114FA7D3FF18}"/>
              </a:ext>
            </a:extLst>
          </p:cNvPr>
          <p:cNvSpPr>
            <a:spLocks noGrp="1"/>
          </p:cNvSpPr>
          <p:nvPr/>
        </p:nvSpPr>
        <p:spPr>
          <a:xfrm>
            <a:off x="0" y="102870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A47AF7F-D081-4F41-9D44-04FA373D7D3B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394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400" b="1" i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待解决的问题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2EE8E61-8016-4ABC-81C8-B00A6BA46FA2}"/>
              </a:ext>
            </a:extLst>
          </p:cNvPr>
          <p:cNvSpPr>
            <a:spLocks noGrp="1"/>
          </p:cNvSpPr>
          <p:nvPr/>
        </p:nvSpPr>
        <p:spPr>
          <a:xfrm>
            <a:off x="4953000" y="1200150"/>
            <a:ext cx="373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400" b="1" i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研究意义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67DE43C-EF4F-466A-BE7C-57AD603C7043}"/>
              </a:ext>
            </a:extLst>
          </p:cNvPr>
          <p:cNvSpPr>
            <a:spLocks noGrp="1"/>
          </p:cNvSpPr>
          <p:nvPr/>
        </p:nvSpPr>
        <p:spPr>
          <a:xfrm>
            <a:off x="457200" y="1581150"/>
            <a:ext cx="4057650" cy="2714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marL="177800" indent="-101600" algn="l">
              <a:spcAft>
                <a:spcPts val="700"/>
              </a:spcAft>
              <a:buChar char="•"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发展证据不足：</a:t>
            </a:r>
            <a:r>
              <a:rPr sz="11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既有L2心理词库研究多聚焦成人、大学生或单一学段，缺少小学、初中和高中之间可比较的发展证据。</a:t>
            </a:r>
          </a:p>
          <a:p>
            <a:pPr marL="177800" indent="-101600" algn="l">
              <a:spcAft>
                <a:spcPts val="700"/>
              </a:spcAft>
              <a:buChar char="•"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维度彼此割裂：</a:t>
            </a:r>
            <a:r>
              <a:rPr sz="11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词汇量、反应类型和网络结构往往分开研究，尚不能解释表征、语义组织与网络整合如何共同发展。</a:t>
            </a:r>
          </a:p>
          <a:p>
            <a:pPr marL="177800" indent="-101600" algn="l">
              <a:spcAft>
                <a:spcPts val="700"/>
              </a:spcAft>
              <a:buChar char="•"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个体差异被遮蔽：</a:t>
            </a:r>
            <a:r>
              <a:rPr sz="11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传统群体网络只能比较年级总体结构，难以检验年龄和刺激词属性如何作用于每名学习者的反应。</a:t>
            </a:r>
          </a:p>
          <a:p>
            <a:pPr marL="177800" indent="-101600" algn="l">
              <a:spcAft>
                <a:spcPts val="700"/>
              </a:spcAft>
              <a:buChar char="•"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刺激词作用不清：</a:t>
            </a:r>
            <a:r>
              <a:rPr sz="11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词类、具体性和情感效价可能影响不同发展维度，但青少年EFL学习者中的系统证据仍然有限。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FA8DCAB-5DFE-4860-8C3F-C57F6D299D33}"/>
              </a:ext>
            </a:extLst>
          </p:cNvPr>
          <p:cNvSpPr>
            <a:spLocks noGrp="1"/>
          </p:cNvSpPr>
          <p:nvPr/>
        </p:nvSpPr>
        <p:spPr>
          <a:xfrm>
            <a:off x="4857750" y="1504950"/>
            <a:ext cx="3829050" cy="2857500"/>
          </a:xfrm>
          <a:prstGeom prst="roundRect">
            <a:avLst>
              <a:gd name="adj" fmla="val 2667"/>
            </a:avLst>
          </a:prstGeom>
          <a:solidFill>
            <a:srgbClr val="F3F6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FB76AB0-44B3-4A5A-A684-5B0A6C93030A}"/>
              </a:ext>
            </a:extLst>
          </p:cNvPr>
          <p:cNvSpPr>
            <a:spLocks noGrp="1"/>
          </p:cNvSpPr>
          <p:nvPr/>
        </p:nvSpPr>
        <p:spPr>
          <a:xfrm>
            <a:off x="5067300" y="1676400"/>
            <a:ext cx="34099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spcAft>
                <a:spcPts val="650"/>
              </a:spcAft>
              <a:buNone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理论意义：</a:t>
            </a:r>
            <a:r>
              <a:rPr sz="11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建立青少年L2心理词库的多维发展解释，识别不同维度之间同步、错位及非线性变化。</a:t>
            </a:r>
          </a:p>
          <a:p>
            <a:pPr algn="l">
              <a:spcAft>
                <a:spcPts val="650"/>
              </a:spcAft>
              <a:buNone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方法意义：</a:t>
            </a:r>
            <a:r>
              <a:rPr sz="11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结合词汇联想、MMAF分类、个体层面网络指标和混合效应模型，使被试与刺激词差异进入同一分析框架。</a:t>
            </a:r>
          </a:p>
          <a:p>
            <a:pPr algn="l">
              <a:spcAft>
                <a:spcPts val="650"/>
              </a:spcAft>
              <a:buNone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现实意义：</a:t>
            </a:r>
            <a:r>
              <a:rPr sz="11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为分学段词汇深度教学、学习诊断及AI辅助个性化支持提供发展依据，但教学效果仍需后续干预研究检验。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8BB9A49-D877-4B0B-93D1-66A9900CE46D}"/>
              </a:ext>
            </a:extLst>
          </p:cNvPr>
          <p:cNvSpPr>
            <a:spLocks noGrp="1"/>
          </p:cNvSpPr>
          <p:nvPr/>
        </p:nvSpPr>
        <p:spPr>
          <a:xfrm>
            <a:off x="457200" y="4495800"/>
            <a:ext cx="8229600" cy="400050"/>
          </a:xfrm>
          <a:prstGeom prst="roundRect">
            <a:avLst>
              <a:gd name="adj" fmla="val 19048"/>
            </a:avLst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D4DA906-FA2C-40D1-B4D5-E14A44B46963}"/>
              </a:ext>
            </a:extLst>
          </p:cNvPr>
          <p:cNvSpPr>
            <a:spLocks noGrp="1"/>
          </p:cNvSpPr>
          <p:nvPr/>
        </p:nvSpPr>
        <p:spPr>
          <a:xfrm>
            <a:off x="666750" y="45910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150" b="1" i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核心缺口：缺少一个能够同时解释年龄、词汇属性和个体差异的多维发展框架。</a:t>
            </a:r>
          </a:p>
        </p:txBody>
      </p:sp>
    </p:spTree>
    <p:extLst>
      <p:ext uri="{BB962C8B-B14F-4D97-AF65-F5344CB8AC3E}">
        <p14:creationId xmlns:p14="http://schemas.microsoft.com/office/powerpoint/2010/main" val="543263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E7458735-7981-4151-9E1B-301EDBA779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1E70D1-5BBB-43AF-B5F5-A5ABB1C49C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6608D3-92F9-4152-9AD3-F3526B86C77F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73B699-3705-457F-BC3A-6AE2A5A22608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2E6DA4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01 · RESEARCH OVERVIEW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73D635-7489-4656-90B5-356F23A77866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100" b="1" i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51C7C6-3D35-4C10-B5A7-193D5F772ED4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822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研究目的与研究问题│ Purpose and Research Questions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3FA7990-167A-4F2C-A6EB-5A9F6807638D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8229600" cy="514350"/>
          </a:xfrm>
          <a:prstGeom prst="roundRect">
            <a:avLst>
              <a:gd name="adj" fmla="val 14815"/>
            </a:avLst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5FC5B7-56E4-4E3C-83F5-4CE145BBCE71}"/>
              </a:ext>
            </a:extLst>
          </p:cNvPr>
          <p:cNvSpPr>
            <a:spLocks noGrp="1"/>
          </p:cNvSpPr>
          <p:nvPr/>
        </p:nvSpPr>
        <p:spPr>
          <a:xfrm>
            <a:off x="647700" y="1200150"/>
            <a:ext cx="784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150" b="1" i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研究目的：系统考察6、8、11年级中国EFL学习者心理词库在三个维度上的发展，并检验词类、具体性和情感效价的调节作用。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9CAF777-C9C2-4729-BEA6-3EEB6B500845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594360" cy="274320"/>
          </a:xfrm>
          <a:prstGeom prst="roundRect">
            <a:avLst>
              <a:gd name="adj" fmla="val 27778"/>
            </a:avLst>
          </a:prstGeom>
          <a:solidFill>
            <a:srgbClr val="1B3A5C"/>
          </a:solidFill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RQ1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7C8EB1-0D9F-41FA-BA3A-597BC59CA465}"/>
              </a:ext>
            </a:extLst>
          </p:cNvPr>
          <p:cNvSpPr>
            <a:spLocks noGrp="1"/>
          </p:cNvSpPr>
          <p:nvPr/>
        </p:nvSpPr>
        <p:spPr>
          <a:xfrm>
            <a:off x="1200150" y="1657350"/>
            <a:ext cx="7486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How does the L2 English mental lexicon develop across Grades 6, 8, and 11 in lexical representation, semantic organization, and network integration?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95728F-3A58-4EC4-B169-EE16798EFC23}"/>
              </a:ext>
            </a:extLst>
          </p:cNvPr>
          <p:cNvSpPr>
            <a:spLocks noGrp="1"/>
          </p:cNvSpPr>
          <p:nvPr/>
        </p:nvSpPr>
        <p:spPr>
          <a:xfrm>
            <a:off x="1200150" y="2019300"/>
            <a:ext cx="7486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三个年级的英语心理词库在三个维度上呈现怎样的发展特征？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6CACDDA-7236-4CDF-9ADC-ABC310DFB8AB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594360" cy="274320"/>
          </a:xfrm>
          <a:prstGeom prst="roundRect">
            <a:avLst>
              <a:gd name="adj" fmla="val 27778"/>
            </a:avLst>
          </a:prstGeom>
          <a:solidFill>
            <a:srgbClr val="1B3A5C"/>
          </a:solidFill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RQ2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E50375-1E25-4DB5-A509-0CE4AED8DFAE}"/>
              </a:ext>
            </a:extLst>
          </p:cNvPr>
          <p:cNvSpPr>
            <a:spLocks noGrp="1"/>
          </p:cNvSpPr>
          <p:nvPr/>
        </p:nvSpPr>
        <p:spPr>
          <a:xfrm>
            <a:off x="1200150" y="2305050"/>
            <a:ext cx="7486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How do grade level and cue properties affect lexical representation?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8449DA-E459-47D5-899B-AF59AB8A0594}"/>
              </a:ext>
            </a:extLst>
          </p:cNvPr>
          <p:cNvSpPr>
            <a:spLocks noGrp="1"/>
          </p:cNvSpPr>
          <p:nvPr/>
        </p:nvSpPr>
        <p:spPr>
          <a:xfrm>
            <a:off x="1200150" y="2552700"/>
            <a:ext cx="7486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年级与词类、具体性和效价如何共同影响词汇表征？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240EF52-6E43-4F3D-B62E-684EF2B5B9AB}"/>
              </a:ext>
            </a:extLst>
          </p:cNvPr>
          <p:cNvSpPr>
            <a:spLocks noGrp="1"/>
          </p:cNvSpPr>
          <p:nvPr/>
        </p:nvSpPr>
        <p:spPr>
          <a:xfrm>
            <a:off x="457200" y="2876550"/>
            <a:ext cx="594360" cy="274320"/>
          </a:xfrm>
          <a:prstGeom prst="roundRect">
            <a:avLst>
              <a:gd name="adj" fmla="val 27778"/>
            </a:avLst>
          </a:prstGeom>
          <a:solidFill>
            <a:srgbClr val="1B3A5C"/>
          </a:solidFill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RQ3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208C64-7270-459C-B46A-DEA761D2B3E5}"/>
              </a:ext>
            </a:extLst>
          </p:cNvPr>
          <p:cNvSpPr>
            <a:spLocks noGrp="1"/>
          </p:cNvSpPr>
          <p:nvPr/>
        </p:nvSpPr>
        <p:spPr>
          <a:xfrm>
            <a:off x="1200150" y="2838450"/>
            <a:ext cx="7486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How do grade level and cue properties affect semantic organization?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08C493D-EF7C-4AC4-8620-203AE58D3103}"/>
              </a:ext>
            </a:extLst>
          </p:cNvPr>
          <p:cNvSpPr>
            <a:spLocks noGrp="1"/>
          </p:cNvSpPr>
          <p:nvPr/>
        </p:nvSpPr>
        <p:spPr>
          <a:xfrm>
            <a:off x="1200150" y="3086100"/>
            <a:ext cx="7486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年级与刺激词属性如何共同影响语义组织？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C9B3A5C-E573-4C58-AEED-DB976A98ED62}"/>
              </a:ext>
            </a:extLst>
          </p:cNvPr>
          <p:cNvSpPr>
            <a:spLocks noGrp="1"/>
          </p:cNvSpPr>
          <p:nvPr/>
        </p:nvSpPr>
        <p:spPr>
          <a:xfrm>
            <a:off x="457200" y="3409950"/>
            <a:ext cx="594360" cy="274320"/>
          </a:xfrm>
          <a:prstGeom prst="roundRect">
            <a:avLst>
              <a:gd name="adj" fmla="val 27778"/>
            </a:avLst>
          </a:prstGeom>
          <a:solidFill>
            <a:srgbClr val="1B3A5C"/>
          </a:solidFill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RQ4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CBE9EBD-FB3F-45E0-BF51-91317D9DF15A}"/>
              </a:ext>
            </a:extLst>
          </p:cNvPr>
          <p:cNvSpPr>
            <a:spLocks noGrp="1"/>
          </p:cNvSpPr>
          <p:nvPr/>
        </p:nvSpPr>
        <p:spPr>
          <a:xfrm>
            <a:off x="1200150" y="3371850"/>
            <a:ext cx="7486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How do grade level and cue properties affect individual-level network integration, and how do aggregate networks differ across grades?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73AEE9-50A9-44B2-A4D3-3F7CA0C3970E}"/>
              </a:ext>
            </a:extLst>
          </p:cNvPr>
          <p:cNvSpPr>
            <a:spLocks noGrp="1"/>
          </p:cNvSpPr>
          <p:nvPr/>
        </p:nvSpPr>
        <p:spPr>
          <a:xfrm>
            <a:off x="1200150" y="3733800"/>
            <a:ext cx="7486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年级与刺激词属性如何影响个体层面网络整合，各年级群体网络有何差异？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F1305B-F1F6-47CE-AEE6-26BF43B8EA32}"/>
              </a:ext>
            </a:extLst>
          </p:cNvPr>
          <p:cNvSpPr>
            <a:spLocks noGrp="1"/>
          </p:cNvSpPr>
          <p:nvPr/>
        </p:nvSpPr>
        <p:spPr>
          <a:xfrm>
            <a:off x="457200" y="4057650"/>
            <a:ext cx="594360" cy="274320"/>
          </a:xfrm>
          <a:prstGeom prst="roundRect">
            <a:avLst>
              <a:gd name="adj" fmla="val 27778"/>
            </a:avLst>
          </a:prstGeom>
          <a:solidFill>
            <a:srgbClr val="1B3A5C"/>
          </a:solidFill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RQ5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1116817-5AB0-4B85-A7B8-2AC844AE7014}"/>
              </a:ext>
            </a:extLst>
          </p:cNvPr>
          <p:cNvSpPr>
            <a:spLocks noGrp="1"/>
          </p:cNvSpPr>
          <p:nvPr/>
        </p:nvSpPr>
        <p:spPr>
          <a:xfrm>
            <a:off x="1200150" y="4019550"/>
            <a:ext cx="7486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5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How can findings across the three dimensions be integrated into a coherent theoretical account?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874D3D3-5F1D-4AF3-A91C-8D4442BA7ABD}"/>
              </a:ext>
            </a:extLst>
          </p:cNvPr>
          <p:cNvSpPr>
            <a:spLocks noGrp="1"/>
          </p:cNvSpPr>
          <p:nvPr/>
        </p:nvSpPr>
        <p:spPr>
          <a:xfrm>
            <a:off x="1200150" y="4267200"/>
            <a:ext cx="7486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三个维度的发现如何整合为连贯的理论解释？</a:t>
            </a:r>
          </a:p>
        </p:txBody>
      </p:sp>
    </p:spTree>
    <p:extLst>
      <p:ext uri="{BB962C8B-B14F-4D97-AF65-F5344CB8AC3E}">
        <p14:creationId xmlns:p14="http://schemas.microsoft.com/office/powerpoint/2010/main" val="159025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2ED730-84CA-4B65-9C77-4F407274AC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55F131D-7DC1-4416-9245-EDEAFE5085DD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00AC70-8CC1-4574-9D5B-5FFAD938C9E0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02 · METHOD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EFA75F-F0DE-4197-B339-C36BEAB7F3CE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06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1D81E77-285E-4A7F-B1A2-A1A6F43C8F3E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研究设计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被试与数据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379B7C8-125E-41AC-AC70-B6BB79346270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横截面发展设计（cross-sectional developmental design），华东地区某教育集团三个学段</a:t>
            </a:r>
            <a:endParaRPr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6EE0F44-AF7B-4D78-923B-44358238DF03}"/>
              </a:ext>
            </a:extLst>
          </p:cNvPr>
          <p:cNvSpPr>
            <a:spLocks noGrp="1"/>
          </p:cNvSpPr>
          <p:nvPr/>
        </p:nvSpPr>
        <p:spPr>
          <a:xfrm>
            <a:off x="457200" y="150876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466B734-339C-41EF-A8BC-E53FE025CDF3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小六 Grade 6</a:t>
            </a:r>
            <a:endParaRPr sz="13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CEF81CD-9C23-4C6F-8C11-A54870A1393C}"/>
              </a:ext>
            </a:extLst>
          </p:cNvPr>
          <p:cNvSpPr>
            <a:spLocks noGrp="1"/>
          </p:cNvSpPr>
          <p:nvPr/>
        </p:nvSpPr>
        <p:spPr>
          <a:xfrm>
            <a:off x="457200" y="19659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N = 91</a:t>
            </a:r>
            <a:endParaRPr sz="2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BC8E1DB-7140-40F7-AA57-02A4378B8922}"/>
              </a:ext>
            </a:extLst>
          </p:cNvPr>
          <p:cNvSpPr>
            <a:spLocks noGrp="1"/>
          </p:cNvSpPr>
          <p:nvPr/>
        </p:nvSpPr>
        <p:spPr>
          <a:xfrm>
            <a:off x="457200" y="237744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平均 11.6 岁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约 4 年英语学习</a:t>
            </a:r>
            <a:endParaRPr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334F3A0-38EF-45A9-8221-7ED77E0C9692}"/>
              </a:ext>
            </a:extLst>
          </p:cNvPr>
          <p:cNvSpPr>
            <a:spLocks noGrp="1"/>
          </p:cNvSpPr>
          <p:nvPr/>
        </p:nvSpPr>
        <p:spPr>
          <a:xfrm>
            <a:off x="3291840" y="150876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5F7F9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0FDBC4C-9676-43A0-A8C6-F03A38C36918}"/>
              </a:ext>
            </a:extLst>
          </p:cNvPr>
          <p:cNvSpPr>
            <a:spLocks noGrp="1"/>
          </p:cNvSpPr>
          <p:nvPr/>
        </p:nvSpPr>
        <p:spPr>
          <a:xfrm>
            <a:off x="3291840" y="16002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初二 Grade 8</a:t>
            </a:r>
            <a:endParaRPr sz="13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27C7258-B9C8-4BEF-8764-12D0F8313C67}"/>
              </a:ext>
            </a:extLst>
          </p:cNvPr>
          <p:cNvSpPr>
            <a:spLocks noGrp="1"/>
          </p:cNvSpPr>
          <p:nvPr/>
        </p:nvSpPr>
        <p:spPr>
          <a:xfrm>
            <a:off x="3291840" y="19659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N = 87</a:t>
            </a:r>
            <a:endParaRPr sz="2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FE48231-46C2-49DE-89E3-DF9A8D6B5682}"/>
              </a:ext>
            </a:extLst>
          </p:cNvPr>
          <p:cNvSpPr>
            <a:spLocks noGrp="1"/>
          </p:cNvSpPr>
          <p:nvPr/>
        </p:nvSpPr>
        <p:spPr>
          <a:xfrm>
            <a:off x="3291840" y="237744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平均 13.5 岁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约 6 年英语学习</a:t>
            </a:r>
            <a:endParaRPr sz="12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A2D30A5-021E-4681-8E08-6D5D542A7AA3}"/>
              </a:ext>
            </a:extLst>
          </p:cNvPr>
          <p:cNvSpPr>
            <a:spLocks noGrp="1"/>
          </p:cNvSpPr>
          <p:nvPr/>
        </p:nvSpPr>
        <p:spPr>
          <a:xfrm>
            <a:off x="6126480" y="150876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157B20D-06F4-4530-9218-A4EB19543D66}"/>
              </a:ext>
            </a:extLst>
          </p:cNvPr>
          <p:cNvSpPr>
            <a:spLocks noGrp="1"/>
          </p:cNvSpPr>
          <p:nvPr/>
        </p:nvSpPr>
        <p:spPr>
          <a:xfrm>
            <a:off x="6126480" y="16002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高二 Grade 11</a:t>
            </a:r>
            <a:endParaRPr sz="13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5528578-318F-4F80-87A4-AB13625BF4EC}"/>
              </a:ext>
            </a:extLst>
          </p:cNvPr>
          <p:cNvSpPr>
            <a:spLocks noGrp="1"/>
          </p:cNvSpPr>
          <p:nvPr/>
        </p:nvSpPr>
        <p:spPr>
          <a:xfrm>
            <a:off x="6126480" y="19659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N = 83</a:t>
            </a:r>
            <a:endParaRPr sz="20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682293D-85AC-483E-9610-E6AC4374E046}"/>
              </a:ext>
            </a:extLst>
          </p:cNvPr>
          <p:cNvSpPr>
            <a:spLocks noGrp="1"/>
          </p:cNvSpPr>
          <p:nvPr/>
        </p:nvSpPr>
        <p:spPr>
          <a:xfrm>
            <a:off x="6126480" y="237744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平均 16.5 岁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约 9 年英语学习</a:t>
            </a:r>
            <a:endParaRPr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1A6FDF2-D1E1-4A98-8071-7392A4F5A711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6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261</a:t>
            </a:r>
            <a:endParaRPr sz="26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469FFC3-32A9-4ED3-91DE-4CB1A165EAAA}"/>
              </a:ext>
            </a:extLst>
          </p:cNvPr>
          <p:cNvSpPr>
            <a:spLocks noGrp="1"/>
          </p:cNvSpPr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名学生</a:t>
            </a:r>
            <a:endParaRPr sz="11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8FECDF3-CB4F-4FB9-9285-6A3DDA78EE51}"/>
              </a:ext>
            </a:extLst>
          </p:cNvPr>
          <p:cNvSpPr>
            <a:spLocks noGrp="1"/>
          </p:cNvSpPr>
          <p:nvPr/>
        </p:nvSpPr>
        <p:spPr>
          <a:xfrm>
            <a:off x="2606040" y="34290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6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9,396</a:t>
            </a:r>
            <a:endParaRPr sz="2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C8C073C-E5CB-4491-B9BF-8377234C7816}"/>
              </a:ext>
            </a:extLst>
          </p:cNvPr>
          <p:cNvSpPr>
            <a:spLocks noGrp="1"/>
          </p:cNvSpPr>
          <p:nvPr/>
        </p:nvSpPr>
        <p:spPr>
          <a:xfrm>
            <a:off x="2606040" y="3931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被试 × 刺激词 试次</a:t>
            </a:r>
            <a:endParaRPr sz="11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F8F26E9-1DBD-4CF9-B6A4-1DE67833C813}"/>
              </a:ext>
            </a:extLst>
          </p:cNvPr>
          <p:cNvSpPr>
            <a:spLocks noGrp="1"/>
          </p:cNvSpPr>
          <p:nvPr/>
        </p:nvSpPr>
        <p:spPr>
          <a:xfrm>
            <a:off x="4754880" y="34290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6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2,236</a:t>
            </a:r>
            <a:endParaRPr sz="26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4BDAA78-3BAA-44A0-AD1F-30DECC5FC8DB}"/>
              </a:ext>
            </a:extLst>
          </p:cNvPr>
          <p:cNvSpPr>
            <a:spLocks noGrp="1"/>
          </p:cNvSpPr>
          <p:nvPr/>
        </p:nvSpPr>
        <p:spPr>
          <a:xfrm>
            <a:off x="4754880" y="3931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无法编码反应</a:t>
            </a:r>
            <a:endParaRPr sz="11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2F9388A-71F8-485E-A3DB-DF636F5861A6}"/>
              </a:ext>
            </a:extLst>
          </p:cNvPr>
          <p:cNvSpPr>
            <a:spLocks noGrp="1"/>
          </p:cNvSpPr>
          <p:nvPr/>
        </p:nvSpPr>
        <p:spPr>
          <a:xfrm>
            <a:off x="6903720" y="34290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6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25,952</a:t>
            </a:r>
            <a:endParaRPr sz="26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D085380-B19B-478F-A6FE-4F9337D185DF}"/>
              </a:ext>
            </a:extLst>
          </p:cNvPr>
          <p:cNvSpPr>
            <a:spLocks noGrp="1"/>
          </p:cNvSpPr>
          <p:nvPr/>
        </p:nvSpPr>
        <p:spPr>
          <a:xfrm>
            <a:off x="6903720" y="3931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可编码反应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1667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11C69B-77CB-4BBA-84F7-53396D2835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42A0FE-6804-4AAF-81AE-20C1249C5D10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FF9BC6-30A4-4950-9F1B-08B38ACC831E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02 · METHOD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54EF1E-A758-4F26-9294-B5D0F3254915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07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2CFADE-F671-4431-878C-F2C22FB94CBD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刺激词与任务设计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Materials &amp; Task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B604270-0527-47B0-94E1-357B9E2C16F4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线索词：72 个英语单词</a:t>
            </a:r>
            <a:endParaRPr sz="1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A9F084B-FF69-48C8-9C0B-8FCD8178F47C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4114800" cy="2743200"/>
          </a:xfrm>
          <a:prstGeom prst="rect">
            <a:avLst/>
          </a:prstGeom>
          <a:noFill/>
        </p:spPr>
        <p:txBody>
          <a:bodyPr wrap="square" lIns="0" tIns="63500" rIns="0" bIns="0" anchor="t"/>
          <a:lstStyle/>
          <a:p>
            <a:pPr marL="0" indent="0">
              <a:spcAft>
                <a:spcPts val="400"/>
              </a:spcAft>
              <a:buNone/>
            </a:pPr>
            <a:r>
              <a:rPr sz="1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48 个情感词 (affective words)</a:t>
            </a:r>
            <a:endParaRPr sz="1400"/>
          </a:p>
          <a:p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具体性（具体 vs. 抽象）× 效价（积极 vs. 消极）</a:t>
            </a:r>
          </a:p>
          <a:p>
            <a:pPr>
              <a:spcAft>
                <a:spcPts val="800"/>
              </a:spcAft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× 词性（名词、动词、形容词）</a:t>
            </a:r>
            <a:endParaRPr sz="1400"/>
          </a:p>
          <a:p>
            <a:pPr marL="0" indent="0">
              <a:spcAft>
                <a:spcPts val="400"/>
              </a:spcAft>
              <a:buNone/>
            </a:pPr>
            <a:r>
              <a:rPr sz="1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24 个中性词 (neutral words)</a:t>
            </a:r>
            <a:endParaRPr sz="1400"/>
          </a:p>
          <a:p>
            <a:pPr marL="0" indent="0">
              <a:spcAft>
                <a:spcPts val="800"/>
              </a:spcAft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名词、动词、形容词各 8 个</a:t>
            </a:r>
            <a:endParaRPr sz="1400"/>
          </a:p>
          <a:p>
            <a:pPr marL="0" indent="0">
              <a:spcAft>
                <a:spcPts val="300"/>
              </a:spcAft>
              <a:buNone/>
            </a:pPr>
            <a:endParaRPr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全部位于高频 2000 词族 (Nation, 2016)</a:t>
            </a:r>
            <a:endParaRPr sz="1400"/>
          </a:p>
          <a:p>
            <a:pPr marL="0" indent="0">
              <a:spcAft>
                <a:spcPts val="300"/>
              </a:spcAft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控制词频、词长等变量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分 A/B 两版，每人作答 36 词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59A037E-31F9-4556-B082-1517DC7CBC63}"/>
              </a:ext>
            </a:extLst>
          </p:cNvPr>
          <p:cNvSpPr>
            <a:spLocks noGrp="1"/>
          </p:cNvSpPr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书面词汇联想任务 (Written WAT)</a:t>
            </a:r>
            <a:endParaRPr sz="1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B9E3B83-23BE-4362-9510-E266EBE40DB8}"/>
              </a:ext>
            </a:extLst>
          </p:cNvPr>
          <p:cNvSpPr>
            <a:spLocks noGrp="1"/>
          </p:cNvSpPr>
          <p:nvPr/>
        </p:nvSpPr>
        <p:spPr>
          <a:xfrm>
            <a:off x="4846320" y="1463040"/>
            <a:ext cx="3840480" cy="731520"/>
          </a:xfrm>
          <a:prstGeom prst="roundRect">
            <a:avLst>
              <a:gd name="adj" fmla="val 7500"/>
            </a:avLst>
          </a:prstGeom>
          <a:solidFill>
            <a:srgbClr val="F5F7F9"/>
          </a:solidFill>
        </p:spPr>
        <p:txBody>
          <a:bodyPr/>
          <a:lstStyle/>
          <a:p>
            <a:endParaRPr sz="2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AC9D0F-A11F-42BA-B3B6-A60136E20772}"/>
              </a:ext>
            </a:extLst>
          </p:cNvPr>
          <p:cNvSpPr>
            <a:spLocks noGrp="1"/>
          </p:cNvSpPr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happy  →  ___  ___  ___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30DC9BF-676A-4952-9A75-694A3EF67550}"/>
              </a:ext>
            </a:extLst>
          </p:cNvPr>
          <p:cNvSpPr>
            <a:spLocks noGrp="1"/>
          </p:cNvSpPr>
          <p:nvPr/>
        </p:nvSpPr>
        <p:spPr>
          <a:xfrm>
            <a:off x="5029200" y="18745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每个词下方 3 个空格，写出最先想到的英语联想词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E4F9E5F-E722-464D-A2B2-7A583F7D550B}"/>
              </a:ext>
            </a:extLst>
          </p:cNvPr>
          <p:cNvSpPr>
            <a:spLocks noGrp="1"/>
          </p:cNvSpPr>
          <p:nvPr/>
        </p:nvSpPr>
        <p:spPr>
          <a:xfrm>
            <a:off x="4846320" y="2377440"/>
            <a:ext cx="3840480" cy="640080"/>
          </a:xfrm>
          <a:prstGeom prst="rect">
            <a:avLst/>
          </a:prstGeom>
          <a:noFill/>
        </p:spPr>
        <p:txBody>
          <a:bodyPr wrap="square" lIns="0" tIns="63500" rIns="0" bIns="0" anchor="t"/>
          <a:lstStyle/>
          <a:p>
            <a:pPr marL="0" indent="0">
              <a:spcAft>
                <a:spcPts val="300"/>
              </a:spcAft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纸笔作答，自习课实施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按自然班统一施测</a:t>
            </a:r>
            <a:endParaRPr sz="14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BD98B98-A34E-47DE-A73D-5FC5D129B458}"/>
              </a:ext>
            </a:extLst>
          </p:cNvPr>
          <p:cNvSpPr>
            <a:spLocks noGrp="1"/>
          </p:cNvSpPr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7F5328A-2331-4B38-89AD-C7135F4A6663}"/>
              </a:ext>
            </a:extLst>
          </p:cNvPr>
          <p:cNvSpPr>
            <a:spLocks noGrp="1"/>
          </p:cNvSpPr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统计方法：二项GLMM、连续变量LMM，以及群组网络的重抽样和置换检验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8978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7080C5-5B4D-45E8-B3CB-CE2FF3E6E4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7667A2-06B2-4AB0-AEAD-8096C90D6AFA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E90C28-16C9-4F26-BF92-F1BA0D041D16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02 · METHOD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2C179A-875B-4F77-8361-9CA162FFA5AD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08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0572B4-CE77-4E9F-84E3-B507D6CD370A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三维度分析框架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Analytical Framework</a:t>
            </a:r>
            <a:endParaRPr sz="2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3FA666-B840-4881-9EAA-9D8E126CF71F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82F89F-D001-4A32-8A16-45AE1BE5B8AB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2560320" cy="457200"/>
          </a:xfrm>
          <a:prstGeom prst="rect">
            <a:avLst/>
          </a:prstGeom>
          <a:noFill/>
        </p:spPr>
        <p:txBody>
          <a:bodyPr wrap="square" lIns="63500" tIns="101600" rIns="101600" bIns="635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词汇表征</a:t>
            </a:r>
            <a:endParaRPr sz="1300"/>
          </a:p>
          <a:p>
            <a:pPr marL="0" indent="0" algn="ctr">
              <a:buNone/>
            </a:pPr>
            <a:r>
              <a:rPr sz="900">
                <a:solidFill>
                  <a:srgbClr val="B0C4DE"/>
                </a:solidFill>
                <a:latin typeface="Calibri"/>
                <a:ea typeface="Calibri"/>
                <a:cs typeface="Calibri"/>
              </a:rPr>
              <a:t>Lexical Representation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0AABFE1-2B2E-4734-9B60-5E040C3E124B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50000"/>
              </a:lnSpc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反应可用性 availability</a:t>
            </a:r>
            <a:endParaRPr sz="1400"/>
          </a:p>
          <a:p>
            <a:pPr marL="0" indent="0">
              <a:lnSpc>
                <a:spcPct val="150000"/>
              </a:lnSpc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词汇复杂度 sophistication</a:t>
            </a:r>
            <a:endParaRPr sz="1400"/>
          </a:p>
          <a:p>
            <a:pPr marL="0" indent="0">
              <a:lnSpc>
                <a:spcPct val="150000"/>
              </a:lnSpc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联想典型性 typicality</a:t>
            </a:r>
            <a:endParaRPr sz="1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D9CD0B1-733C-4E2D-98FF-30981488109F}"/>
              </a:ext>
            </a:extLst>
          </p:cNvPr>
          <p:cNvSpPr>
            <a:spLocks noGrp="1"/>
          </p:cNvSpPr>
          <p:nvPr/>
        </p:nvSpPr>
        <p:spPr>
          <a:xfrm>
            <a:off x="3291840" y="10058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5B7066-F14D-49D8-A43E-8F348182A027}"/>
              </a:ext>
            </a:extLst>
          </p:cNvPr>
          <p:cNvSpPr>
            <a:spLocks noGrp="1"/>
          </p:cNvSpPr>
          <p:nvPr/>
        </p:nvSpPr>
        <p:spPr>
          <a:xfrm>
            <a:off x="3291840" y="1005840"/>
            <a:ext cx="2560320" cy="457200"/>
          </a:xfrm>
          <a:prstGeom prst="rect">
            <a:avLst/>
          </a:prstGeom>
          <a:noFill/>
        </p:spPr>
        <p:txBody>
          <a:bodyPr wrap="square" lIns="63500" tIns="101600" rIns="101600" bIns="635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语义组织</a:t>
            </a:r>
            <a:endParaRPr sz="1300"/>
          </a:p>
          <a:p>
            <a:pPr marL="0" indent="0" algn="ctr">
              <a:buNone/>
            </a:pPr>
            <a:r>
              <a:rPr sz="900">
                <a:solidFill>
                  <a:srgbClr val="B0C4DE"/>
                </a:solidFill>
                <a:latin typeface="Calibri"/>
                <a:ea typeface="Calibri"/>
                <a:cs typeface="Calibri"/>
              </a:rPr>
              <a:t>Semantic Organization</a:t>
            </a:r>
            <a:endParaRPr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19D6161-F671-4E03-86E3-EFBC5E147146}"/>
              </a:ext>
            </a:extLst>
          </p:cNvPr>
          <p:cNvSpPr>
            <a:spLocks noGrp="1"/>
          </p:cNvSpPr>
          <p:nvPr/>
        </p:nvSpPr>
        <p:spPr>
          <a:xfrm>
            <a:off x="3383280" y="160020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50000"/>
              </a:lnSpc>
              <a:buNone/>
            </a:pPr>
            <a:r>
              <a:rPr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语义 vs. 非语义</a:t>
            </a:r>
            <a:endParaRPr sz="1300"/>
          </a:p>
          <a:p>
            <a:pPr marL="0" indent="0">
              <a:lnSpc>
                <a:spcPct val="150000"/>
              </a:lnSpc>
              <a:buNone/>
            </a:pPr>
            <a:r>
              <a:rPr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横组合 vs. 纵聚合</a:t>
            </a:r>
            <a:endParaRPr sz="1300"/>
          </a:p>
          <a:p>
            <a:pPr marL="0" indent="0">
              <a:lnSpc>
                <a:spcPct val="150000"/>
              </a:lnSpc>
              <a:buNone/>
            </a:pPr>
            <a:r>
              <a:rPr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基于MMAF 框架编码 (张萍 2026）</a:t>
            </a:r>
            <a:endParaRPr sz="13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3982686-53BB-4BE2-8EAA-06F688D0FAEE}"/>
              </a:ext>
            </a:extLst>
          </p:cNvPr>
          <p:cNvSpPr>
            <a:spLocks noGrp="1"/>
          </p:cNvSpPr>
          <p:nvPr/>
        </p:nvSpPr>
        <p:spPr>
          <a:xfrm>
            <a:off x="6126480" y="10058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8632BA9-1C21-448C-A3D7-398685E8BF9F}"/>
              </a:ext>
            </a:extLst>
          </p:cNvPr>
          <p:cNvSpPr>
            <a:spLocks noGrp="1"/>
          </p:cNvSpPr>
          <p:nvPr/>
        </p:nvSpPr>
        <p:spPr>
          <a:xfrm>
            <a:off x="6126480" y="1005840"/>
            <a:ext cx="2560320" cy="457200"/>
          </a:xfrm>
          <a:prstGeom prst="rect">
            <a:avLst/>
          </a:prstGeom>
          <a:noFill/>
        </p:spPr>
        <p:txBody>
          <a:bodyPr wrap="square" lIns="63500" tIns="101600" rIns="101600" bIns="635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网络整合</a:t>
            </a:r>
            <a:endParaRPr sz="1300"/>
          </a:p>
          <a:p>
            <a:pPr marL="0" indent="0" algn="ctr">
              <a:buNone/>
            </a:pPr>
            <a:r>
              <a:rPr sz="900">
                <a:solidFill>
                  <a:srgbClr val="B0C4DE"/>
                </a:solidFill>
                <a:latin typeface="Calibri"/>
                <a:ea typeface="Calibri"/>
                <a:cs typeface="Calibri"/>
              </a:rPr>
              <a:t>Network Integration</a:t>
            </a:r>
            <a:endParaRPr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273BBED-7491-4D7F-9355-90A0E99059B2}"/>
              </a:ext>
            </a:extLst>
          </p:cNvPr>
          <p:cNvSpPr>
            <a:spLocks noGrp="1"/>
          </p:cNvSpPr>
          <p:nvPr/>
        </p:nvSpPr>
        <p:spPr>
          <a:xfrm>
            <a:off x="6217920" y="160020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50000"/>
              </a:lnSpc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共享联想网络 (conglomerate)</a:t>
            </a:r>
            <a:endParaRPr sz="1400"/>
          </a:p>
          <a:p>
            <a:pPr marL="0" indent="0">
              <a:lnSpc>
                <a:spcPct val="150000"/>
              </a:lnSpc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7 个个体层面网络指标</a:t>
            </a:r>
            <a:endParaRPr sz="1400"/>
          </a:p>
          <a:p>
            <a:pPr marL="0" indent="0">
              <a:lnSpc>
                <a:spcPct val="150000"/>
              </a:lnSpc>
              <a:buNone/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年级群体网络的结构比较</a:t>
            </a:r>
            <a:endParaRPr sz="14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5EA408B-C130-441A-9D7A-633B93FB343F}"/>
              </a:ext>
            </a:extLst>
          </p:cNvPr>
          <p:cNvSpPr>
            <a:spLocks noGrp="1"/>
          </p:cNvSpPr>
          <p:nvPr/>
        </p:nvSpPr>
        <p:spPr>
          <a:xfrm>
            <a:off x="457200" y="2926080"/>
            <a:ext cx="8229600" cy="9144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86D6403-D39F-4647-B2F5-D43A2BDD1B54}"/>
              </a:ext>
            </a:extLst>
          </p:cNvPr>
          <p:cNvSpPr>
            <a:spLocks noGrp="1"/>
          </p:cNvSpPr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MMAF 语义编码一致性（编码者：王鑫 &amp; 关思扬）</a:t>
            </a:r>
            <a:endParaRPr sz="1300"/>
          </a:p>
        </p:txBody>
      </p:sp>
      <p:graphicFrame>
        <p:nvGraphicFramePr>
          <p:cNvPr id="37" name="Table 0"/>
          <p:cNvGraphicFramePr/>
          <p:nvPr/>
        </p:nvGraphicFramePr>
        <p:xfrm>
          <a:off x="457200" y="3474720"/>
          <a:ext cx="8229600" cy="10363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层级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分类内容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Cohen's κ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观察一致率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 1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语义 vs. 非语义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.487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75.3%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 2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横组合 vs. 纵聚合 vs. 非语义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.491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71.6%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 3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 个细类别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.496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58.4%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38100" marB="381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6">
            <a:extLst>
              <a:ext uri="{FF2B5EF4-FFF2-40B4-BE49-F238E27FC236}">
                <a16:creationId xmlns:a16="http://schemas.microsoft.com/office/drawing/2014/main" id="{4DD4A280-D657-4846-8B57-A474708EDD68}"/>
              </a:ext>
            </a:extLst>
          </p:cNvPr>
          <p:cNvSpPr>
            <a:spLocks noGrp="1"/>
          </p:cNvSpPr>
          <p:nvPr/>
        </p:nvSpPr>
        <p:spPr>
          <a:xfrm>
            <a:off x="457200" y="4602480"/>
            <a:ext cx="8229600" cy="3078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编码者1编码全部反应；编码者2独立编码分层随机抽取的2,273个cue-response types，对应5,471个tokens，占全部反应token的21.1%。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64149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DF45A7-3E2A-41BF-9903-403F7DB6CF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80E77C-E262-4AFC-88D0-72FBC90B0800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F3580E-ABD0-4E79-B5F7-A6B7B4FF7FF3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02 · METHOD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0FCDF5-D3D5-4986-B52F-6B7D20A6AB76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09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6A3072F-DE04-4D57-BF2C-F2C004288E32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个体层面网络指标│ Individual-Level Network Indicators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7D774C-C6FB-4BEE-B444-451EAF8A4C30}"/>
              </a:ext>
            </a:extLst>
          </p:cNvPr>
          <p:cNvSpPr>
            <a:spLocks noGrp="1"/>
          </p:cNvSpPr>
          <p:nvPr/>
        </p:nvSpPr>
        <p:spPr>
          <a:xfrm>
            <a:off x="640080" y="939554"/>
            <a:ext cx="7678882" cy="603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50000"/>
              </a:lnSpc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先汇总261名参与者的反应，构建一个共享的whole-sample conglomerate network；再把每个participant-by-cue trial的反应节点定位到这个共同网络中，计算7项指标</a:t>
            </a:r>
            <a:endParaRPr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9218208-98B2-48FA-82A0-28470CF94E67}"/>
              </a:ext>
            </a:extLst>
          </p:cNvPr>
          <p:cNvSpPr>
            <a:spLocks noGrp="1"/>
          </p:cNvSpPr>
          <p:nvPr/>
        </p:nvSpPr>
        <p:spPr>
          <a:xfrm>
            <a:off x="607863" y="1677072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2989145-DED4-4D35-A073-E336D4EAC131}"/>
              </a:ext>
            </a:extLst>
          </p:cNvPr>
          <p:cNvSpPr>
            <a:spLocks noGrp="1"/>
          </p:cNvSpPr>
          <p:nvPr/>
        </p:nvSpPr>
        <p:spPr>
          <a:xfrm>
            <a:off x="607863" y="167707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E4D57C9-C930-4957-874F-C9482D63A38A}"/>
              </a:ext>
            </a:extLst>
          </p:cNvPr>
          <p:cNvSpPr>
            <a:spLocks noGrp="1"/>
          </p:cNvSpPr>
          <p:nvPr/>
        </p:nvSpPr>
        <p:spPr>
          <a:xfrm>
            <a:off x="1110783" y="167707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度 degree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1CFFB48-E7D2-43DC-836D-9DE799B56029}"/>
              </a:ext>
            </a:extLst>
          </p:cNvPr>
          <p:cNvSpPr>
            <a:spLocks noGrp="1"/>
          </p:cNvSpPr>
          <p:nvPr/>
        </p:nvSpPr>
        <p:spPr>
          <a:xfrm>
            <a:off x="4356903" y="167707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节点直接连接数，反映连接广度</a:t>
            </a:r>
            <a:endParaRPr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9D82845-F000-46E6-BF44-90CC876B9942}"/>
              </a:ext>
            </a:extLst>
          </p:cNvPr>
          <p:cNvSpPr>
            <a:spLocks noGrp="1"/>
          </p:cNvSpPr>
          <p:nvPr/>
        </p:nvSpPr>
        <p:spPr>
          <a:xfrm>
            <a:off x="607863" y="2115984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3429D0-B38B-4D3B-BFBB-5855EFEFF2B4}"/>
              </a:ext>
            </a:extLst>
          </p:cNvPr>
          <p:cNvSpPr>
            <a:spLocks noGrp="1"/>
          </p:cNvSpPr>
          <p:nvPr/>
        </p:nvSpPr>
        <p:spPr>
          <a:xfrm>
            <a:off x="607863" y="211598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F952692-CF47-49D5-B97F-47947D962265}"/>
              </a:ext>
            </a:extLst>
          </p:cNvPr>
          <p:cNvSpPr>
            <a:spLocks noGrp="1"/>
          </p:cNvSpPr>
          <p:nvPr/>
        </p:nvSpPr>
        <p:spPr>
          <a:xfrm>
            <a:off x="1110783" y="211598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强度 strength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B9838E5-E169-4F79-8E3E-4C835B582418}"/>
              </a:ext>
            </a:extLst>
          </p:cNvPr>
          <p:cNvSpPr>
            <a:spLocks noGrp="1"/>
          </p:cNvSpPr>
          <p:nvPr/>
        </p:nvSpPr>
        <p:spPr>
          <a:xfrm>
            <a:off x="4356903" y="211598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节点所有边权重之和，反映连接总强度</a:t>
            </a:r>
            <a:endParaRPr sz="12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C27D092-478D-4903-B387-1DDF550FEEC4}"/>
              </a:ext>
            </a:extLst>
          </p:cNvPr>
          <p:cNvSpPr>
            <a:spLocks noGrp="1"/>
          </p:cNvSpPr>
          <p:nvPr/>
        </p:nvSpPr>
        <p:spPr>
          <a:xfrm>
            <a:off x="607863" y="2554896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3988DA7-3E5D-46FB-A53E-460E4566135A}"/>
              </a:ext>
            </a:extLst>
          </p:cNvPr>
          <p:cNvSpPr>
            <a:spLocks noGrp="1"/>
          </p:cNvSpPr>
          <p:nvPr/>
        </p:nvSpPr>
        <p:spPr>
          <a:xfrm>
            <a:off x="607863" y="2554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EA976E5-2FC7-4771-9A8B-20AD0A398516}"/>
              </a:ext>
            </a:extLst>
          </p:cNvPr>
          <p:cNvSpPr>
            <a:spLocks noGrp="1"/>
          </p:cNvSpPr>
          <p:nvPr/>
        </p:nvSpPr>
        <p:spPr>
          <a:xfrm>
            <a:off x="1110783" y="255489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聚类系数 clustering</a:t>
            </a:r>
            <a:endParaRPr sz="1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2B369E5-2168-462F-99AB-63910C90F461}"/>
              </a:ext>
            </a:extLst>
          </p:cNvPr>
          <p:cNvSpPr>
            <a:spLocks noGrp="1"/>
          </p:cNvSpPr>
          <p:nvPr/>
        </p:nvSpPr>
        <p:spPr>
          <a:xfrm>
            <a:off x="4356903" y="255489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节点邻居之间互连程度，反映局部聚集性</a:t>
            </a:r>
            <a:endParaRPr sz="12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9A7352D-953B-4647-8B99-640C12189BAD}"/>
              </a:ext>
            </a:extLst>
          </p:cNvPr>
          <p:cNvSpPr>
            <a:spLocks noGrp="1"/>
          </p:cNvSpPr>
          <p:nvPr/>
        </p:nvSpPr>
        <p:spPr>
          <a:xfrm>
            <a:off x="607863" y="2993808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4CF3536-0859-4531-AF95-B7E11F9F7FF7}"/>
              </a:ext>
            </a:extLst>
          </p:cNvPr>
          <p:cNvSpPr>
            <a:spLocks noGrp="1"/>
          </p:cNvSpPr>
          <p:nvPr/>
        </p:nvSpPr>
        <p:spPr>
          <a:xfrm>
            <a:off x="607863" y="299380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CCFF049-6AF1-4BD6-B87D-4BCB1C3BB0D6}"/>
              </a:ext>
            </a:extLst>
          </p:cNvPr>
          <p:cNvSpPr>
            <a:spLocks noGrp="1"/>
          </p:cNvSpPr>
          <p:nvPr/>
        </p:nvSpPr>
        <p:spPr>
          <a:xfrm>
            <a:off x="1110783" y="299380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介数中心性 betweenness</a:t>
            </a:r>
            <a:endParaRPr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9968257-182D-4411-A83E-8A57BE36DA0B}"/>
              </a:ext>
            </a:extLst>
          </p:cNvPr>
          <p:cNvSpPr>
            <a:spLocks noGrp="1"/>
          </p:cNvSpPr>
          <p:nvPr/>
        </p:nvSpPr>
        <p:spPr>
          <a:xfrm>
            <a:off x="4356903" y="299380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信息传递枢纽作用</a:t>
            </a:r>
            <a:endParaRPr sz="12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1FD6A30-7834-4353-B5CD-7D8A13FA7E05}"/>
              </a:ext>
            </a:extLst>
          </p:cNvPr>
          <p:cNvSpPr>
            <a:spLocks noGrp="1"/>
          </p:cNvSpPr>
          <p:nvPr/>
        </p:nvSpPr>
        <p:spPr>
          <a:xfrm>
            <a:off x="607863" y="3432720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9E6DAFD-C52B-43F7-BF41-1F343C4D46D1}"/>
              </a:ext>
            </a:extLst>
          </p:cNvPr>
          <p:cNvSpPr>
            <a:spLocks noGrp="1"/>
          </p:cNvSpPr>
          <p:nvPr/>
        </p:nvSpPr>
        <p:spPr>
          <a:xfrm>
            <a:off x="607863" y="343272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6973FFF-E5CA-4AEC-93FE-538142657123}"/>
              </a:ext>
            </a:extLst>
          </p:cNvPr>
          <p:cNvSpPr>
            <a:spLocks noGrp="1"/>
          </p:cNvSpPr>
          <p:nvPr/>
        </p:nvSpPr>
        <p:spPr>
          <a:xfrm>
            <a:off x="1110783" y="34327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刺激-反应距离 cue-response distance</a:t>
            </a:r>
            <a:endParaRPr sz="12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293C314-1D3D-401F-9655-9AA0C897D123}"/>
              </a:ext>
            </a:extLst>
          </p:cNvPr>
          <p:cNvSpPr>
            <a:spLocks noGrp="1"/>
          </p:cNvSpPr>
          <p:nvPr/>
        </p:nvSpPr>
        <p:spPr>
          <a:xfrm>
            <a:off x="4356903" y="3432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词汇提取的直接性</a:t>
            </a:r>
            <a:endParaRPr sz="12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233B208-F7B2-4B15-86A5-591E655E5821}"/>
              </a:ext>
            </a:extLst>
          </p:cNvPr>
          <p:cNvSpPr>
            <a:spLocks noGrp="1"/>
          </p:cNvSpPr>
          <p:nvPr/>
        </p:nvSpPr>
        <p:spPr>
          <a:xfrm>
            <a:off x="607863" y="3871632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C9B0272-939B-4267-AA71-12A10546EDFD}"/>
              </a:ext>
            </a:extLst>
          </p:cNvPr>
          <p:cNvSpPr>
            <a:spLocks noGrp="1"/>
          </p:cNvSpPr>
          <p:nvPr/>
        </p:nvSpPr>
        <p:spPr>
          <a:xfrm>
            <a:off x="607863" y="387163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C80A710-4026-4967-859A-31C07564A7E3}"/>
              </a:ext>
            </a:extLst>
          </p:cNvPr>
          <p:cNvSpPr>
            <a:spLocks noGrp="1"/>
          </p:cNvSpPr>
          <p:nvPr/>
        </p:nvSpPr>
        <p:spPr>
          <a:xfrm>
            <a:off x="1110783" y="387163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成对距离 pairwise distance</a:t>
            </a:r>
            <a:endParaRPr sz="12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37B8FC8-C38A-4EE1-923F-9FDE3199B84F}"/>
              </a:ext>
            </a:extLst>
          </p:cNvPr>
          <p:cNvSpPr>
            <a:spLocks noGrp="1"/>
          </p:cNvSpPr>
          <p:nvPr/>
        </p:nvSpPr>
        <p:spPr>
          <a:xfrm>
            <a:off x="4356903" y="387163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反应集的分散程度</a:t>
            </a:r>
            <a:endParaRPr sz="12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3468AC6-4D3E-4614-9FBD-37666A2767E4}"/>
              </a:ext>
            </a:extLst>
          </p:cNvPr>
          <p:cNvSpPr>
            <a:spLocks noGrp="1"/>
          </p:cNvSpPr>
          <p:nvPr/>
        </p:nvSpPr>
        <p:spPr>
          <a:xfrm>
            <a:off x="607863" y="4310544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435D134-5680-4F64-9690-34C63132BB06}"/>
              </a:ext>
            </a:extLst>
          </p:cNvPr>
          <p:cNvSpPr>
            <a:spLocks noGrp="1"/>
          </p:cNvSpPr>
          <p:nvPr/>
        </p:nvSpPr>
        <p:spPr>
          <a:xfrm>
            <a:off x="607863" y="431054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1457B27-0784-49C1-9492-7899A6D7F4BA}"/>
              </a:ext>
            </a:extLst>
          </p:cNvPr>
          <p:cNvSpPr>
            <a:spLocks noGrp="1"/>
          </p:cNvSpPr>
          <p:nvPr/>
        </p:nvSpPr>
        <p:spPr>
          <a:xfrm>
            <a:off x="1110783" y="431054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同社区比例 same-community ratio</a:t>
            </a:r>
            <a:endParaRPr sz="12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EA1B5D0-385C-4CCE-AFCE-1C15AB789C25}"/>
              </a:ext>
            </a:extLst>
          </p:cNvPr>
          <p:cNvSpPr>
            <a:spLocks noGrp="1"/>
          </p:cNvSpPr>
          <p:nvPr/>
        </p:nvSpPr>
        <p:spPr>
          <a:xfrm>
            <a:off x="4356903" y="431054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联想反应的语义聚集性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54223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7287F7-B08F-4012-AD94-DEE12D0A1B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3BFC643-18FF-4DDD-B699-A9FF86664045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380049-A33E-4EE7-9EC2-2F2CA1B35100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03 · KEY FINDINGS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6FB4FB-5FC4-48E7-AA37-1E84FB2C41E6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10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2C8DBD-AAA0-492D-80E4-9D264C776C19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词汇表征的发展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Lexical Representation</a:t>
            </a:r>
            <a:endParaRPr sz="2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03F9C62-01CD-4A83-B0BB-1AC26EC1703E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438B17B-9733-4F24-BAA6-ADA29CAF6618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2560320" cy="548640"/>
          </a:xfrm>
          <a:prstGeom prst="rect">
            <a:avLst/>
          </a:prstGeom>
          <a:noFill/>
        </p:spPr>
        <p:txBody>
          <a:bodyPr wrap="square" lIns="38100" tIns="63500" rIns="63500" bIns="3810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反应可用性</a:t>
            </a:r>
            <a:endParaRPr sz="1100"/>
          </a:p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Response Availability</a:t>
            </a:r>
            <a:endParaRPr sz="11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46FF03-AA3C-4859-967F-FE0D40B6427E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2.48 → 2.93 → 2.97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2B588E2-6190-412B-BE95-24DE2530A1A1}"/>
              </a:ext>
            </a:extLst>
          </p:cNvPr>
          <p:cNvSpPr>
            <a:spLocks noGrp="1"/>
          </p:cNvSpPr>
          <p:nvPr/>
        </p:nvSpPr>
        <p:spPr>
          <a:xfrm>
            <a:off x="457200" y="202996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G6            G8           G11</a:t>
            </a:r>
            <a:endParaRPr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67FBB44-45A0-440F-BF74-95C177090650}"/>
              </a:ext>
            </a:extLst>
          </p:cNvPr>
          <p:cNvSpPr>
            <a:spLocks noGrp="1"/>
          </p:cNvSpPr>
          <p:nvPr/>
        </p:nvSpPr>
        <p:spPr>
          <a:xfrm>
            <a:off x="548640" y="2331720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50000"/>
              </a:lnSpc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G6→G8 增幅最大，G8 后接近上限</a:t>
            </a:r>
            <a:endParaRPr sz="1200"/>
          </a:p>
          <a:p>
            <a:pPr marL="0" indent="0">
              <a:lnSpc>
                <a:spcPct val="150000"/>
              </a:lnSpc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空白率：17.5%→2.4%→1.0%</a:t>
            </a:r>
            <a:endParaRPr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94DD101-B4BE-4C2E-A347-7CCAFC99549F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6FC3729-9694-4C21-8597-81EFF2783B2A}"/>
              </a:ext>
            </a:extLst>
          </p:cNvPr>
          <p:cNvSpPr>
            <a:spLocks noGrp="1"/>
          </p:cNvSpPr>
          <p:nvPr/>
        </p:nvSpPr>
        <p:spPr>
          <a:xfrm>
            <a:off x="548640" y="3447288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产出基础在初中阶段即已基本建立</a:t>
            </a:r>
            <a:endParaRPr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6491666-DA41-4077-902F-7B4DBA586407}"/>
              </a:ext>
            </a:extLst>
          </p:cNvPr>
          <p:cNvSpPr>
            <a:spLocks noGrp="1"/>
          </p:cNvSpPr>
          <p:nvPr/>
        </p:nvSpPr>
        <p:spPr>
          <a:xfrm>
            <a:off x="3291840" y="100584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1BF2C21-2B45-45C5-ACDD-E71F238235CF}"/>
              </a:ext>
            </a:extLst>
          </p:cNvPr>
          <p:cNvSpPr>
            <a:spLocks noGrp="1"/>
          </p:cNvSpPr>
          <p:nvPr/>
        </p:nvSpPr>
        <p:spPr>
          <a:xfrm>
            <a:off x="3291840" y="1005840"/>
            <a:ext cx="2560320" cy="548640"/>
          </a:xfrm>
          <a:prstGeom prst="rect">
            <a:avLst/>
          </a:prstGeom>
          <a:noFill/>
        </p:spPr>
        <p:txBody>
          <a:bodyPr wrap="square" lIns="38100" tIns="63500" rIns="63500" bIns="3810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词汇复杂度</a:t>
            </a:r>
            <a:endParaRPr sz="1100"/>
          </a:p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Lexical Sophistication</a:t>
            </a:r>
            <a:endParaRPr sz="11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E7CFC0B-AF49-4BCC-929A-AE8044F21D8F}"/>
              </a:ext>
            </a:extLst>
          </p:cNvPr>
          <p:cNvSpPr>
            <a:spLocks noGrp="1"/>
          </p:cNvSpPr>
          <p:nvPr/>
        </p:nvSpPr>
        <p:spPr>
          <a:xfrm>
            <a:off x="3291840" y="16916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3.87 → 3.67 → 3.65</a:t>
            </a:r>
            <a:endParaRPr sz="1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1B0222A-9806-4FAA-8D39-87959F4998F7}"/>
              </a:ext>
            </a:extLst>
          </p:cNvPr>
          <p:cNvSpPr>
            <a:spLocks noGrp="1"/>
          </p:cNvSpPr>
          <p:nvPr/>
        </p:nvSpPr>
        <p:spPr>
          <a:xfrm>
            <a:off x="3291840" y="202996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G6            G8           G11</a:t>
            </a:r>
            <a:endParaRPr sz="9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F80AF74-E5CD-4E81-90E9-F0B02D5C5521}"/>
              </a:ext>
            </a:extLst>
          </p:cNvPr>
          <p:cNvSpPr>
            <a:spLocks noGrp="1"/>
          </p:cNvSpPr>
          <p:nvPr/>
        </p:nvSpPr>
        <p:spPr>
          <a:xfrm>
            <a:off x="3383280" y="2331720"/>
            <a:ext cx="2425238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indent="0">
              <a:lnSpc>
                <a:spcPct val="150000"/>
              </a:lnSpc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G8 vs G6：b=-.216, p&lt;.001</a:t>
            </a:r>
          </a:p>
          <a:p>
            <a:r>
              <a:t>G11 vs G6：b=-.262, p&lt;.001</a:t>
            </a:r>
          </a:p>
          <a:p>
            <a:r>
              <a:t>G8 vs G11不显著：b=-.046, p=.281</a:t>
            </a:r>
          </a:p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BD3635A-D2F5-446E-A209-002AFE6CA731}"/>
              </a:ext>
            </a:extLst>
          </p:cNvPr>
          <p:cNvSpPr>
            <a:spLocks noGrp="1"/>
          </p:cNvSpPr>
          <p:nvPr/>
        </p:nvSpPr>
        <p:spPr>
          <a:xfrm>
            <a:off x="3291840" y="34290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3A1700F-0100-49E9-BC55-CD47C9FC7CD4}"/>
              </a:ext>
            </a:extLst>
          </p:cNvPr>
          <p:cNvSpPr>
            <a:spLocks noGrp="1"/>
          </p:cNvSpPr>
          <p:nvPr/>
        </p:nvSpPr>
        <p:spPr>
          <a:xfrm>
            <a:off x="3383280" y="3447288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反映学习者的词库深度变化</a:t>
            </a:r>
            <a:endParaRPr sz="10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2AB4D86-64DE-4FCE-BAAC-3B9ADDCDEEF3}"/>
              </a:ext>
            </a:extLst>
          </p:cNvPr>
          <p:cNvSpPr>
            <a:spLocks noGrp="1"/>
          </p:cNvSpPr>
          <p:nvPr/>
        </p:nvSpPr>
        <p:spPr>
          <a:xfrm>
            <a:off x="6126480" y="100584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2A64FC2-0C89-4B98-AB6A-CC25CCA7CFA8}"/>
              </a:ext>
            </a:extLst>
          </p:cNvPr>
          <p:cNvSpPr>
            <a:spLocks noGrp="1"/>
          </p:cNvSpPr>
          <p:nvPr/>
        </p:nvSpPr>
        <p:spPr>
          <a:xfrm>
            <a:off x="6126480" y="1005840"/>
            <a:ext cx="2560320" cy="548640"/>
          </a:xfrm>
          <a:prstGeom prst="rect">
            <a:avLst/>
          </a:prstGeom>
          <a:noFill/>
        </p:spPr>
        <p:txBody>
          <a:bodyPr wrap="square" lIns="38100" tIns="63500" rIns="63500" bIns="3810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联想典型性</a:t>
            </a:r>
            <a:endParaRPr sz="1100"/>
          </a:p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Associative Typicality</a:t>
            </a:r>
            <a:endParaRPr sz="11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70807B2-6014-4890-BC4A-4670E49E4ACA}"/>
              </a:ext>
            </a:extLst>
          </p:cNvPr>
          <p:cNvSpPr>
            <a:spLocks noGrp="1"/>
          </p:cNvSpPr>
          <p:nvPr/>
        </p:nvSpPr>
        <p:spPr>
          <a:xfrm>
            <a:off x="6126480" y="16916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.041 → .029 → .025</a:t>
            </a:r>
            <a:endParaRPr sz="14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4A0F20D-F42D-421A-BCB6-E3821F1E2A47}"/>
              </a:ext>
            </a:extLst>
          </p:cNvPr>
          <p:cNvSpPr>
            <a:spLocks noGrp="1"/>
          </p:cNvSpPr>
          <p:nvPr/>
        </p:nvSpPr>
        <p:spPr>
          <a:xfrm>
            <a:off x="6126480" y="202996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G6            G8           G11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69B9CA4-F4C7-4B48-A8A9-9D72C7BA3796}"/>
              </a:ext>
            </a:extLst>
          </p:cNvPr>
          <p:cNvSpPr>
            <a:spLocks noGrp="1"/>
          </p:cNvSpPr>
          <p:nvPr/>
        </p:nvSpPr>
        <p:spPr>
          <a:xfrm>
            <a:off x="6217920" y="23317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G8/G11 vs G6：b=-.016/-.018, p&lt;.001
G8 vs G11：b=-.003, p=.068</a:t>
            </a:r>
            <a:endParaRPr sz="1200">
              <a:solidFill>
                <a:srgbClr val="C00000"/>
              </a:solidFill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85715C6-AD24-4AF1-9809-3E839E706281}"/>
              </a:ext>
            </a:extLst>
          </p:cNvPr>
          <p:cNvSpPr>
            <a:spLocks noGrp="1"/>
          </p:cNvSpPr>
          <p:nvPr/>
        </p:nvSpPr>
        <p:spPr>
          <a:xfrm>
            <a:off x="6126480" y="34290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74CB978-D7C3-40A9-9733-B79820A1FD20}"/>
              </a:ext>
            </a:extLst>
          </p:cNvPr>
          <p:cNvSpPr>
            <a:spLocks noGrp="1"/>
          </p:cNvSpPr>
          <p:nvPr/>
        </p:nvSpPr>
        <p:spPr>
          <a:xfrm>
            <a:off x="6217920" y="3447288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联想随年级个体化；主要变化发生在 G6→G8</a:t>
            </a:r>
            <a:endParaRPr sz="10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F60FA07-6C3D-428B-98A8-183001F461A3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F5F7F9"/>
          </a:solidFill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D3B1BD4-2FC9-4B46-B7C8-B5CACACD3322}"/>
              </a:ext>
            </a:extLst>
          </p:cNvPr>
          <p:cNvSpPr>
            <a:spLocks noGrp="1"/>
          </p:cNvSpPr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偏相关分析确认三个指标基本独立（复杂度 vs. 典型性：r = 0.00），测量了心理词库的不同侧面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75048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3C393E-8579-43CF-BC01-2796E3E622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C6FB52D-CBF7-44CC-B910-C41E2145D259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4C81BA-9ED2-449A-94FB-CAFB72F0DA7B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03 · KEY FINDINGS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3990BD9-9BD2-4536-99A6-B77992541522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11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A7CBF5-211A-403C-B94F-603C46DD2F8E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词汇属性对词汇表征的调节效应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Cue-Level Properties on Representation</a:t>
            </a:r>
            <a:endParaRPr sz="2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36E1F67-C880-4786-860F-C215F1ABA972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2560320" cy="3124200"/>
          </a:xfrm>
          <a:prstGeom prst="roundRect">
            <a:avLst>
              <a:gd name="adj" fmla="val 2500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09377F-B700-4B98-8EE1-DE186B5DBD8A}"/>
              </a:ext>
            </a:extLst>
          </p:cNvPr>
          <p:cNvSpPr>
            <a:spLocks noGrp="1"/>
          </p:cNvSpPr>
          <p:nvPr/>
        </p:nvSpPr>
        <p:spPr>
          <a:xfrm>
            <a:off x="594360" y="1188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具体性 Concreteness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49AEEBE-A7F6-43FF-BE8C-63C2EA295E83}"/>
              </a:ext>
            </a:extLst>
          </p:cNvPr>
          <p:cNvSpPr>
            <a:spLocks noGrp="1"/>
          </p:cNvSpPr>
          <p:nvPr/>
        </p:nvSpPr>
        <p:spPr>
          <a:xfrm>
            <a:off x="594360" y="1737360"/>
            <a:ext cx="2286000" cy="2324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050" b="1" dirty="0"/>
              <a:t>可用性：</a:t>
            </a:r>
            <a:r>
              <a:rPr sz="1050" b="0" dirty="0"/>
              <a:t>G6 </a:t>
            </a:r>
            <a:r>
              <a:rPr sz="1050" b="0" dirty="0" err="1"/>
              <a:t>具体词</a:t>
            </a:r>
            <a:r>
              <a:rPr sz="1050" b="0" dirty="0"/>
              <a:t> &gt; 抽象词（2.61 vs 2.43；b=.243, p&lt;.001），G8 </a:t>
            </a:r>
            <a:r>
              <a:rPr sz="1050" b="0" dirty="0" err="1"/>
              <a:t>后差距接近消失</a:t>
            </a:r>
            <a:endParaRPr sz="105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050" b="1" dirty="0" err="1"/>
              <a:t>典型性：</a:t>
            </a:r>
            <a:r>
              <a:rPr sz="1050" b="0" dirty="0" err="1"/>
              <a:t>各年级均为具体词较高；具体性效应随年级显著减弱</a:t>
            </a:r>
            <a:endParaRPr sz="105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050" b="1" dirty="0"/>
              <a:t>复杂度：</a:t>
            </a:r>
            <a:r>
              <a:rPr sz="1050" b="0" dirty="0"/>
              <a:t>G6 </a:t>
            </a:r>
            <a:r>
              <a:rPr sz="1050" b="0" dirty="0" err="1"/>
              <a:t>主效应不显著；仅</a:t>
            </a:r>
            <a:r>
              <a:rPr sz="1050" b="0" dirty="0"/>
              <a:t> G8 </a:t>
            </a:r>
            <a:r>
              <a:rPr sz="1050" b="0" dirty="0" err="1"/>
              <a:t>交互显著（b</a:t>
            </a:r>
            <a:r>
              <a:rPr sz="1050" b="0" dirty="0"/>
              <a:t>=.039, p=.005）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B3C0A53-685D-4E9D-9B54-B9F229D7919F}"/>
              </a:ext>
            </a:extLst>
          </p:cNvPr>
          <p:cNvSpPr>
            <a:spLocks noGrp="1"/>
          </p:cNvSpPr>
          <p:nvPr/>
        </p:nvSpPr>
        <p:spPr>
          <a:xfrm>
            <a:off x="3291840" y="1051560"/>
            <a:ext cx="2560320" cy="3124200"/>
          </a:xfrm>
          <a:prstGeom prst="roundRect">
            <a:avLst>
              <a:gd name="adj" fmla="val 2500"/>
            </a:avLst>
          </a:prstGeom>
          <a:solidFill>
            <a:srgbClr val="F5F7F9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E015A20-B239-4A6D-8772-7A6B197F1612}"/>
              </a:ext>
            </a:extLst>
          </p:cNvPr>
          <p:cNvSpPr>
            <a:spLocks noGrp="1"/>
          </p:cNvSpPr>
          <p:nvPr/>
        </p:nvSpPr>
        <p:spPr>
          <a:xfrm>
            <a:off x="3429000" y="1188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词类 Word Class</a:t>
            </a:r>
            <a:endParaRPr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A0C2098-6421-49AE-AA00-CAD8BA210AEC}"/>
              </a:ext>
            </a:extLst>
          </p:cNvPr>
          <p:cNvSpPr>
            <a:spLocks noGrp="1"/>
          </p:cNvSpPr>
          <p:nvPr/>
        </p:nvSpPr>
        <p:spPr>
          <a:xfrm>
            <a:off x="3429000" y="1737360"/>
            <a:ext cx="2286000" cy="2324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050" b="1" dirty="0"/>
              <a:t>可用性：</a:t>
            </a:r>
            <a:r>
              <a:rPr sz="1050" b="0" dirty="0"/>
              <a:t>G6 </a:t>
            </a:r>
            <a:r>
              <a:rPr sz="1050" b="0" dirty="0" err="1"/>
              <a:t>名词≈形容词</a:t>
            </a:r>
            <a:r>
              <a:rPr sz="1050" b="0" dirty="0"/>
              <a:t> &gt; 动词（2.51/2.50/2.42），G8 </a:t>
            </a:r>
            <a:r>
              <a:rPr sz="1050" b="0" dirty="0" err="1"/>
              <a:t>后收敛</a:t>
            </a:r>
            <a:endParaRPr sz="105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050" b="1" dirty="0" err="1"/>
              <a:t>典型性：</a:t>
            </a:r>
            <a:r>
              <a:rPr sz="1050" b="0" dirty="0" err="1"/>
              <a:t>形容词最高、动词最低；动词差距随年级缩小</a:t>
            </a:r>
            <a:endParaRPr sz="105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050" b="1" dirty="0"/>
              <a:t>复杂度：</a:t>
            </a:r>
            <a:r>
              <a:rPr sz="1050" b="0" dirty="0"/>
              <a:t>动词的频率下降幅度较小（G8 b=.108, z=3.12；G11 b=.127, z=3.65）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3CEC519-858D-41CA-AA95-4A4FA7FBAB4E}"/>
              </a:ext>
            </a:extLst>
          </p:cNvPr>
          <p:cNvSpPr>
            <a:spLocks noGrp="1"/>
          </p:cNvSpPr>
          <p:nvPr/>
        </p:nvSpPr>
        <p:spPr>
          <a:xfrm>
            <a:off x="6126480" y="1051560"/>
            <a:ext cx="2560320" cy="3124200"/>
          </a:xfrm>
          <a:prstGeom prst="roundRect">
            <a:avLst>
              <a:gd name="adj" fmla="val 2500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727B14-4FFF-4BC7-AD85-D71138BAA0B9}"/>
              </a:ext>
            </a:extLst>
          </p:cNvPr>
          <p:cNvSpPr>
            <a:spLocks noGrp="1"/>
          </p:cNvSpPr>
          <p:nvPr/>
        </p:nvSpPr>
        <p:spPr>
          <a:xfrm>
            <a:off x="6263640" y="1188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情感效价 Valence</a:t>
            </a:r>
            <a:endParaRPr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6E737C1-37F1-4D96-895F-8952F330B6E0}"/>
              </a:ext>
            </a:extLst>
          </p:cNvPr>
          <p:cNvSpPr>
            <a:spLocks noGrp="1"/>
          </p:cNvSpPr>
          <p:nvPr/>
        </p:nvSpPr>
        <p:spPr>
          <a:xfrm>
            <a:off x="6263640" y="1737360"/>
            <a:ext cx="2286000" cy="2324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050" b="1" dirty="0"/>
              <a:t>可用性：</a:t>
            </a:r>
            <a:r>
              <a:rPr sz="1050" b="0" dirty="0"/>
              <a:t>G6 </a:t>
            </a:r>
            <a:r>
              <a:rPr sz="1050" b="0" dirty="0" err="1"/>
              <a:t>积极</a:t>
            </a:r>
            <a:r>
              <a:rPr sz="1050" b="0" dirty="0"/>
              <a:t> &gt; </a:t>
            </a:r>
            <a:r>
              <a:rPr sz="1050" b="0" dirty="0" err="1"/>
              <a:t>消极</a:t>
            </a:r>
            <a:r>
              <a:rPr sz="1050" b="0" dirty="0"/>
              <a:t> &gt; 中性（2.60/2.44/2.39；b=.184, p&lt;.001），至 G11 </a:t>
            </a:r>
            <a:r>
              <a:rPr sz="1050" b="0" dirty="0" err="1"/>
              <a:t>接近上限</a:t>
            </a:r>
            <a:endParaRPr sz="105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050" b="1" dirty="0" err="1"/>
              <a:t>典型性：</a:t>
            </a:r>
            <a:r>
              <a:rPr sz="1050" b="0" dirty="0" err="1"/>
              <a:t>描述上积极</a:t>
            </a:r>
            <a:r>
              <a:rPr sz="1050" b="0" dirty="0"/>
              <a:t> &gt; </a:t>
            </a:r>
            <a:r>
              <a:rPr sz="1050" b="0" dirty="0" err="1"/>
              <a:t>消极</a:t>
            </a:r>
            <a:r>
              <a:rPr sz="1050" b="0" dirty="0"/>
              <a:t> &gt; </a:t>
            </a:r>
            <a:r>
              <a:rPr sz="1050" b="0" dirty="0" err="1"/>
              <a:t>中性，但模型中的效价作用较弱</a:t>
            </a:r>
            <a:endParaRPr sz="105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050" b="1" dirty="0" err="1"/>
              <a:t>复杂度：</a:t>
            </a:r>
            <a:r>
              <a:rPr sz="1050" b="0" dirty="0" err="1"/>
              <a:t>效价主效应及年级交互均不显著</a:t>
            </a:r>
            <a:endParaRPr sz="1050" b="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771EDF5-B0A6-4BB7-BD58-66C0308AC31A}"/>
              </a:ext>
            </a:extLst>
          </p:cNvPr>
          <p:cNvSpPr>
            <a:spLocks noGrp="1"/>
          </p:cNvSpPr>
          <p:nvPr/>
        </p:nvSpPr>
        <p:spPr>
          <a:xfrm>
            <a:off x="457200" y="4305300"/>
            <a:ext cx="8229600" cy="590550"/>
          </a:xfrm>
          <a:prstGeom prst="roundRect">
            <a:avLst>
              <a:gd name="adj" fmla="val 11290"/>
            </a:avLst>
          </a:prstGeom>
          <a:solidFill>
            <a:srgbClr val="E8F0F8"/>
          </a:solidFill>
          <a:ln w="762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5E33BD-8288-4F68-B445-E9DF6CE1E321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148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148" b="1" dirty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总体而言，词汇属性主要塑造低年级学习者的反应可用性与联想典型性，相关差异随年级提高而普遍收敛，而词汇复杂度上的属性效应较弱且因指标而异。</a:t>
            </a:r>
          </a:p>
        </p:txBody>
      </p:sp>
    </p:spTree>
    <p:extLst>
      <p:ext uri="{BB962C8B-B14F-4D97-AF65-F5344CB8AC3E}">
        <p14:creationId xmlns:p14="http://schemas.microsoft.com/office/powerpoint/2010/main" val="1582301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D637FE-FC2D-4CA6-8EA4-100175365E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708D42-EF37-43AA-BB4B-0BB2E3A3C0F5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8DE4A0-EF34-4B37-AB86-9A2A57C5B141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03 · KEY FINDINGS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1EE1A8A-677C-49E5-8752-24070964A200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12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F85BDA-00FF-4523-83FF-8BF2DE880C58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语义组织的发展（一）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Semantic Organization – Overview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2361DA-8DC9-45C0-B571-C33418F29E1C}"/>
              </a:ext>
            </a:extLst>
          </p:cNvPr>
          <p:cNvSpPr>
            <a:spLocks noGrp="1"/>
          </p:cNvSpPr>
          <p:nvPr/>
        </p:nvSpPr>
        <p:spPr>
          <a:xfrm>
            <a:off x="457200" y="962025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98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298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语义反应 vs. 非语义反应（占可编码反应的比例）</a:t>
            </a:r>
            <a:endParaRPr sz="14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F055DB7-B843-4132-A3D5-E98915B2CB7D}"/>
              </a:ext>
            </a:extLst>
          </p:cNvPr>
          <p:cNvSpPr>
            <a:spLocks noGrp="1"/>
          </p:cNvSpPr>
          <p:nvPr/>
        </p:nvSpPr>
        <p:spPr>
          <a:xfrm>
            <a:off x="457200" y="3343275"/>
            <a:ext cx="8229600" cy="1057275"/>
          </a:xfrm>
          <a:prstGeom prst="roundRect">
            <a:avLst>
              <a:gd name="adj" fmla="val 2979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770BD25-453A-40AC-A748-3DCD337B0761}"/>
              </a:ext>
            </a:extLst>
          </p:cNvPr>
          <p:cNvSpPr>
            <a:spLocks noGrp="1"/>
          </p:cNvSpPr>
          <p:nvPr/>
        </p:nvSpPr>
        <p:spPr>
          <a:xfrm>
            <a:off x="685800" y="3419475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整体发现</a:t>
            </a:r>
            <a:endParaRPr sz="13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5439F90-2930-4374-8B0F-05C47B9F7332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7772400" cy="58102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08000"/>
              </a:lnSpc>
              <a:buNone/>
              <a:defRPr sz="1148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48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语义反应在</a:t>
            </a:r>
            <a:r>
              <a:rPr sz="1148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G8 显著下降、G11 </a:t>
            </a:r>
            <a:r>
              <a:rPr sz="1148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部分恢复；语义反应内部，横组合始终占</a:t>
            </a:r>
            <a:r>
              <a:rPr sz="1148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76%–80%，</a:t>
            </a:r>
            <a:r>
              <a:rPr sz="1148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纵聚合仅有限且非单调增长。这说明发展是暂时的形式通道增强，而非横组合向纵聚合的整体替代</a:t>
            </a:r>
            <a:r>
              <a:rPr sz="1148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。</a:t>
            </a:r>
            <a:endParaRPr sz="13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99450607-EF13-4364-A0E2-E677EBE39281}"/>
              </a:ext>
            </a:extLst>
          </p:cNvPr>
          <p:cNvSpPr>
            <a:spLocks noGrp="1"/>
          </p:cNvSpPr>
          <p:nvPr/>
        </p:nvSpPr>
        <p:spPr>
          <a:xfrm>
            <a:off x="457200" y="4476750"/>
            <a:ext cx="8229600" cy="514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00" i="1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注：横组合</a:t>
            </a:r>
            <a:r>
              <a:rPr sz="100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(syntagmatic) </a:t>
            </a:r>
            <a:r>
              <a:rPr sz="1000" i="1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指语境搭配、修饰、动作等序列关系；纵聚合</a:t>
            </a:r>
            <a:r>
              <a:rPr sz="100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(paradigmatic) </a:t>
            </a:r>
            <a:r>
              <a:rPr sz="1000" i="1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指反义、同义、并列、上下义等聚合关系</a:t>
            </a:r>
            <a:endParaRPr sz="1000" dirty="0"/>
          </a:p>
        </p:txBody>
      </p:sp>
      <p:graphicFrame>
        <p:nvGraphicFramePr>
          <p:cNvPr id="25" name="表格 24"/>
          <p:cNvGraphicFramePr/>
          <p:nvPr/>
        </p:nvGraphicFramePr>
        <p:xfrm>
          <a:off x="457200" y="1219200"/>
          <a:ext cx="8229600" cy="8001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102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类别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2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G6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2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G8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2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G11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2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发展趋势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998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语义反应 Semantic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82.7%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45.8%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58.0%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G6 &gt; G11 &gt; G8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998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非语义反应 Non-semantic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G8 &gt; G11 &gt; G6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319908F3-1032-4F24-A2C1-98CDE838AF6E}"/>
              </a:ext>
            </a:extLst>
          </p:cNvPr>
          <p:cNvSpPr>
            <a:spLocks noGrp="1"/>
          </p:cNvSpPr>
          <p:nvPr/>
        </p:nvSpPr>
        <p:spPr>
          <a:xfrm>
            <a:off x="457200" y="2133600"/>
            <a:ext cx="8229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98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298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横组合 vs. 纵聚合（占语义反应的比例）</a:t>
            </a:r>
          </a:p>
        </p:txBody>
      </p:sp>
      <p:graphicFrame>
        <p:nvGraphicFramePr>
          <p:cNvPr id="27" name="表格 26"/>
          <p:cNvGraphicFramePr/>
          <p:nvPr/>
        </p:nvGraphicFramePr>
        <p:xfrm>
          <a:off x="457200" y="2390775"/>
          <a:ext cx="8229600" cy="8001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102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类别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2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G6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2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G8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2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G11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2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发展趋势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998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横组合 Syntagmatic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79.96%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76.44%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77.57%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始终占绝对优势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998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纵聚合 Paradigmatic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20.04%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23.56%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22.43%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G6→G8 显著提高 (b=.498, p&lt;.001)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042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634F54-391A-4F2B-99B8-AB1ED43A5E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DF5EADE-7FB3-44A2-A984-8896D616FAA5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DD4D39-DA21-4563-856E-2E7000FFAB1F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03 · KEY FINDINGS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3D69CD-C885-4C25-96F8-49B49539DB5A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13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B2C51BD-D457-4D18-B799-45CF4012AB23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语义组织的发展（二）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Subcategory Development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AA58A8B-0341-4663-9D55-B56BE4AA2CE5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MMAF 子类的年级发展（占语义反应的比例）</a:t>
            </a:r>
            <a:endParaRPr sz="13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E81365F-3D94-4737-AFCC-81E8F62121EF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横组合反应 Syntagmatic</a:t>
            </a:r>
            <a:endParaRPr sz="1200"/>
          </a:p>
        </p:txBody>
      </p:sp>
      <p:graphicFrame>
        <p:nvGraphicFramePr>
          <p:cNvPr id="25" name="Table 0"/>
          <p:cNvGraphicFramePr/>
          <p:nvPr/>
        </p:nvGraphicFramePr>
        <p:xfrm>
          <a:off x="457200" y="1600200"/>
          <a:ext cx="4023360" cy="1219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子类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趋势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Context 语境搭配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45.90%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33.29%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34.99%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</a:rPr>
                        <a:t>显著下降↓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Modification 修饰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20.31%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21.91%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20.69%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稳定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Action 动作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10.01%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16.19%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17.97%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显著上升↑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Phrasal 短语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0.92%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3.72%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2.37%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G8峰值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其他横组合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2.83%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1.32%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1.55%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>
            <a:extLst>
              <a:ext uri="{FF2B5EF4-FFF2-40B4-BE49-F238E27FC236}">
                <a16:creationId xmlns:a16="http://schemas.microsoft.com/office/drawing/2014/main" id="{E084F856-0231-4059-8C49-2FEBBC318287}"/>
              </a:ext>
            </a:extLst>
          </p:cNvPr>
          <p:cNvSpPr>
            <a:spLocks noGrp="1"/>
          </p:cNvSpPr>
          <p:nvPr/>
        </p:nvSpPr>
        <p:spPr>
          <a:xfrm>
            <a:off x="4663440" y="129844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纵聚合反应 Paradigmatic</a:t>
            </a:r>
            <a:endParaRPr sz="1200"/>
          </a:p>
        </p:txBody>
      </p:sp>
      <p:graphicFrame>
        <p:nvGraphicFramePr>
          <p:cNvPr id="27" name="Table 1"/>
          <p:cNvGraphicFramePr/>
          <p:nvPr/>
        </p:nvGraphicFramePr>
        <p:xfrm>
          <a:off x="4663440" y="1600200"/>
          <a:ext cx="4023360" cy="1219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子类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趋势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Antonymy 反义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8.69%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8.10%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10.23%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先降后升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Synonymy 同义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7.05%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10.09%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7.96%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G8峰值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Coordination 并列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1.71%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3.05%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1.98%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G8峰值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Hyponymy 上下义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1.35%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1.78%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1.56%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稳定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其他纵聚合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1.23%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0.55%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>
            <a:extLst>
              <a:ext uri="{FF2B5EF4-FFF2-40B4-BE49-F238E27FC236}">
                <a16:creationId xmlns:a16="http://schemas.microsoft.com/office/drawing/2014/main" id="{DF9DB7F8-965E-4FE4-AC19-E7FDA3FE44F3}"/>
              </a:ext>
            </a:extLst>
          </p:cNvPr>
          <p:cNvSpPr>
            <a:spLocks noGrp="1"/>
          </p:cNvSpPr>
          <p:nvPr/>
        </p:nvSpPr>
        <p:spPr>
          <a:xfrm>
            <a:off x="457200" y="3246120"/>
            <a:ext cx="8229600" cy="9144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2D59EB8D-FF19-4283-B589-EC4546B87A05}"/>
              </a:ext>
            </a:extLst>
          </p:cNvPr>
          <p:cNvSpPr>
            <a:spLocks noGrp="1"/>
          </p:cNvSpPr>
          <p:nvPr/>
        </p:nvSpPr>
        <p:spPr>
          <a:xfrm>
            <a:off x="457200" y="33375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关键发现</a:t>
            </a:r>
            <a:endParaRPr sz="12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09C951B-9284-4107-991B-8FC9D10A97F8}"/>
              </a:ext>
            </a:extLst>
          </p:cNvPr>
          <p:cNvSpPr>
            <a:spLocks noGrp="1"/>
          </p:cNvSpPr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noFill/>
        </p:spPr>
        <p:txBody>
          <a:bodyPr wrap="square" lIns="0" tIns="63500" rIns="0" bIns="0" anchor="t"/>
          <a:lstStyle/>
          <a:p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Context 占比最高，但由 45.9% 降至 35.0%</a:t>
            </a:r>
            <a:endParaRPr sz="1100"/>
          </a:p>
          <a:p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Action 由 10.0% 升至 18.0%，体现搭配知识的发展</a:t>
            </a:r>
            <a:endParaRPr sz="1100"/>
          </a:p>
          <a:p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Antonymy 先降后升，G11 达到 10.23%，是高中阶段主要的纵聚合增量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Synonymy 和 Coordination 均呈 G8 峰值</a:t>
            </a:r>
            <a:endParaRPr sz="11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6E9F4C2-A599-4A47-9D2E-B33738FEBF94}"/>
              </a:ext>
            </a:extLst>
          </p:cNvPr>
          <p:cNvSpPr>
            <a:spLocks noGrp="1"/>
          </p:cNvSpPr>
          <p:nvPr/>
        </p:nvSpPr>
        <p:spPr>
          <a:xfrm>
            <a:off x="457200" y="47320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i="1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非语义反应占</a:t>
            </a:r>
            <a:r>
              <a:rPr sz="100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17.3% / 54.2% / 42.0%；</a:t>
            </a:r>
            <a:r>
              <a:rPr sz="1000" i="1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其中语音与拼写形式反应为</a:t>
            </a:r>
            <a:r>
              <a:rPr sz="100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1.19% / 19.72% / 9.59%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1450015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8D5617-3642-4B86-A63D-EEC632F584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5067E33-0427-4111-A457-BBE197B5B31D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483AFF-C761-4A08-9A6A-0F190E576F39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03 · KEY FINDINGS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A518EF-27A2-4F8B-87B4-A7362458BCD0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14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B87E07-4022-4F14-ABDF-F2CD872EDF2B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词汇属性对语义组织的调节效应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Cue Properties on Semantic Organization</a:t>
            </a:r>
            <a:endParaRPr sz="2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0AA20E9-64C2-4CD1-9804-D3FBE42A6A7B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2560320" cy="3124200"/>
          </a:xfrm>
          <a:prstGeom prst="roundRect">
            <a:avLst>
              <a:gd name="adj" fmla="val 2500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07611B3-829B-4E9E-99DD-4EB05C74A89C}"/>
              </a:ext>
            </a:extLst>
          </p:cNvPr>
          <p:cNvSpPr>
            <a:spLocks noGrp="1"/>
          </p:cNvSpPr>
          <p:nvPr/>
        </p:nvSpPr>
        <p:spPr>
          <a:xfrm>
            <a:off x="594360" y="1188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词类 Word Class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1DA7479-3DD8-40C1-86E4-0E277464CEC8}"/>
              </a:ext>
            </a:extLst>
          </p:cNvPr>
          <p:cNvSpPr>
            <a:spLocks noGrp="1"/>
          </p:cNvSpPr>
          <p:nvPr/>
        </p:nvSpPr>
        <p:spPr>
          <a:xfrm>
            <a:off x="594360" y="1737360"/>
            <a:ext cx="2286000" cy="2324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形容词纵聚合比例最高（G6：36.6%；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名词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14.8%；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动词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8.6%）</a:t>
            </a:r>
          </a:p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形容词主效应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b=1.449，约为最大年级效应的 3 倍</a:t>
            </a:r>
          </a:p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动词由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8.6% 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升至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17.4%/17.1%；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交互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z=6.61/10.39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CDF743C-1217-48AB-9091-4A531649AEC4}"/>
              </a:ext>
            </a:extLst>
          </p:cNvPr>
          <p:cNvSpPr>
            <a:spLocks noGrp="1"/>
          </p:cNvSpPr>
          <p:nvPr/>
        </p:nvSpPr>
        <p:spPr>
          <a:xfrm>
            <a:off x="3291840" y="1051560"/>
            <a:ext cx="2560320" cy="3124200"/>
          </a:xfrm>
          <a:prstGeom prst="roundRect">
            <a:avLst>
              <a:gd name="adj" fmla="val 2500"/>
            </a:avLst>
          </a:prstGeom>
          <a:solidFill>
            <a:srgbClr val="F5F7F9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0FA0C16-ED9A-4207-BF0F-0B83719BA574}"/>
              </a:ext>
            </a:extLst>
          </p:cNvPr>
          <p:cNvSpPr>
            <a:spLocks noGrp="1"/>
          </p:cNvSpPr>
          <p:nvPr/>
        </p:nvSpPr>
        <p:spPr>
          <a:xfrm>
            <a:off x="3429000" y="1188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具体性 Concreteness</a:t>
            </a:r>
            <a:endParaRPr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0A7B8BE-40CE-40AD-9AF4-113051CC4A7A}"/>
              </a:ext>
            </a:extLst>
          </p:cNvPr>
          <p:cNvSpPr>
            <a:spLocks noGrp="1"/>
          </p:cNvSpPr>
          <p:nvPr/>
        </p:nvSpPr>
        <p:spPr>
          <a:xfrm>
            <a:off x="3429000" y="1737360"/>
            <a:ext cx="2286000" cy="2324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具体词更可能引出语义反应（b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=.150, z=10.13, p&lt;.001），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但其纵聚合比例较低</a:t>
            </a:r>
            <a:endParaRPr sz="10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抽象词的纵聚合增幅大于具体词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（+7.3 vs +0.3 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个百分点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）</a:t>
            </a:r>
          </a:p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G8×具体性 b=.118, z=5.08, p&lt;.001：具体词的语义比例下降较小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EA493D5-934E-4167-A156-0728015DA24F}"/>
              </a:ext>
            </a:extLst>
          </p:cNvPr>
          <p:cNvSpPr>
            <a:spLocks noGrp="1"/>
          </p:cNvSpPr>
          <p:nvPr/>
        </p:nvSpPr>
        <p:spPr>
          <a:xfrm>
            <a:off x="6126480" y="1051560"/>
            <a:ext cx="2560320" cy="3124200"/>
          </a:xfrm>
          <a:prstGeom prst="roundRect">
            <a:avLst>
              <a:gd name="adj" fmla="val 2500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4B43F56-CFD0-406C-A62A-612B8A87E213}"/>
              </a:ext>
            </a:extLst>
          </p:cNvPr>
          <p:cNvSpPr>
            <a:spLocks noGrp="1"/>
          </p:cNvSpPr>
          <p:nvPr/>
        </p:nvSpPr>
        <p:spPr>
          <a:xfrm>
            <a:off x="6263640" y="1188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情感效价 Valence</a:t>
            </a:r>
            <a:endParaRPr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169936E-A8AA-47D3-89FE-91996E36FF62}"/>
              </a:ext>
            </a:extLst>
          </p:cNvPr>
          <p:cNvSpPr>
            <a:spLocks noGrp="1"/>
          </p:cNvSpPr>
          <p:nvPr/>
        </p:nvSpPr>
        <p:spPr>
          <a:xfrm>
            <a:off x="6263640" y="1737360"/>
            <a:ext cx="2286000" cy="2324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积极词的语义反应比例最高；G8 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的下降较小（交互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b=.201, z=8.67, p&lt;.001）</a:t>
            </a:r>
          </a:p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消极词在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G8 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的语义比例降至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41.0%，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形式反应更多（b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=−.283, z=−12.30）</a:t>
            </a:r>
          </a:p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负向词纵聚合总体较高，但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G8 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例外：积极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22.2% &gt; 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消极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21.2%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DCB2EC5-FF8F-4025-8020-64CBAF22F569}"/>
              </a:ext>
            </a:extLst>
          </p:cNvPr>
          <p:cNvSpPr>
            <a:spLocks noGrp="1"/>
          </p:cNvSpPr>
          <p:nvPr/>
        </p:nvSpPr>
        <p:spPr>
          <a:xfrm>
            <a:off x="457200" y="4305300"/>
            <a:ext cx="8229600" cy="590550"/>
          </a:xfrm>
          <a:prstGeom prst="roundRect">
            <a:avLst>
              <a:gd name="adj" fmla="val 11290"/>
            </a:avLst>
          </a:prstGeom>
          <a:solidFill>
            <a:srgbClr val="E8F0F8"/>
          </a:solidFill>
          <a:ln w="762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45DFFB-77F7-4434-AB26-A7421693A51A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148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148" b="1" dirty="0" err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总体而言，词类决定纵聚合反应的基本</a:t>
            </a:r>
            <a:r>
              <a:rPr lang="zh-CN" altLang="en-US" sz="1148" b="1" dirty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分布</a:t>
            </a:r>
            <a:r>
              <a:rPr sz="1148" b="1" dirty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，</a:t>
            </a:r>
            <a:r>
              <a:rPr sz="1148" b="1" dirty="0" err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具体性与效价主要调节语义路径是否可及；这些作用在</a:t>
            </a:r>
            <a:r>
              <a:rPr sz="1148" b="1" dirty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 G8 </a:t>
            </a:r>
            <a:r>
              <a:rPr sz="1148" b="1" dirty="0" err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的形式反应高峰期最突出，并随编码层级而改变方向</a:t>
            </a:r>
            <a:r>
              <a:rPr sz="1148" b="1" dirty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80228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8AFBDB-94E0-4D7F-B2C3-27AC8C1980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08544A-BAC3-4F15-8AD0-666C3DA26FD1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809038-5430-476C-8884-7100B77F1BB0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03 · KEY FINDINGS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64D582-7824-49EA-B220-13F71F02CEFD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15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D0F89F4-8DC6-45BD-AC68-56655A9396E4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网络整合的发展（一）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Individual-Level Network Indicators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006605E-1CDE-4346-A1C7-9CD4562048DE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核心指标</a:t>
            </a:r>
            <a:endParaRPr sz="1200"/>
          </a:p>
        </p:txBody>
      </p:sp>
      <p:graphicFrame>
        <p:nvGraphicFramePr>
          <p:cNvPr id="22" name="Table 0"/>
          <p:cNvGraphicFramePr/>
          <p:nvPr/>
        </p:nvGraphicFramePr>
        <p:xfrm>
          <a:off x="274320" y="1207008"/>
          <a:ext cx="8595360" cy="11379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指标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G6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G8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G11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 (G11 vs G6)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解读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Degree 度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105.20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63.54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65.64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</a:rPr>
                        <a:t>−0.636***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连接趋于精细化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Clustering 聚类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.206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.247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.280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+0.238***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上升，但依赖建网规则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C-R Dist. 刺激反应距离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.168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.270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.329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+0.786***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提取路径变长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0" marR="63500" marT="50800" marB="5080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>
            <a:extLst>
              <a:ext uri="{FF2B5EF4-FFF2-40B4-BE49-F238E27FC236}">
                <a16:creationId xmlns:a16="http://schemas.microsoft.com/office/drawing/2014/main" id="{70DDBB02-2F42-4FAA-94B6-8C97AD2BC857}"/>
              </a:ext>
            </a:extLst>
          </p:cNvPr>
          <p:cNvSpPr>
            <a:spLocks noGrp="1"/>
          </p:cNvSpPr>
          <p:nvPr/>
        </p:nvSpPr>
        <p:spPr>
          <a:xfrm>
            <a:off x="457200" y="28346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辅助指标</a:t>
            </a:r>
            <a:endParaRPr sz="1100"/>
          </a:p>
        </p:txBody>
      </p:sp>
      <p:graphicFrame>
        <p:nvGraphicFramePr>
          <p:cNvPr id="24" name="Table 1"/>
          <p:cNvGraphicFramePr/>
          <p:nvPr/>
        </p:nvGraphicFramePr>
        <p:xfrm>
          <a:off x="274320" y="3090672"/>
          <a:ext cx="8595360" cy="1016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指标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 (G11 vs G6)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解读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Strength 强度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316.04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160.87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170.66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</a:rPr>
                        <a:t>−0.860***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共享连接强度下降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Betweenness 介数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.045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.013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.017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</a:rPr>
                        <a:t>−1.454***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枢纽作用降低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Pairwise Dist. 成对距离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.260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.438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.488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+0.818***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反应集更分散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Same-Comm. % 同社区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.520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.548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.501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−0.038 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G8 短暂升高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25400" marB="25400">
                    <a:lnL w="3810" cmpd="sng">
                      <a:solidFill>
                        <a:srgbClr val="CCCCCC"/>
                      </a:solidFill>
                      <a:prstDash val="solid"/>
                    </a:lnL>
                    <a:lnR w="3810" cmpd="sng">
                      <a:solidFill>
                        <a:srgbClr val="CCCCCC"/>
                      </a:solidFill>
                      <a:prstDash val="solid"/>
                    </a:lnR>
                    <a:lnT w="3810" cmpd="sng">
                      <a:solidFill>
                        <a:srgbClr val="CCCCCC"/>
                      </a:solidFill>
                      <a:prstDash val="solid"/>
                    </a:lnT>
                    <a:lnB w="381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>
            <a:extLst>
              <a:ext uri="{FF2B5EF4-FFF2-40B4-BE49-F238E27FC236}">
                <a16:creationId xmlns:a16="http://schemas.microsoft.com/office/drawing/2014/main" id="{BEB04F8B-86B9-460B-858F-EF4E48E2D6BE}"/>
              </a:ext>
            </a:extLst>
          </p:cNvPr>
          <p:cNvSpPr>
            <a:spLocks noGrp="1"/>
          </p:cNvSpPr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PCA：前六项指标共同定义 PC1（70.2%）；同社区比例主要定义 PC2（19.1%）。三项核心指标是代表性指标，并非相互独立</a:t>
            </a:r>
            <a:endParaRPr sz="110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E70FB141-EEEE-42FC-A220-156C7ED30612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886C92D-653B-4D51-A185-C038C0331669}"/>
              </a:ext>
            </a:extLst>
          </p:cNvPr>
          <p:cNvSpPr>
            <a:spLocks noGrp="1"/>
          </p:cNvSpPr>
          <p:nvPr/>
        </p:nvSpPr>
        <p:spPr>
          <a:xfrm>
            <a:off x="640080" y="4590288"/>
            <a:ext cx="786384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  <a:defRPr sz="1148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148" b="1" dirty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个体层面呈现“低中心性、高局部聚集、长距离”的发展组合：高年级学习者较少依赖共享枢纽，反应进入更外围、更分散但局部更紧密的网络位置。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960638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8AFBDB-94E0-4D7F-B2C3-27AC8C1980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08544A-BAC3-4F15-8AD0-666C3DA26FD1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809038-5430-476C-8884-7100B77F1BB0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03 · KEY FINDINGS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64D582-7824-49EA-B220-13F71F02CEFD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16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D0F89F4-8DC6-45BD-AC68-56655A9396E4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网络整合的发展（二）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Aggregate Grade-Level Networks</a:t>
            </a:r>
            <a:endParaRPr sz="22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544FFB-DE01-4161-82A4-648F2A8CB453}"/>
              </a:ext>
            </a:extLst>
          </p:cNvPr>
          <p:cNvSpPr>
            <a:spLocks noGrp="1"/>
          </p:cNvSpPr>
          <p:nvPr/>
        </p:nvSpPr>
        <p:spPr>
          <a:xfrm>
            <a:off x="457200" y="962025"/>
            <a:ext cx="822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Participant-matched aggregate networks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457200" y="1200150"/>
          <a:ext cx="8229600" cy="2857500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99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Statistic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G6 matched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G8 matched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G11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878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Nodes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887 [857, 904]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1,647 [1,622, 1,662]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2,063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 .001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878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Edges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6,499 [6,342, 6,623]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10,729 [10,616, 10,847]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11,614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 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878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Density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.0166 [.0160, .0174]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.0079 [.0078, .0081]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.0055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 .001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878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Mean degree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14.66 [14.40, 14.98]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13.03 [12.90, 13.19]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 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878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Global clustering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.175 [.172, .177]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.116 [.115, .117]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.108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 .001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878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Average path length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2.879 [2.854, 2.895]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3.060 [3.048, 3.070]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 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878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Modularity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.512 [.503, .521]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.500 [.495, .506]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.463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.011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878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Degree centralization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.219 [.207, .230]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.059 [.056, .061]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.066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 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878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Small-world index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9.26 [8.84, 9.53]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13.80 [13.50, 14.05]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19.79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8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 .001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142F11CA-2713-4FEB-854A-7A7F71571CDB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8229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i="1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90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注：G6 与 G8 为与 G11 匹配 83 名参与者后的 bootstrap 均值 [95% CI]；p 为 G11 vs G6 置换检验。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AB0AFA2-8C45-4C28-828D-82DCAFD18924}"/>
              </a:ext>
            </a:extLst>
          </p:cNvPr>
          <p:cNvSpPr>
            <a:spLocks noGrp="1"/>
          </p:cNvSpPr>
          <p:nvPr/>
        </p:nvSpPr>
        <p:spPr>
          <a:xfrm>
            <a:off x="457200" y="4429125"/>
            <a:ext cx="8229600" cy="523875"/>
          </a:xfrm>
          <a:prstGeom prst="roundRect">
            <a:avLst>
              <a:gd name="adj" fmla="val 12727"/>
            </a:avLst>
          </a:prstGeom>
          <a:solidFill>
            <a:srgbClr val="E8F0F8"/>
          </a:solidFill>
          <a:ln w="762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8E683E-5DE4-4B00-886E-F4B6071DFF6A}"/>
              </a:ext>
            </a:extLst>
          </p:cNvPr>
          <p:cNvSpPr>
            <a:spLocks noGrp="1"/>
          </p:cNvSpPr>
          <p:nvPr/>
        </p:nvSpPr>
        <p:spPr>
          <a:xfrm>
            <a:off x="647700" y="4486275"/>
            <a:ext cx="78486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102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102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群体网络随年级显著扩展，同时保持小世界性和清晰社区结构；在控制规模后，最稳健的结构变化是 degree centralization 由 .219 降至约 .06，表明共享连接从少数枢纽向更广泛词汇分散。</a:t>
            </a:r>
          </a:p>
        </p:txBody>
      </p:sp>
    </p:spTree>
    <p:extLst>
      <p:ext uri="{BB962C8B-B14F-4D97-AF65-F5344CB8AC3E}">
        <p14:creationId xmlns:p14="http://schemas.microsoft.com/office/powerpoint/2010/main" val="960638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20BD9D-8A97-4747-99A0-F4E3B15207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BBDB29-FE97-49EA-852E-05907444D6E6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4C5ECD5-6779-474A-8A7C-EA9EFBD91976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03 · KEY FINDINGS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EFD7116-8938-457F-A6A7-98A354380F79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17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3BF6751-F23F-4994-AD71-D36A358C5A12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词汇属性对网络指标的调节效应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Cue Properties on Network</a:t>
            </a:r>
            <a:endParaRPr sz="2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69E5035-C3E6-4887-8E07-91663AC50042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2560320" cy="3124200"/>
          </a:xfrm>
          <a:prstGeom prst="roundRect">
            <a:avLst>
              <a:gd name="adj" fmla="val 2500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3A07898-C154-436D-9C09-74268D5A1FE9}"/>
              </a:ext>
            </a:extLst>
          </p:cNvPr>
          <p:cNvSpPr>
            <a:spLocks noGrp="1"/>
          </p:cNvSpPr>
          <p:nvPr/>
        </p:nvSpPr>
        <p:spPr>
          <a:xfrm>
            <a:off x="594360" y="1188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词类 Word Class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33F8A54-1BC7-45BA-914F-62FC911B1AA0}"/>
              </a:ext>
            </a:extLst>
          </p:cNvPr>
          <p:cNvSpPr>
            <a:spLocks noGrp="1"/>
          </p:cNvSpPr>
          <p:nvPr/>
        </p:nvSpPr>
        <p:spPr>
          <a:xfrm>
            <a:off x="594360" y="1737360"/>
            <a:ext cx="2286000" cy="2324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主效应主要集中于同社区比例：形容词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&gt; 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名词（b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=.453, p&lt;.001）</a:t>
            </a:r>
          </a:p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其余六项主效应均不显著</a:t>
            </a:r>
            <a:endParaRPr sz="10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但年级交互还涉及介数、聚类和距离，词类作用随指标而异</a:t>
            </a:r>
            <a:endParaRPr sz="10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6570408-1FD1-46B9-8645-3DC853C7EE21}"/>
              </a:ext>
            </a:extLst>
          </p:cNvPr>
          <p:cNvSpPr>
            <a:spLocks noGrp="1"/>
          </p:cNvSpPr>
          <p:nvPr/>
        </p:nvSpPr>
        <p:spPr>
          <a:xfrm>
            <a:off x="3291840" y="1051560"/>
            <a:ext cx="2560320" cy="3124200"/>
          </a:xfrm>
          <a:prstGeom prst="roundRect">
            <a:avLst>
              <a:gd name="adj" fmla="val 2500"/>
            </a:avLst>
          </a:prstGeom>
          <a:solidFill>
            <a:srgbClr val="F5F7F9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33A4CA1-242B-4860-878D-0929AC2E7F15}"/>
              </a:ext>
            </a:extLst>
          </p:cNvPr>
          <p:cNvSpPr>
            <a:spLocks noGrp="1"/>
          </p:cNvSpPr>
          <p:nvPr/>
        </p:nvSpPr>
        <p:spPr>
          <a:xfrm>
            <a:off x="3429000" y="1188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具体性 Concreteness</a:t>
            </a:r>
            <a:endParaRPr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3B72B6-2215-4C40-865C-BCA544957962}"/>
              </a:ext>
            </a:extLst>
          </p:cNvPr>
          <p:cNvSpPr>
            <a:spLocks noGrp="1"/>
          </p:cNvSpPr>
          <p:nvPr/>
        </p:nvSpPr>
        <p:spPr>
          <a:xfrm>
            <a:off x="3429000" y="1737360"/>
            <a:ext cx="2286000" cy="2324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具体性提高同社区比例（b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=.369, p&lt;.001），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并略缩短提示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–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反应距离（b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=−.080, p&lt;.05）</a:t>
            </a:r>
          </a:p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对四项中心性指标均无显著主效应</a:t>
            </a:r>
            <a:endParaRPr sz="10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同社区优势主要见于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G6（G8 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交互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b=−.354）；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距离和度还出现较小的年级交互</a:t>
            </a:r>
            <a:endParaRPr sz="10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7394D0-BFAF-494C-92D8-3A8CF734BDB2}"/>
              </a:ext>
            </a:extLst>
          </p:cNvPr>
          <p:cNvSpPr>
            <a:spLocks noGrp="1"/>
          </p:cNvSpPr>
          <p:nvPr/>
        </p:nvSpPr>
        <p:spPr>
          <a:xfrm>
            <a:off x="6126480" y="1051560"/>
            <a:ext cx="2560320" cy="3124200"/>
          </a:xfrm>
          <a:prstGeom prst="roundRect">
            <a:avLst>
              <a:gd name="adj" fmla="val 2500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732601-4667-44AD-8B56-5C855A9BC111}"/>
              </a:ext>
            </a:extLst>
          </p:cNvPr>
          <p:cNvSpPr>
            <a:spLocks noGrp="1"/>
          </p:cNvSpPr>
          <p:nvPr/>
        </p:nvSpPr>
        <p:spPr>
          <a:xfrm>
            <a:off x="6263640" y="11887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情感效价 Valence</a:t>
            </a:r>
            <a:endParaRPr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161018E-2FCB-4F76-96D8-A37A4B0513A7}"/>
              </a:ext>
            </a:extLst>
          </p:cNvPr>
          <p:cNvSpPr>
            <a:spLocks noGrp="1"/>
          </p:cNvSpPr>
          <p:nvPr/>
        </p:nvSpPr>
        <p:spPr>
          <a:xfrm>
            <a:off x="6263640" y="1737360"/>
            <a:ext cx="2286000" cy="2324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五项主效应显著：同社区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.280***、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介数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−.275***、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聚类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.032***、</a:t>
            </a: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强度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−.093**、度 −.075*</a:t>
            </a:r>
          </a:p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积极词反应更局部；消极词更靠近高连接、跨社区的情感核心</a:t>
            </a:r>
            <a:endParaRPr sz="10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 algn="l">
              <a:lnSpc>
                <a:spcPct val="108000"/>
              </a:lnSpc>
              <a:spcAft>
                <a:spcPts val="350"/>
              </a:spcAft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效价在多个指标上随年级增强（如</a:t>
            </a:r>
            <a:r>
              <a:rPr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G8×介数 .446；G8×度 .125）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9307E56-5E8D-4C6D-87EF-B3FDEB206F56}"/>
              </a:ext>
            </a:extLst>
          </p:cNvPr>
          <p:cNvSpPr>
            <a:spLocks noGrp="1"/>
          </p:cNvSpPr>
          <p:nvPr/>
        </p:nvSpPr>
        <p:spPr>
          <a:xfrm>
            <a:off x="457200" y="4305300"/>
            <a:ext cx="8229600" cy="590550"/>
          </a:xfrm>
          <a:prstGeom prst="roundRect">
            <a:avLst>
              <a:gd name="adj" fmla="val 11290"/>
            </a:avLst>
          </a:prstGeom>
          <a:solidFill>
            <a:srgbClr val="E8F0F8"/>
          </a:solidFill>
          <a:ln w="762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5B47A7-2417-464C-A6B9-44A1A579D290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7848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148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148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总体而言，词类与具体性的网络效应较局部并集中于同社区比例，而情感效价作用最广、且部分效应随年级增强，说明词汇属性对网络位置的影响不会随发展统一减弱。</a:t>
            </a:r>
          </a:p>
        </p:txBody>
      </p:sp>
    </p:spTree>
    <p:extLst>
      <p:ext uri="{BB962C8B-B14F-4D97-AF65-F5344CB8AC3E}">
        <p14:creationId xmlns:p14="http://schemas.microsoft.com/office/powerpoint/2010/main" val="442511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D53E30-B65D-488C-A926-ECB4068EFE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4E3E402-BCB1-463F-8B1E-C2D61392DD75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606218-B894-465A-908D-A13B5041EE4E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03 · KEY FINDINGS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78DE07-0C18-42C1-BA0A-2F6E27D65C6B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18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CEFBF95-16A1-471A-BC6C-20259E84888E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三维度整合解释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Integrated Account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7CDED8-8FD7-4FA7-A9F4-7C42D29DB9F5}"/>
              </a:ext>
            </a:extLst>
          </p:cNvPr>
          <p:cNvSpPr>
            <a:spLocks noGrp="1"/>
          </p:cNvSpPr>
          <p:nvPr/>
        </p:nvSpPr>
        <p:spPr>
          <a:xfrm>
            <a:off x="457200" y="962025"/>
            <a:ext cx="8229600" cy="44767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  <a:defRPr sz="1148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148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三阶段发展序列：受限产出/选择性语义/枢纽依赖 → 近完整产出/形式显著/快速分散 → 稳定产出/语义恢复/网络专门化</a:t>
            </a:r>
            <a:endParaRPr sz="13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BC1795F-9C40-4223-8A70-FDAB2A3E4DAE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5F7F9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A73B9E4-2BCB-449E-BD06-FD7539BD7D87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2606040" cy="274320"/>
          </a:xfrm>
          <a:prstGeom prst="rect">
            <a:avLst/>
          </a:prstGeom>
          <a:noFill/>
        </p:spPr>
        <p:txBody>
          <a:bodyPr wrap="square" lIns="0" tIns="127000" rIns="12700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第一阶段</a:t>
            </a:r>
            <a:endParaRPr sz="13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931E92B-6F74-42A5-95E2-E77DE5A066CF}"/>
              </a:ext>
            </a:extLst>
          </p:cNvPr>
          <p:cNvSpPr>
            <a:spLocks noGrp="1"/>
          </p:cNvSpPr>
          <p:nvPr/>
        </p:nvSpPr>
        <p:spPr>
          <a:xfrm>
            <a:off x="457200" y="1790700"/>
            <a:ext cx="2606040" cy="33337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998" b="1">
                <a:solidFill>
                  <a:srgbClr val="2E6DA4"/>
                </a:solidFill>
                <a:latin typeface="Calibri"/>
                <a:ea typeface="Calibri"/>
                <a:cs typeface="Calibri"/>
              </a:defRPr>
            </a:pPr>
            <a:r>
              <a:rPr sz="998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受限产出–选择性语义–枢纽依赖</a:t>
            </a:r>
            <a:endParaRPr sz="1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6CE939D-A0FA-4FA1-84B9-427603EC39CA}"/>
              </a:ext>
            </a:extLst>
          </p:cNvPr>
          <p:cNvSpPr>
            <a:spLocks noGrp="1"/>
          </p:cNvSpPr>
          <p:nvPr/>
        </p:nvSpPr>
        <p:spPr>
          <a:xfrm>
            <a:off x="457200" y="2133600"/>
            <a:ext cx="2606040" cy="23812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878" i="1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878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G6 | Restricted–Selective–Hub-Reliant</a:t>
            </a:r>
            <a:endParaRPr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A30035C-C270-4F27-B904-B19C7D2E85BF}"/>
              </a:ext>
            </a:extLst>
          </p:cNvPr>
          <p:cNvSpPr>
            <a:spLocks noGrp="1"/>
          </p:cNvSpPr>
          <p:nvPr/>
        </p:nvSpPr>
        <p:spPr>
          <a:xfrm>
            <a:off x="594360" y="2428875"/>
            <a:ext cx="2331720" cy="15525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350"/>
              </a:spcAft>
              <a:buNone/>
              <a:defRPr sz="95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53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表征：</a:t>
            </a:r>
            <a:r>
              <a:rPr sz="95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可用性 2.48；空白率 17.5%</a:t>
            </a:r>
          </a:p>
          <a:p>
            <a:pPr marL="0" indent="0" algn="l">
              <a:lnSpc>
                <a:spcPct val="110000"/>
              </a:lnSpc>
              <a:spcAft>
                <a:spcPts val="350"/>
              </a:spcAft>
              <a:buNone/>
              <a:defRPr sz="95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53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组织：</a:t>
            </a:r>
            <a:r>
              <a:rPr sz="95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语义 82.7%，但受遗漏筛选影响</a:t>
            </a:r>
          </a:p>
          <a:p>
            <a:pPr marL="0" indent="0" algn="l">
              <a:lnSpc>
                <a:spcPct val="110000"/>
              </a:lnSpc>
              <a:spcAft>
                <a:spcPts val="350"/>
              </a:spcAft>
              <a:buNone/>
              <a:defRPr sz="95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53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网络：</a:t>
            </a:r>
            <a:r>
              <a:rPr sz="95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centralization .219；top-20 hub 17.2%</a:t>
            </a:r>
          </a:p>
          <a:p>
            <a:pPr marL="0" indent="0" algn="l">
              <a:lnSpc>
                <a:spcPct val="110000"/>
              </a:lnSpc>
              <a:spcAft>
                <a:spcPts val="350"/>
              </a:spcAft>
              <a:buNone/>
              <a:defRPr sz="95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53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特征：</a:t>
            </a:r>
            <a:r>
              <a:rPr sz="95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熟悉词窄范围产出，共享核心最强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FA01538-D180-4781-A990-B9F3A2960BD6}"/>
              </a:ext>
            </a:extLst>
          </p:cNvPr>
          <p:cNvSpPr>
            <a:spLocks noGrp="1"/>
          </p:cNvSpPr>
          <p:nvPr/>
        </p:nvSpPr>
        <p:spPr>
          <a:xfrm>
            <a:off x="3063240" y="234315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7B46E88-72B9-462C-AA15-D5FFA14D9B4E}"/>
              </a:ext>
            </a:extLst>
          </p:cNvPr>
          <p:cNvSpPr>
            <a:spLocks noGrp="1"/>
          </p:cNvSpPr>
          <p:nvPr/>
        </p:nvSpPr>
        <p:spPr>
          <a:xfrm>
            <a:off x="3337560" y="14630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85D7804-1E21-4A6E-9E60-F8EC0F0D9754}"/>
              </a:ext>
            </a:extLst>
          </p:cNvPr>
          <p:cNvSpPr>
            <a:spLocks noGrp="1"/>
          </p:cNvSpPr>
          <p:nvPr/>
        </p:nvSpPr>
        <p:spPr>
          <a:xfrm>
            <a:off x="3337560" y="1524000"/>
            <a:ext cx="2606040" cy="274320"/>
          </a:xfrm>
          <a:prstGeom prst="rect">
            <a:avLst/>
          </a:prstGeom>
          <a:noFill/>
        </p:spPr>
        <p:txBody>
          <a:bodyPr wrap="square" lIns="0" tIns="127000" rIns="12700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第二阶段</a:t>
            </a:r>
            <a:endParaRPr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E89A894-15FE-4F1A-8A83-DA8AE7B3C75D}"/>
              </a:ext>
            </a:extLst>
          </p:cNvPr>
          <p:cNvSpPr>
            <a:spLocks noGrp="1"/>
          </p:cNvSpPr>
          <p:nvPr/>
        </p:nvSpPr>
        <p:spPr>
          <a:xfrm>
            <a:off x="3337560" y="1790700"/>
            <a:ext cx="2606040" cy="33337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998" b="1">
                <a:solidFill>
                  <a:srgbClr val="2E6DA4"/>
                </a:solidFill>
                <a:latin typeface="Calibri"/>
                <a:ea typeface="Calibri"/>
                <a:cs typeface="Calibri"/>
              </a:defRPr>
            </a:pPr>
            <a:r>
              <a:rPr sz="998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近完整产出–形式显著–快速分散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C90E533-91ED-4F51-B54E-D9EA32425642}"/>
              </a:ext>
            </a:extLst>
          </p:cNvPr>
          <p:cNvSpPr>
            <a:spLocks noGrp="1"/>
          </p:cNvSpPr>
          <p:nvPr/>
        </p:nvSpPr>
        <p:spPr>
          <a:xfrm>
            <a:off x="3337560" y="2133600"/>
            <a:ext cx="2606040" cy="23812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878" i="1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878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G8 | Near-Complete–Form-Salient–Diversifying</a:t>
            </a:r>
            <a:endParaRPr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8A98D02-1959-41E9-9EE4-02746F04AA9B}"/>
              </a:ext>
            </a:extLst>
          </p:cNvPr>
          <p:cNvSpPr>
            <a:spLocks noGrp="1"/>
          </p:cNvSpPr>
          <p:nvPr/>
        </p:nvSpPr>
        <p:spPr>
          <a:xfrm>
            <a:off x="3474720" y="2428875"/>
            <a:ext cx="2331720" cy="15525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350"/>
              </a:spcAft>
              <a:buNone/>
              <a:defRPr sz="95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53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表征：</a:t>
            </a:r>
            <a:r>
              <a:rPr sz="95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可用性 2.93；空白率 2.4%</a:t>
            </a:r>
          </a:p>
          <a:p>
            <a:pPr marL="0" indent="0" algn="l">
              <a:lnSpc>
                <a:spcPct val="110000"/>
              </a:lnSpc>
              <a:spcAft>
                <a:spcPts val="350"/>
              </a:spcAft>
              <a:buNone/>
              <a:defRPr sz="95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53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组织：</a:t>
            </a:r>
            <a:r>
              <a:rPr sz="95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形式 19.72%；语义降至 45.8%</a:t>
            </a:r>
          </a:p>
          <a:p>
            <a:pPr marL="0" indent="0" algn="l">
              <a:lnSpc>
                <a:spcPct val="110000"/>
              </a:lnSpc>
              <a:spcAft>
                <a:spcPts val="350"/>
              </a:spcAft>
              <a:buNone/>
              <a:defRPr sz="95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53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网络：</a:t>
            </a:r>
            <a:r>
              <a:rPr sz="95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centralization .059；top-20 hub 7.0%</a:t>
            </a:r>
          </a:p>
          <a:p>
            <a:pPr marL="0" indent="0" algn="l">
              <a:lnSpc>
                <a:spcPct val="110000"/>
              </a:lnSpc>
              <a:spcAft>
                <a:spcPts val="350"/>
              </a:spcAft>
              <a:buNone/>
              <a:defRPr sz="95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53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特征：</a:t>
            </a:r>
            <a:r>
              <a:rPr sz="95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产出近饱和，形式通道突出，连接快速分散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1CB1618-13A9-4CE4-9C1C-4CC864E005FB}"/>
              </a:ext>
            </a:extLst>
          </p:cNvPr>
          <p:cNvSpPr>
            <a:spLocks noGrp="1"/>
          </p:cNvSpPr>
          <p:nvPr/>
        </p:nvSpPr>
        <p:spPr>
          <a:xfrm>
            <a:off x="5943600" y="234315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EE34414-7157-4F1F-B66F-77F7156FDE47}"/>
              </a:ext>
            </a:extLst>
          </p:cNvPr>
          <p:cNvSpPr>
            <a:spLocks noGrp="1"/>
          </p:cNvSpPr>
          <p:nvPr/>
        </p:nvSpPr>
        <p:spPr>
          <a:xfrm>
            <a:off x="6217920" y="14630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1063103-3CBF-4425-81C2-60D140F7F7FD}"/>
              </a:ext>
            </a:extLst>
          </p:cNvPr>
          <p:cNvSpPr>
            <a:spLocks noGrp="1"/>
          </p:cNvSpPr>
          <p:nvPr/>
        </p:nvSpPr>
        <p:spPr>
          <a:xfrm>
            <a:off x="6217920" y="1524000"/>
            <a:ext cx="2606040" cy="274320"/>
          </a:xfrm>
          <a:prstGeom prst="rect">
            <a:avLst/>
          </a:prstGeom>
          <a:noFill/>
        </p:spPr>
        <p:txBody>
          <a:bodyPr wrap="square" lIns="0" tIns="127000" rIns="12700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第三阶段</a:t>
            </a:r>
            <a:endParaRPr sz="13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D600F82-4DFF-4EB4-954E-7D04447C84B5}"/>
              </a:ext>
            </a:extLst>
          </p:cNvPr>
          <p:cNvSpPr>
            <a:spLocks noGrp="1"/>
          </p:cNvSpPr>
          <p:nvPr/>
        </p:nvSpPr>
        <p:spPr>
          <a:xfrm>
            <a:off x="6217920" y="1790700"/>
            <a:ext cx="2606040" cy="33337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998" b="1">
                <a:solidFill>
                  <a:srgbClr val="2E6DA4"/>
                </a:solidFill>
                <a:latin typeface="Calibri"/>
                <a:ea typeface="Calibri"/>
                <a:cs typeface="Calibri"/>
              </a:defRPr>
            </a:pPr>
            <a:r>
              <a:rPr sz="998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稳定产出–语义恢复–网络专门化</a:t>
            </a:r>
            <a:endParaRPr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0365A24-5BC5-48F5-9203-DFD7565517DA}"/>
              </a:ext>
            </a:extLst>
          </p:cNvPr>
          <p:cNvSpPr>
            <a:spLocks noGrp="1"/>
          </p:cNvSpPr>
          <p:nvPr/>
        </p:nvSpPr>
        <p:spPr>
          <a:xfrm>
            <a:off x="6217920" y="2133600"/>
            <a:ext cx="2606040" cy="23812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878" i="1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878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G11 | Stable–Recovering–Network-Specializing</a:t>
            </a:r>
            <a:endParaRPr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D55B531-2FCA-46A7-93AF-9C9F0B886619}"/>
              </a:ext>
            </a:extLst>
          </p:cNvPr>
          <p:cNvSpPr>
            <a:spLocks noGrp="1"/>
          </p:cNvSpPr>
          <p:nvPr/>
        </p:nvSpPr>
        <p:spPr>
          <a:xfrm>
            <a:off x="6355080" y="2428875"/>
            <a:ext cx="2331720" cy="15525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350"/>
              </a:spcAft>
              <a:buNone/>
              <a:defRPr sz="95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53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表征：</a:t>
            </a:r>
            <a:r>
              <a:rPr sz="95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可用性 2.97；空白率 1.0%</a:t>
            </a:r>
          </a:p>
          <a:p>
            <a:pPr marL="0" indent="0" algn="l">
              <a:lnSpc>
                <a:spcPct val="110000"/>
              </a:lnSpc>
              <a:spcAft>
                <a:spcPts val="350"/>
              </a:spcAft>
              <a:buNone/>
              <a:defRPr sz="95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53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组织：</a:t>
            </a:r>
            <a:r>
              <a:rPr sz="95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语义回升至 58.0%；形式降至 9.59%</a:t>
            </a:r>
          </a:p>
          <a:p>
            <a:pPr marL="0" indent="0" algn="l">
              <a:lnSpc>
                <a:spcPct val="110000"/>
              </a:lnSpc>
              <a:spcAft>
                <a:spcPts val="350"/>
              </a:spcAft>
              <a:buNone/>
              <a:defRPr sz="95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53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网络：</a:t>
            </a:r>
            <a:r>
              <a:rPr sz="95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距离最高，聚类 .280；centralization .066</a:t>
            </a:r>
          </a:p>
          <a:p>
            <a:pPr marL="0" indent="0" algn="l">
              <a:lnSpc>
                <a:spcPct val="110000"/>
              </a:lnSpc>
              <a:spcAft>
                <a:spcPts val="350"/>
              </a:spcAft>
              <a:buNone/>
              <a:defRPr sz="95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53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特征：</a:t>
            </a:r>
            <a:r>
              <a:rPr sz="95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产出稳定，语义恢复，网络持续专门化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A7C8266-C53D-4A2D-BB58-AB6EA50B8919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C3CD92-AFA4-4BC3-9171-A960A11E86D9}"/>
              </a:ext>
            </a:extLst>
          </p:cNvPr>
          <p:cNvSpPr>
            <a:spLocks noGrp="1"/>
          </p:cNvSpPr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148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148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三层共享 G6→G8 的转折点，但成熟时序不同：产出数量先稳定，语义质量随后恢复，网络结构继续分化。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308919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327C66-60A0-472F-8292-FBBF8ADFB6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D7B149-0630-416F-87B9-1C555C0807E5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AE832D-9881-4A6E-8E30-4FDD0D3B9E5E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04 · DISCUSSION &amp; IMPLICATIONS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2CE9FB-DC6A-4584-B0E2-E7E1F749C931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19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55351C7-3CFA-4EFE-AD99-6322E9B946C3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讨论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Discussion</a:t>
            </a:r>
            <a:endParaRPr sz="2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E9EB38B-0777-4D81-8D0B-F932A05A2DE9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73152" cy="685800"/>
          </a:xfrm>
          <a:prstGeom prst="roundRect">
            <a:avLst>
              <a:gd name="adj" fmla="val 25000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41AC4B-BB88-48F3-9BC2-DD854553B5D8}"/>
              </a:ext>
            </a:extLst>
          </p:cNvPr>
          <p:cNvSpPr>
            <a:spLocks noGrp="1"/>
          </p:cNvSpPr>
          <p:nvPr/>
        </p:nvSpPr>
        <p:spPr>
          <a:xfrm>
            <a:off x="685800" y="10058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非线性发展路径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429FB8C-4F29-4D9E-93AF-9F6F2486C554}"/>
              </a:ext>
            </a:extLst>
          </p:cNvPr>
          <p:cNvSpPr>
            <a:spLocks noGrp="1"/>
          </p:cNvSpPr>
          <p:nvPr/>
        </p:nvSpPr>
        <p:spPr>
          <a:xfrm>
            <a:off x="685800" y="12801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心理词库的发展并非线性递增。G6→G8 是多数指标的最大转折，G8→G11 则表现为巩固、部分恢复和进一步分化。</a:t>
            </a:r>
            <a:endParaRPr sz="13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8070091-BEF7-48B5-9952-412E36526084}"/>
              </a:ext>
            </a:extLst>
          </p:cNvPr>
          <p:cNvSpPr>
            <a:spLocks noGrp="1"/>
          </p:cNvSpPr>
          <p:nvPr/>
        </p:nvSpPr>
        <p:spPr>
          <a:xfrm>
            <a:off x="457200" y="1920240"/>
            <a:ext cx="73152" cy="685800"/>
          </a:xfrm>
          <a:prstGeom prst="roundRect">
            <a:avLst>
              <a:gd name="adj" fmla="val 25000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88CE962-D2FB-4973-B272-D3EFB201FC45}"/>
              </a:ext>
            </a:extLst>
          </p:cNvPr>
          <p:cNvSpPr>
            <a:spLocks noGrp="1"/>
          </p:cNvSpPr>
          <p:nvPr/>
        </p:nvSpPr>
        <p:spPr>
          <a:xfrm>
            <a:off x="685800" y="19202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横组合主导的格局</a:t>
            </a:r>
            <a:endParaRPr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9629920-4860-43C2-9C64-9A0042EC062E}"/>
              </a:ext>
            </a:extLst>
          </p:cNvPr>
          <p:cNvSpPr>
            <a:spLocks noGrp="1"/>
          </p:cNvSpPr>
          <p:nvPr/>
        </p:nvSpPr>
        <p:spPr>
          <a:xfrm>
            <a:off x="685800" y="2194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横组合始终占语义反应的 76%–80%，但纵聚合比例在两个较高年级均高于 G6。该 shift 幅度有限、呈非单调发展。</a:t>
            </a:r>
            <a:endParaRPr sz="13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50ABB66-1C1E-48E3-B5F0-4CE58436503B}"/>
              </a:ext>
            </a:extLst>
          </p:cNvPr>
          <p:cNvSpPr>
            <a:spLocks noGrp="1"/>
          </p:cNvSpPr>
          <p:nvPr/>
        </p:nvSpPr>
        <p:spPr>
          <a:xfrm>
            <a:off x="457200" y="2834640"/>
            <a:ext cx="73152" cy="685800"/>
          </a:xfrm>
          <a:prstGeom prst="roundRect">
            <a:avLst>
              <a:gd name="adj" fmla="val 25000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044E6C8-8858-4722-850C-530CA114B870}"/>
              </a:ext>
            </a:extLst>
          </p:cNvPr>
          <p:cNvSpPr>
            <a:spLocks noGrp="1"/>
          </p:cNvSpPr>
          <p:nvPr/>
        </p:nvSpPr>
        <p:spPr>
          <a:xfrm>
            <a:off x="685800" y="28346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Network Reorganization</a:t>
            </a:r>
            <a:endParaRPr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6F81F92-0E0F-426C-A24B-F76772DE17A7}"/>
              </a:ext>
            </a:extLst>
          </p:cNvPr>
          <p:cNvSpPr>
            <a:spLocks noGrp="1"/>
          </p:cNvSpPr>
          <p:nvPr/>
        </p:nvSpPr>
        <p:spPr>
          <a:xfrm>
            <a:off x="685800" y="31089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个体层面与群组网络共同显示对共享 hub 的依赖下降，反应逐渐进入较外围、较分散且更具个体差异的网络位置。</a:t>
            </a:r>
            <a:endParaRPr sz="13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09D774A-12DF-46DA-902D-EBDCAFB925BE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73152" cy="685800"/>
          </a:xfrm>
          <a:prstGeom prst="roundRect">
            <a:avLst>
              <a:gd name="adj" fmla="val 25000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4DD3CBA-B0D3-444F-B473-68AD67987355}"/>
              </a:ext>
            </a:extLst>
          </p:cNvPr>
          <p:cNvSpPr>
            <a:spLocks noGrp="1"/>
          </p:cNvSpPr>
          <p:nvPr/>
        </p:nvSpPr>
        <p:spPr>
          <a:xfrm>
            <a:off x="685800" y="3749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刺激词属性的调节效应</a:t>
            </a:r>
            <a:endParaRPr sz="13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2DCCA35-FD35-48D8-A191-8FA81C87969E}"/>
              </a:ext>
            </a:extLst>
          </p:cNvPr>
          <p:cNvSpPr>
            <a:spLocks noGrp="1"/>
          </p:cNvSpPr>
          <p:nvPr/>
        </p:nvSpPr>
        <p:spPr>
          <a:xfrm>
            <a:off x="685800" y="40233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刺激词属性的作用取决于因变量和年级：表征差异多随年级缩小，语义组织效应在 G8 更突出，网络中的效价作用反而增强。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004961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552229-E75C-4706-8086-2BCEE0B578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4E98A54-3092-4B77-B9D6-B345298764DA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313BDA-AA98-4745-A5EB-E952D4C69EAD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05 · QUESTIONS FOR DISCUSSION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2E821B2-1125-42E0-B3C4-3CF82FF7A3B4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20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1B5B3C-55B8-4DBC-8E2C-63765A57D3B5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模型可视化方案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Model Visualization Options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F46E260-80A6-49C6-AACA-0D36DAB65811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"多维发展模型"可视化的三个备选方案，请张老师给予指导：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3D6D56-6B2B-46E5-B294-459AD950847D}"/>
              </a:ext>
            </a:extLst>
          </p:cNvPr>
          <p:cNvSpPr>
            <a:spLocks noGrp="1"/>
          </p:cNvSpPr>
          <p:nvPr/>
        </p:nvSpPr>
        <p:spPr>
          <a:xfrm>
            <a:off x="457200" y="128016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方案一：同心嵌套层</a:t>
            </a:r>
            <a:endParaRPr sz="1200"/>
          </a:p>
        </p:txBody>
      </p:sp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45920"/>
            <a:ext cx="2240280" cy="18288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0BE2BBE0-5D7A-4DF0-A628-733DB4E0BD43}"/>
              </a:ext>
            </a:extLst>
          </p:cNvPr>
          <p:cNvSpPr>
            <a:spLocks noGrp="1"/>
          </p:cNvSpPr>
          <p:nvPr/>
        </p:nvSpPr>
        <p:spPr>
          <a:xfrm>
            <a:off x="502920" y="356616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网络整合包裹词汇表征和语义组织。强调层次性和包含关系。</a:t>
            </a:r>
            <a:endParaRPr sz="11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86A60E8-29D8-41B6-8ED2-3A5AA89360F2}"/>
              </a:ext>
            </a:extLst>
          </p:cNvPr>
          <p:cNvSpPr>
            <a:spLocks noGrp="1"/>
          </p:cNvSpPr>
          <p:nvPr/>
        </p:nvSpPr>
        <p:spPr>
          <a:xfrm>
            <a:off x="3337560" y="128016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方案二：发展时间线</a:t>
            </a:r>
            <a:endParaRPr sz="1200"/>
          </a:p>
        </p:txBody>
      </p:sp>
      <p:pic>
        <p:nvPicPr>
          <p:cNvPr id="32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20440" y="1645920"/>
            <a:ext cx="2240280" cy="1828800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3FEAB501-4C52-4E66-BE9F-E775F81BF836}"/>
              </a:ext>
            </a:extLst>
          </p:cNvPr>
          <p:cNvSpPr>
            <a:spLocks noGrp="1"/>
          </p:cNvSpPr>
          <p:nvPr/>
        </p:nvSpPr>
        <p:spPr>
          <a:xfrm>
            <a:off x="3383280" y="356616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展示三个维度在各年级的平行发展及交互。强调时间序列。</a:t>
            </a:r>
            <a:endParaRPr sz="11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756F1B2-CC8E-46D2-B0D1-F61B9C824546}"/>
              </a:ext>
            </a:extLst>
          </p:cNvPr>
          <p:cNvSpPr>
            <a:spLocks noGrp="1"/>
          </p:cNvSpPr>
          <p:nvPr/>
        </p:nvSpPr>
        <p:spPr>
          <a:xfrm>
            <a:off x="6217920" y="128016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方案三：混合架构（推荐）</a:t>
            </a:r>
            <a:endParaRPr sz="1200"/>
          </a:p>
        </p:txBody>
      </p:sp>
      <p:pic>
        <p:nvPicPr>
          <p:cNvPr id="35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0800" y="1645920"/>
            <a:ext cx="2240280" cy="182880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AA8FB638-973E-4F65-B827-B066E0F95650}"/>
              </a:ext>
            </a:extLst>
          </p:cNvPr>
          <p:cNvSpPr>
            <a:spLocks noGrp="1"/>
          </p:cNvSpPr>
          <p:nvPr/>
        </p:nvSpPr>
        <p:spPr>
          <a:xfrm>
            <a:off x="6263640" y="356616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嵌套层 + 发展时间线。兼顾层次结构和发展动态，均衡性好。</a:t>
            </a:r>
            <a:endParaRPr sz="110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4AFA59F2-7FF1-4598-B9F1-06BF4918A36F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AAC4C52-E15A-4D08-8BF5-DBA884015472}"/>
              </a:ext>
            </a:extLst>
          </p:cNvPr>
          <p:cNvSpPr>
            <a:spLocks noGrp="1"/>
          </p:cNvSpPr>
          <p:nvPr/>
        </p:nvSpPr>
        <p:spPr>
          <a:xfrm>
            <a:off x="640080" y="437083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建议采用方案三（混合架构）：</a:t>
            </a:r>
            <a:endParaRPr sz="1200"/>
          </a:p>
          <a:p>
            <a:pPr marL="0" indent="0">
              <a:buNone/>
            </a:pPr>
            <a:r>
              <a:rPr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兼顾模型的静态层次结构和动态发展轨迹，同时展示三个维度在各发展阶段的交互作用。但还需张老师确认。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972065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D94E1D-8700-4F8C-9301-31852403A9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DBE1107-5ED3-4324-BA22-890F07ADE4CE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09211D3-BC0B-4403-AD66-4BE431D3D151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05 · QUESTIONS FOR DISCUSSION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E51E07-993A-42B6-8C05-C797A2083E42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21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08B4492-9094-4640-9600-43B6A6EB8DD3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样本量与额外变量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Sample Size Adequacy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CC049E-E4E1-4C67-ACB5-7709962C68A1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当前样本 (N = 261) 是否足以支持纳入更多变量？</a:t>
            </a:r>
            <a:endParaRPr sz="1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73126FE-35A2-4F5C-B11D-075F1E5100C6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5F7F9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0E631B2-70A6-413D-9A48-7E70ECBC7C83}"/>
              </a:ext>
            </a:extLst>
          </p:cNvPr>
          <p:cNvSpPr>
            <a:spLocks noGrp="1"/>
          </p:cNvSpPr>
          <p:nvPr/>
        </p:nvSpPr>
        <p:spPr>
          <a:xfrm>
            <a:off x="640080" y="15087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当前设计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EF928E8-EB34-4617-92E0-974CAE2B741D}"/>
              </a:ext>
            </a:extLst>
          </p:cNvPr>
          <p:cNvSpPr>
            <a:spLocks noGrp="1"/>
          </p:cNvSpPr>
          <p:nvPr/>
        </p:nvSpPr>
        <p:spPr>
          <a:xfrm>
            <a:off x="640080" y="1828800"/>
            <a:ext cx="3474720" cy="1371600"/>
          </a:xfrm>
          <a:prstGeom prst="rect">
            <a:avLst/>
          </a:prstGeom>
          <a:noFill/>
        </p:spPr>
        <p:txBody>
          <a:bodyPr wrap="square" lIns="0" tIns="63500" rIns="0" bIns="0" anchor="t"/>
          <a:lstStyle/>
          <a:p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261 名学生，3 个年级（83–91/组）</a:t>
            </a:r>
            <a:endParaRPr sz="1200"/>
          </a:p>
          <a:p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72 个线索词，每人作答 36 个</a:t>
            </a:r>
            <a:endParaRPr sz="1200"/>
          </a:p>
          <a:p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混合效应模型：被试和线索词的交叉随机截距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多数核心年级效应显著，但并非所有对比均显著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95513A2-63BA-4B88-B5D0-736594EF7137}"/>
              </a:ext>
            </a:extLst>
          </p:cNvPr>
          <p:cNvSpPr>
            <a:spLocks noGrp="1"/>
          </p:cNvSpPr>
          <p:nvPr/>
        </p:nvSpPr>
        <p:spPr>
          <a:xfrm>
            <a:off x="4754880" y="14630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E8F0F8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A6ACDE2-07C4-4E2F-AD14-CE058F9AEF20}"/>
              </a:ext>
            </a:extLst>
          </p:cNvPr>
          <p:cNvSpPr>
            <a:spLocks noGrp="1"/>
          </p:cNvSpPr>
          <p:nvPr/>
        </p:nvSpPr>
        <p:spPr>
          <a:xfrm>
            <a:off x="4937760" y="15087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拟纳入的额外变量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276D0F4-79BA-4AAE-947F-CBF217D67337}"/>
              </a:ext>
            </a:extLst>
          </p:cNvPr>
          <p:cNvSpPr>
            <a:spLocks noGrp="1"/>
          </p:cNvSpPr>
          <p:nvPr/>
        </p:nvSpPr>
        <p:spPr>
          <a:xfrm>
            <a:off x="4937760" y="1828800"/>
            <a:ext cx="3474720" cy="1371600"/>
          </a:xfrm>
          <a:prstGeom prst="rect">
            <a:avLst/>
          </a:prstGeom>
          <a:noFill/>
        </p:spPr>
        <p:txBody>
          <a:bodyPr wrap="square" lIns="0" tIns="63500" rIns="0" bIns="0" anchor="t"/>
          <a:lstStyle/>
          <a:p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性别：已收集，但有 11 例缺失，可作探索性分析</a:t>
            </a:r>
            <a:endParaRPr sz="1200"/>
          </a:p>
          <a:p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产出性词汇量：本研究未收集，不能加入现有模型</a:t>
            </a:r>
            <a:endParaRPr sz="1200"/>
          </a:p>
          <a:p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被试层变量的估计精度取决于 N=261</a:t>
            </a:r>
            <a:endParaRPr sz="1200"/>
          </a:p>
          <a:p>
            <a:pPr marL="0" indent="0">
              <a:buNone/>
            </a:pPr>
            <a:r>
              <a:rPr sz="12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• 问题：性别是否有必要作为探索性分析？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A6D2593-7D51-4CBC-A28F-4BADF347713B}"/>
              </a:ext>
            </a:extLst>
          </p:cNvPr>
          <p:cNvSpPr>
            <a:spLocks noGrp="1"/>
          </p:cNvSpPr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分析考量：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A3DCA80-F9C6-490A-87BE-A6A0AD81A0B7}"/>
              </a:ext>
            </a:extLst>
          </p:cNvPr>
          <p:cNvSpPr>
            <a:spLocks noGrp="1"/>
          </p:cNvSpPr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 lIns="0" tIns="63500" rIns="0" bIns="0" anchor="t"/>
          <a:lstStyle/>
          <a:p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试次层预测变量可利用 9,396 个观测；被试层变量的有效信息仍主要来自 261 名学生</a:t>
            </a:r>
            <a:endParaRPr sz="1200"/>
          </a:p>
          <a:p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性别分析需处理缺失值，并报告效应量与不确定性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如模型稳定，可作为探索性结果；不宜改变论文的核心结论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927064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11340D-30A8-410E-942E-FD08CA86C4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4F8AF57-20BC-487E-9296-B9DAE09F984E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540921-B6F9-4A9D-95B7-48BF608F1507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04 · DISCUSSION &amp; IMPLICATIONS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AE2B672-6368-4C66-BAE5-B3D388593ED3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22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66083D-9CF2-47AF-AE3A-3AFED28F066A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研究启示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Implications</a:t>
            </a:r>
            <a:endParaRPr sz="2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AF7A08F-CED2-4235-992D-75A24D45B672}"/>
              </a:ext>
            </a:extLst>
          </p:cNvPr>
          <p:cNvSpPr>
            <a:spLocks noGrp="1"/>
          </p:cNvSpPr>
          <p:nvPr/>
        </p:nvSpPr>
        <p:spPr>
          <a:xfrm>
            <a:off x="320040" y="1005840"/>
            <a:ext cx="2697480" cy="411480"/>
          </a:xfrm>
          <a:prstGeom prst="roundRect">
            <a:avLst>
              <a:gd name="adj" fmla="val 11111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3424C0D-37C9-4078-814D-3421AC39DF5D}"/>
              </a:ext>
            </a:extLst>
          </p:cNvPr>
          <p:cNvSpPr>
            <a:spLocks noGrp="1"/>
          </p:cNvSpPr>
          <p:nvPr/>
        </p:nvSpPr>
        <p:spPr>
          <a:xfrm>
            <a:off x="320040" y="100584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理论启示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A0C41C5-2753-48A8-8896-7BD8CCE837B7}"/>
              </a:ext>
            </a:extLst>
          </p:cNvPr>
          <p:cNvSpPr>
            <a:spLocks noGrp="1"/>
          </p:cNvSpPr>
          <p:nvPr/>
        </p:nvSpPr>
        <p:spPr>
          <a:xfrm>
            <a:off x="411480" y="15544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01600">
              <a:spcAft>
                <a:spcPts val="450"/>
              </a:spcAft>
              <a:buChar char="•"/>
            </a:pPr>
            <a:r>
              <a:rPr sz="1100" b="0"/>
              <a:t>提出 L2 心理词库多维发展模型，整合词汇表征、语义组织和网络整合</a:t>
            </a:r>
          </a:p>
          <a:p>
            <a:pPr marL="152400" indent="-101600">
              <a:spcAft>
                <a:spcPts val="450"/>
              </a:spcAft>
              <a:buChar char="•"/>
            </a:pPr>
            <a:r>
              <a:rPr sz="1100" b="0"/>
              <a:t>补充中国基础教育阶段 EFL 学习者词库发展的实证证据</a:t>
            </a:r>
          </a:p>
          <a:p>
            <a:pPr marL="152400" indent="-101600">
              <a:spcAft>
                <a:spcPts val="450"/>
              </a:spcAft>
              <a:buChar char="•"/>
            </a:pPr>
            <a:r>
              <a:rPr sz="1100" b="0"/>
              <a:t>提出共享网络中个体层面指标的应用路径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5096BD3-B56D-4C21-A2A7-E249A8C75630}"/>
              </a:ext>
            </a:extLst>
          </p:cNvPr>
          <p:cNvSpPr>
            <a:spLocks noGrp="1"/>
          </p:cNvSpPr>
          <p:nvPr/>
        </p:nvSpPr>
        <p:spPr>
          <a:xfrm>
            <a:off x="3200400" y="1005840"/>
            <a:ext cx="2697480" cy="411480"/>
          </a:xfrm>
          <a:prstGeom prst="roundRect">
            <a:avLst>
              <a:gd name="adj" fmla="val 11111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46DAD59-4677-4D8B-8C47-2EFE48B7C5E3}"/>
              </a:ext>
            </a:extLst>
          </p:cNvPr>
          <p:cNvSpPr>
            <a:spLocks noGrp="1"/>
          </p:cNvSpPr>
          <p:nvPr/>
        </p:nvSpPr>
        <p:spPr>
          <a:xfrm>
            <a:off x="3200400" y="100584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方法启示</a:t>
            </a:r>
            <a:endParaRPr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8AE476A-20F4-4948-A3CF-42C03029A854}"/>
              </a:ext>
            </a:extLst>
          </p:cNvPr>
          <p:cNvSpPr>
            <a:spLocks noGrp="1"/>
          </p:cNvSpPr>
          <p:nvPr/>
        </p:nvSpPr>
        <p:spPr>
          <a:xfrm>
            <a:off x="3291840" y="15544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01600">
              <a:spcAft>
                <a:spcPts val="450"/>
              </a:spcAft>
              <a:buChar char="•"/>
            </a:pPr>
            <a:r>
              <a:rPr sz="1100" b="0"/>
              <a:t>MMAF 多层多类框架支持分层检验语义组织</a:t>
            </a:r>
          </a:p>
          <a:p>
            <a:pPr marL="152400" indent="-101600">
              <a:spcAft>
                <a:spcPts val="450"/>
              </a:spcAft>
              <a:buChar char="•"/>
            </a:pPr>
            <a:r>
              <a:rPr sz="1100" b="0"/>
              <a:t>共享网络中的个体层指标可进入统计模型，减少仅依赖群组网络的局限</a:t>
            </a:r>
          </a:p>
          <a:p>
            <a:pPr marL="152400" indent="-101600">
              <a:spcAft>
                <a:spcPts val="450"/>
              </a:spcAft>
              <a:buChar char="•"/>
            </a:pPr>
            <a:r>
              <a:rPr sz="1100" b="0"/>
              <a:t>混合效应模型可同时控制被试与刺激词差异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002ED8C-7282-40F6-A844-09E75AC31119}"/>
              </a:ext>
            </a:extLst>
          </p:cNvPr>
          <p:cNvSpPr>
            <a:spLocks noGrp="1"/>
          </p:cNvSpPr>
          <p:nvPr/>
        </p:nvSpPr>
        <p:spPr>
          <a:xfrm>
            <a:off x="6080760" y="1005840"/>
            <a:ext cx="2697480" cy="411480"/>
          </a:xfrm>
          <a:prstGeom prst="roundRect">
            <a:avLst>
              <a:gd name="adj" fmla="val 11111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D9D8776-F797-487C-8B9C-E816B61948CC}"/>
              </a:ext>
            </a:extLst>
          </p:cNvPr>
          <p:cNvSpPr>
            <a:spLocks noGrp="1"/>
          </p:cNvSpPr>
          <p:nvPr/>
        </p:nvSpPr>
        <p:spPr>
          <a:xfrm>
            <a:off x="6080760" y="100584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教学启示</a:t>
            </a:r>
            <a:endParaRPr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D5B960B-9DE7-4005-A834-F31E5EEA858B}"/>
              </a:ext>
            </a:extLst>
          </p:cNvPr>
          <p:cNvSpPr>
            <a:spLocks noGrp="1"/>
          </p:cNvSpPr>
          <p:nvPr/>
        </p:nvSpPr>
        <p:spPr>
          <a:xfrm>
            <a:off x="6172200" y="15544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01600">
              <a:spcAft>
                <a:spcPts val="450"/>
              </a:spcAft>
              <a:buChar char="•"/>
            </a:pPr>
            <a:r>
              <a:rPr sz="1100" b="0"/>
              <a:t>初中阶段可重点支持从词形通道向稳定语义表征过渡</a:t>
            </a:r>
          </a:p>
          <a:p>
            <a:pPr marL="152400" indent="-101600">
              <a:spcAft>
                <a:spcPts val="450"/>
              </a:spcAft>
              <a:buChar char="•"/>
            </a:pPr>
            <a:r>
              <a:rPr sz="1100" b="0"/>
              <a:t>加强动词搭配、形容词关系及抽象词和负向词的语义联结</a:t>
            </a:r>
          </a:p>
          <a:p>
            <a:pPr marL="152400" indent="-101600">
              <a:spcAft>
                <a:spcPts val="450"/>
              </a:spcAft>
              <a:buChar char="•"/>
            </a:pPr>
            <a:r>
              <a:rPr sz="1100" b="0"/>
              <a:t>词汇联想可作为多维诊断工具，但教学效果仍需干预研究检验</a:t>
            </a:r>
          </a:p>
        </p:txBody>
      </p:sp>
    </p:spTree>
    <p:extLst>
      <p:ext uri="{BB962C8B-B14F-4D97-AF65-F5344CB8AC3E}">
        <p14:creationId xmlns:p14="http://schemas.microsoft.com/office/powerpoint/2010/main" val="1892852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56561E-FC7E-4A57-84DC-33D796D8E8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6A66E3-8A68-435D-B683-B37968448B54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F1982C-2D43-4B6E-A28F-D090C0659854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04 · DISCUSSION &amp; IMPLICATIONS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CD4FEB-DA70-42BF-A3F7-99E25ACEEC43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23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6C163C4-BCB8-4159-B5C9-86D7F95EA094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不足与展望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Limitations &amp; Future Directions</a:t>
            </a:r>
            <a:endParaRPr sz="2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954C3C4-6506-4366-81FB-8B85FBE141BA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73152" cy="502920"/>
          </a:xfrm>
          <a:prstGeom prst="roundRect">
            <a:avLst>
              <a:gd name="adj" fmla="val 25000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2B0ED0-0A94-4007-96CC-A496ED324135}"/>
              </a:ext>
            </a:extLst>
          </p:cNvPr>
          <p:cNvSpPr>
            <a:spLocks noGrp="1"/>
          </p:cNvSpPr>
          <p:nvPr/>
        </p:nvSpPr>
        <p:spPr>
          <a:xfrm>
            <a:off x="685800" y="10515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横截面设计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ECB8886-A0A7-4BB2-A8E3-20D179E16877}"/>
              </a:ext>
            </a:extLst>
          </p:cNvPr>
          <p:cNvSpPr>
            <a:spLocks noGrp="1"/>
          </p:cNvSpPr>
          <p:nvPr/>
        </p:nvSpPr>
        <p:spPr>
          <a:xfrm>
            <a:off x="3017520" y="105156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无法追踪个体发展轨迹，未来可采用纵向或混合设计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202C35C-D498-4C90-B7D0-0C063B3294B4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73152" cy="502920"/>
          </a:xfrm>
          <a:prstGeom prst="roundRect">
            <a:avLst>
              <a:gd name="adj" fmla="val 25000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5DD0303-BD8A-4107-B648-8B5947B23424}"/>
              </a:ext>
            </a:extLst>
          </p:cNvPr>
          <p:cNvSpPr>
            <a:spLocks noGrp="1"/>
          </p:cNvSpPr>
          <p:nvPr/>
        </p:nvSpPr>
        <p:spPr>
          <a:xfrm>
            <a:off x="685800" y="17373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任务形式单一</a:t>
            </a:r>
            <a:endParaRPr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B58D4F7-979C-4CCF-8A89-50E044394204}"/>
              </a:ext>
            </a:extLst>
          </p:cNvPr>
          <p:cNvSpPr>
            <a:spLocks noGrp="1"/>
          </p:cNvSpPr>
          <p:nvPr/>
        </p:nvSpPr>
        <p:spPr>
          <a:xfrm>
            <a:off x="3017520" y="173736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仅采用了书面 WAT，未来可结合口语联想或反应时数据</a:t>
            </a:r>
            <a:endParaRPr sz="12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EC0C6C-CDC2-496F-A494-6550B03CCCCD}"/>
              </a:ext>
            </a:extLst>
          </p:cNvPr>
          <p:cNvSpPr>
            <a:spLocks noGrp="1"/>
          </p:cNvSpPr>
          <p:nvPr/>
        </p:nvSpPr>
        <p:spPr>
          <a:xfrm>
            <a:off x="457200" y="2423160"/>
            <a:ext cx="73152" cy="502920"/>
          </a:xfrm>
          <a:prstGeom prst="roundRect">
            <a:avLst>
              <a:gd name="adj" fmla="val 25000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D178B8E-EC8B-4644-A6BA-EBEF1E58DEC3}"/>
              </a:ext>
            </a:extLst>
          </p:cNvPr>
          <p:cNvSpPr>
            <a:spLocks noGrp="1"/>
          </p:cNvSpPr>
          <p:nvPr/>
        </p:nvSpPr>
        <p:spPr>
          <a:xfrm>
            <a:off x="685800" y="24231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地域局限性</a:t>
            </a:r>
            <a:endParaRPr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4D9DEEC-4C98-4940-91EF-A637957BE7F6}"/>
              </a:ext>
            </a:extLst>
          </p:cNvPr>
          <p:cNvSpPr>
            <a:spLocks noGrp="1"/>
          </p:cNvSpPr>
          <p:nvPr/>
        </p:nvSpPr>
        <p:spPr>
          <a:xfrm>
            <a:off x="3017520" y="242316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数据仅来自江苏一市，推广性有待验证</a:t>
            </a:r>
            <a:endParaRPr sz="12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915D082-686D-4CF0-BECB-1E966431298F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73152" cy="502920"/>
          </a:xfrm>
          <a:prstGeom prst="roundRect">
            <a:avLst>
              <a:gd name="adj" fmla="val 25000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55ABD53-1E4B-406A-BBB6-A10729B6A65E}"/>
              </a:ext>
            </a:extLst>
          </p:cNvPr>
          <p:cNvSpPr>
            <a:spLocks noGrp="1"/>
          </p:cNvSpPr>
          <p:nvPr/>
        </p:nvSpPr>
        <p:spPr>
          <a:xfrm>
            <a:off x="685800" y="31089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变量探索</a:t>
            </a:r>
            <a:endParaRPr sz="13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41242E1-3BD3-4CD6-B092-103A92BDBE6A}"/>
              </a:ext>
            </a:extLst>
          </p:cNvPr>
          <p:cNvSpPr>
            <a:spLocks noGrp="1"/>
          </p:cNvSpPr>
          <p:nvPr/>
        </p:nvSpPr>
        <p:spPr>
          <a:xfrm>
            <a:off x="3017520" y="310896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性别可作探索性分析；本研究未收集产出性词汇量</a:t>
            </a:r>
            <a:endParaRPr sz="12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E567037-9813-49E7-8FE1-31FFC3BCEDB6}"/>
              </a:ext>
            </a:extLst>
          </p:cNvPr>
          <p:cNvSpPr>
            <a:spLocks noGrp="1"/>
          </p:cNvSpPr>
          <p:nvPr/>
        </p:nvSpPr>
        <p:spPr>
          <a:xfrm>
            <a:off x="457200" y="3886200"/>
            <a:ext cx="8229600" cy="9144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FA82455-6EE7-40D4-898A-C828A6C569A8}"/>
              </a:ext>
            </a:extLst>
          </p:cNvPr>
          <p:cNvSpPr>
            <a:spLocks noGrp="1"/>
          </p:cNvSpPr>
          <p:nvPr/>
        </p:nvSpPr>
        <p:spPr>
          <a:xfrm>
            <a:off x="457200" y="4023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未来研究方向</a:t>
            </a:r>
            <a:endParaRPr sz="13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5054AC9-845F-4EB1-A674-830661AB5419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8229600" cy="731520"/>
          </a:xfrm>
          <a:prstGeom prst="rect">
            <a:avLst/>
          </a:prstGeom>
          <a:noFill/>
        </p:spPr>
        <p:txBody>
          <a:bodyPr wrap="square" lIns="0" tIns="63500" rIns="0" bIns="0" anchor="t"/>
          <a:lstStyle/>
          <a:p>
            <a:pPr marL="0" indent="0">
              <a:spcAft>
                <a:spcPts val="300"/>
              </a:spcAft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纵向追踪研究，探索个体发展轨迹</a:t>
            </a:r>
            <a:endParaRPr sz="1200"/>
          </a:p>
          <a:p>
            <a:pPr marL="0" indent="0">
              <a:spcAft>
                <a:spcPts val="300"/>
              </a:spcAft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结合口语联想和反应时数据，多模态交叉验证</a:t>
            </a:r>
            <a:endParaRPr sz="1200"/>
          </a:p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扩展至更多地区和学习者群体，提升研究的生态效度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58390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6CBB2C-C907-4CF8-9730-19737B314A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349746-84D5-4628-833B-C3686CE9286D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15853C-6FB8-4083-8A99-9009B4F6D925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06 · PROGRESS &amp; PLANS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AE3C6D-8B4F-4A0D-9C34-5B3623454901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24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5B1394-FD1D-494E-AED5-983DDA60C49D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已发表成果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Publications</a:t>
            </a:r>
            <a:endParaRPr sz="2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872C5BB-4BE5-490E-9A84-E84B3002FCD3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3200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4EFD50F-9809-424D-A5E9-5CFDAEDF7F81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[1]</a:t>
            </a:r>
            <a:endParaRPr sz="9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D373718-0AA6-4B73-BB81-8628B2C29630}"/>
              </a:ext>
            </a:extLst>
          </p:cNvPr>
          <p:cNvSpPr>
            <a:spLocks noGrp="1"/>
          </p:cNvSpPr>
          <p:nvPr/>
        </p:nvSpPr>
        <p:spPr>
          <a:xfrm>
            <a:off x="914400" y="1024128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Wang, X., &amp; Zhang, P. (2024). 'Did I repeat so many English words?': Stability of L1 and L2 word association responses over time and across response positions. Lingua, 310, 1–15.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AD15EED-CA81-478D-A4A9-10ECF982E1FB}"/>
              </a:ext>
            </a:extLst>
          </p:cNvPr>
          <p:cNvSpPr>
            <a:spLocks noGrp="1"/>
          </p:cNvSpPr>
          <p:nvPr/>
        </p:nvSpPr>
        <p:spPr>
          <a:xfrm>
            <a:off x="8229600" y="1051560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9E82C13-710F-4A05-86A9-FDA99F80CE3B}"/>
              </a:ext>
            </a:extLst>
          </p:cNvPr>
          <p:cNvSpPr>
            <a:spLocks noGrp="1"/>
          </p:cNvSpPr>
          <p:nvPr/>
        </p:nvSpPr>
        <p:spPr>
          <a:xfrm>
            <a:off x="8229600" y="105156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SSCI</a:t>
            </a:r>
            <a:endParaRPr sz="8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360C6E3-17AF-471F-8BC5-261519E58A6B}"/>
              </a:ext>
            </a:extLst>
          </p:cNvPr>
          <p:cNvSpPr>
            <a:spLocks noGrp="1"/>
          </p:cNvSpPr>
          <p:nvPr/>
        </p:nvSpPr>
        <p:spPr>
          <a:xfrm>
            <a:off x="457200" y="1673352"/>
            <a:ext cx="3200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CDA78E5-185A-4F78-862E-4D670B132BD6}"/>
              </a:ext>
            </a:extLst>
          </p:cNvPr>
          <p:cNvSpPr>
            <a:spLocks noGrp="1"/>
          </p:cNvSpPr>
          <p:nvPr/>
        </p:nvSpPr>
        <p:spPr>
          <a:xfrm>
            <a:off x="457200" y="1673352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[2]</a:t>
            </a:r>
            <a:endParaRPr sz="9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2695153-F00E-4181-BB43-DA671649C163}"/>
              </a:ext>
            </a:extLst>
          </p:cNvPr>
          <p:cNvSpPr>
            <a:spLocks noGrp="1"/>
          </p:cNvSpPr>
          <p:nvPr/>
        </p:nvSpPr>
        <p:spPr>
          <a:xfrm>
            <a:off x="914400" y="1645920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Zhang, P., &amp; Wang, X. (2026a). Investigating the bilingual aging lexicon: A network analysis of word associations in Chinese–English bilinguals. Cognitive Science, 50(4), Article e70205.</a:t>
            </a:r>
            <a:endParaRPr sz="10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B247A0D-4C4C-4EED-A342-2DFD61BAC38A}"/>
              </a:ext>
            </a:extLst>
          </p:cNvPr>
          <p:cNvSpPr>
            <a:spLocks noGrp="1"/>
          </p:cNvSpPr>
          <p:nvPr/>
        </p:nvSpPr>
        <p:spPr>
          <a:xfrm>
            <a:off x="8229600" y="1673352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E7D96F7-30FD-4A25-8E3E-02AEFB593E7B}"/>
              </a:ext>
            </a:extLst>
          </p:cNvPr>
          <p:cNvSpPr>
            <a:spLocks noGrp="1"/>
          </p:cNvSpPr>
          <p:nvPr/>
        </p:nvSpPr>
        <p:spPr>
          <a:xfrm>
            <a:off x="8229600" y="16733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SSCI</a:t>
            </a:r>
            <a:endParaRPr sz="8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A698596-A2B6-44CF-BEB0-E8682660B12B}"/>
              </a:ext>
            </a:extLst>
          </p:cNvPr>
          <p:cNvSpPr>
            <a:spLocks noGrp="1"/>
          </p:cNvSpPr>
          <p:nvPr/>
        </p:nvSpPr>
        <p:spPr>
          <a:xfrm>
            <a:off x="457200" y="2295144"/>
            <a:ext cx="3200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999A6F9-F310-43D3-B447-EBAA8EFD6825}"/>
              </a:ext>
            </a:extLst>
          </p:cNvPr>
          <p:cNvSpPr>
            <a:spLocks noGrp="1"/>
          </p:cNvSpPr>
          <p:nvPr/>
        </p:nvSpPr>
        <p:spPr>
          <a:xfrm>
            <a:off x="457200" y="2295144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[3]</a:t>
            </a:r>
            <a:endParaRPr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58F22F5-F0EC-4694-BEEA-954D81600618}"/>
              </a:ext>
            </a:extLst>
          </p:cNvPr>
          <p:cNvSpPr>
            <a:spLocks noGrp="1"/>
          </p:cNvSpPr>
          <p:nvPr/>
        </p:nvSpPr>
        <p:spPr>
          <a:xfrm>
            <a:off x="914400" y="2267712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Zhang, P., &amp; Wang, X. (2026b). Lexical development in bilingual adolescents: A study of Chinese–English word association networks. Journal of Child Language. Advance online publication.</a:t>
            </a:r>
            <a:endParaRPr sz="10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EEAF958-C240-4304-8132-59C40423B034}"/>
              </a:ext>
            </a:extLst>
          </p:cNvPr>
          <p:cNvSpPr>
            <a:spLocks noGrp="1"/>
          </p:cNvSpPr>
          <p:nvPr/>
        </p:nvSpPr>
        <p:spPr>
          <a:xfrm>
            <a:off x="8229600" y="2295144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8760E43-9CB8-4EA9-A5A2-C82C04EB2906}"/>
              </a:ext>
            </a:extLst>
          </p:cNvPr>
          <p:cNvSpPr>
            <a:spLocks noGrp="1"/>
          </p:cNvSpPr>
          <p:nvPr/>
        </p:nvSpPr>
        <p:spPr>
          <a:xfrm>
            <a:off x="8229600" y="229514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SSCI</a:t>
            </a:r>
            <a:endParaRPr sz="8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D72723A-23E9-463B-9A01-CA41EEEA3132}"/>
              </a:ext>
            </a:extLst>
          </p:cNvPr>
          <p:cNvSpPr>
            <a:spLocks noGrp="1"/>
          </p:cNvSpPr>
          <p:nvPr/>
        </p:nvSpPr>
        <p:spPr>
          <a:xfrm>
            <a:off x="457200" y="2916936"/>
            <a:ext cx="3200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B98AEA1-F644-4F48-BCB0-4B1FE4E39985}"/>
              </a:ext>
            </a:extLst>
          </p:cNvPr>
          <p:cNvSpPr>
            <a:spLocks noGrp="1"/>
          </p:cNvSpPr>
          <p:nvPr/>
        </p:nvSpPr>
        <p:spPr>
          <a:xfrm>
            <a:off x="457200" y="2916936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[4]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0DA33DB-6FB8-49B6-B54A-86879977EDD6}"/>
              </a:ext>
            </a:extLst>
          </p:cNvPr>
          <p:cNvSpPr>
            <a:spLocks noGrp="1"/>
          </p:cNvSpPr>
          <p:nvPr/>
        </p:nvSpPr>
        <p:spPr>
          <a:xfrm>
            <a:off x="914400" y="288950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张萍、王鑫（已接收）. 英语短语动词习得中的注释语言和任务类型影响. 北京第二外国语学院学报.</a:t>
            </a:r>
            <a:endParaRPr sz="10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D436E36-8053-4C53-8090-A0B734EE72F2}"/>
              </a:ext>
            </a:extLst>
          </p:cNvPr>
          <p:cNvSpPr>
            <a:spLocks noGrp="1"/>
          </p:cNvSpPr>
          <p:nvPr/>
        </p:nvSpPr>
        <p:spPr>
          <a:xfrm>
            <a:off x="8229600" y="2916936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2E7D32"/>
          </a:solidFill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4EE6104-AC07-42AE-94C2-1798BC643752}"/>
              </a:ext>
            </a:extLst>
          </p:cNvPr>
          <p:cNvSpPr>
            <a:spLocks noGrp="1"/>
          </p:cNvSpPr>
          <p:nvPr/>
        </p:nvSpPr>
        <p:spPr>
          <a:xfrm>
            <a:off x="8229600" y="291693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C扩</a:t>
            </a:r>
            <a:endParaRPr sz="8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540AAB9-2CAD-4B0D-8699-FEC8FA71E1BE}"/>
              </a:ext>
            </a:extLst>
          </p:cNvPr>
          <p:cNvSpPr>
            <a:spLocks noGrp="1"/>
          </p:cNvSpPr>
          <p:nvPr/>
        </p:nvSpPr>
        <p:spPr>
          <a:xfrm>
            <a:off x="457200" y="3538728"/>
            <a:ext cx="320040" cy="201168"/>
          </a:xfrm>
          <a:prstGeom prst="roundRect">
            <a:avLst>
              <a:gd name="adj" fmla="val 18182"/>
            </a:avLst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46E497A-7CEB-4474-8AF1-006C9FC6F09A}"/>
              </a:ext>
            </a:extLst>
          </p:cNvPr>
          <p:cNvSpPr>
            <a:spLocks noGrp="1"/>
          </p:cNvSpPr>
          <p:nvPr/>
        </p:nvSpPr>
        <p:spPr>
          <a:xfrm>
            <a:off x="457200" y="353872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[5]</a:t>
            </a:r>
            <a:endParaRPr sz="9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124C00E-4875-4A52-B5F9-03A81FFF48F1}"/>
              </a:ext>
            </a:extLst>
          </p:cNvPr>
          <p:cNvSpPr>
            <a:spLocks noGrp="1"/>
          </p:cNvSpPr>
          <p:nvPr/>
        </p:nvSpPr>
        <p:spPr>
          <a:xfrm>
            <a:off x="914400" y="3511296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Wang, X., &amp; Zhang, P. (在审). [SSCI期刊，二审中]</a:t>
            </a:r>
            <a:endParaRPr sz="10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0460319-2D2E-4EC3-A9F4-F36B100B0A09}"/>
              </a:ext>
            </a:extLst>
          </p:cNvPr>
          <p:cNvSpPr>
            <a:spLocks noGrp="1"/>
          </p:cNvSpPr>
          <p:nvPr/>
        </p:nvSpPr>
        <p:spPr>
          <a:xfrm>
            <a:off x="8229600" y="3538728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A07E7C6-D0C4-4D8E-8168-A141B341FAC8}"/>
              </a:ext>
            </a:extLst>
          </p:cNvPr>
          <p:cNvSpPr>
            <a:spLocks noGrp="1"/>
          </p:cNvSpPr>
          <p:nvPr/>
        </p:nvSpPr>
        <p:spPr>
          <a:xfrm>
            <a:off x="8229600" y="353872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SSCI</a:t>
            </a:r>
            <a:endParaRPr sz="8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62C254E-8513-427F-8323-D7BA49B1631D}"/>
              </a:ext>
            </a:extLst>
          </p:cNvPr>
          <p:cNvSpPr>
            <a:spLocks noGrp="1"/>
          </p:cNvSpPr>
          <p:nvPr/>
        </p:nvSpPr>
        <p:spPr>
          <a:xfrm>
            <a:off x="457200" y="4297680"/>
            <a:ext cx="8229600" cy="9144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1D3E347-507E-4AF8-B9A5-B8EA0D4340D2}"/>
              </a:ext>
            </a:extLst>
          </p:cNvPr>
          <p:cNvSpPr>
            <a:spLocks noGrp="1"/>
          </p:cNvSpPr>
          <p:nvPr/>
        </p:nvSpPr>
        <p:spPr>
          <a:xfrm>
            <a:off x="457200" y="43891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论文撰写进度</a:t>
            </a:r>
            <a:endParaRPr sz="12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22F87AE-8250-4F7A-B80E-DE329125161F}"/>
              </a:ext>
            </a:extLst>
          </p:cNvPr>
          <p:cNvSpPr>
            <a:spLocks noGrp="1"/>
          </p:cNvSpPr>
          <p:nvPr/>
        </p:nvSpPr>
        <p:spPr>
          <a:xfrm>
            <a:off x="457200" y="466344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Ch1–Ch3 引言/文献/方法</a:t>
            </a:r>
            <a:endParaRPr sz="9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845CD6B-3BC1-479B-B6ED-66415998EFBB}"/>
              </a:ext>
            </a:extLst>
          </p:cNvPr>
          <p:cNvSpPr>
            <a:spLocks noGrp="1"/>
          </p:cNvSpPr>
          <p:nvPr/>
        </p:nvSpPr>
        <p:spPr>
          <a:xfrm>
            <a:off x="457200" y="4864608"/>
            <a:ext cx="1554480" cy="109728"/>
          </a:xfrm>
          <a:prstGeom prst="roundRect">
            <a:avLst>
              <a:gd name="adj" fmla="val 16667"/>
            </a:avLst>
          </a:prstGeom>
          <a:solidFill>
            <a:srgbClr val="F5F7F9"/>
          </a:solidFill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5B4DF41-72AD-4A4F-8BCB-137E549867CF}"/>
              </a:ext>
            </a:extLst>
          </p:cNvPr>
          <p:cNvSpPr>
            <a:spLocks noGrp="1"/>
          </p:cNvSpPr>
          <p:nvPr/>
        </p:nvSpPr>
        <p:spPr>
          <a:xfrm>
            <a:off x="457200" y="4864608"/>
            <a:ext cx="1476756" cy="109728"/>
          </a:xfrm>
          <a:prstGeom prst="roundRect">
            <a:avLst>
              <a:gd name="adj" fmla="val 16667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48973F0-BB2E-4758-BBAF-142376EA477A}"/>
              </a:ext>
            </a:extLst>
          </p:cNvPr>
          <p:cNvSpPr>
            <a:spLocks noGrp="1"/>
          </p:cNvSpPr>
          <p:nvPr/>
        </p:nvSpPr>
        <p:spPr>
          <a:xfrm>
            <a:off x="457200" y="4864608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95%</a:t>
            </a:r>
            <a:endParaRPr sz="70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DF452F4-9624-491C-B336-FEE772DB4679}"/>
              </a:ext>
            </a:extLst>
          </p:cNvPr>
          <p:cNvSpPr>
            <a:spLocks noGrp="1"/>
          </p:cNvSpPr>
          <p:nvPr/>
        </p:nvSpPr>
        <p:spPr>
          <a:xfrm>
            <a:off x="2148840" y="466344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Ch4 词汇表征</a:t>
            </a:r>
            <a:endParaRPr sz="90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B4328F1-C1FE-4A3C-9300-D99BECFF9B88}"/>
              </a:ext>
            </a:extLst>
          </p:cNvPr>
          <p:cNvSpPr>
            <a:spLocks noGrp="1"/>
          </p:cNvSpPr>
          <p:nvPr/>
        </p:nvSpPr>
        <p:spPr>
          <a:xfrm>
            <a:off x="2148840" y="4864608"/>
            <a:ext cx="1554480" cy="109728"/>
          </a:xfrm>
          <a:prstGeom prst="roundRect">
            <a:avLst>
              <a:gd name="adj" fmla="val 16667"/>
            </a:avLst>
          </a:prstGeom>
          <a:solidFill>
            <a:srgbClr val="F5F7F9"/>
          </a:solidFill>
        </p:spPr>
        <p:txBody>
          <a:bodyPr/>
          <a:lstStyle/>
          <a:p>
            <a:endParaRPr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C1D6D4E4-5280-437E-83AB-4E90A08AADFA}"/>
              </a:ext>
            </a:extLst>
          </p:cNvPr>
          <p:cNvSpPr>
            <a:spLocks noGrp="1"/>
          </p:cNvSpPr>
          <p:nvPr/>
        </p:nvSpPr>
        <p:spPr>
          <a:xfrm>
            <a:off x="2148840" y="4864608"/>
            <a:ext cx="1399032" cy="109728"/>
          </a:xfrm>
          <a:prstGeom prst="roundRect">
            <a:avLst>
              <a:gd name="adj" fmla="val 16667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B3A07A7-1AB9-4BF4-8CC4-71184CC02D55}"/>
              </a:ext>
            </a:extLst>
          </p:cNvPr>
          <p:cNvSpPr>
            <a:spLocks noGrp="1"/>
          </p:cNvSpPr>
          <p:nvPr/>
        </p:nvSpPr>
        <p:spPr>
          <a:xfrm>
            <a:off x="2148840" y="4864608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90%</a:t>
            </a:r>
            <a:endParaRPr sz="70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C7B4BD4C-B2E5-4B2F-A541-B156E91343A8}"/>
              </a:ext>
            </a:extLst>
          </p:cNvPr>
          <p:cNvSpPr>
            <a:spLocks noGrp="1"/>
          </p:cNvSpPr>
          <p:nvPr/>
        </p:nvSpPr>
        <p:spPr>
          <a:xfrm>
            <a:off x="3840480" y="466344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Ch5 语义组织</a:t>
            </a:r>
            <a:endParaRPr sz="90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F487A4E-9CBF-409D-A2F7-5B86E60DAD7C}"/>
              </a:ext>
            </a:extLst>
          </p:cNvPr>
          <p:cNvSpPr>
            <a:spLocks noGrp="1"/>
          </p:cNvSpPr>
          <p:nvPr/>
        </p:nvSpPr>
        <p:spPr>
          <a:xfrm>
            <a:off x="3840480" y="4864608"/>
            <a:ext cx="1554480" cy="109728"/>
          </a:xfrm>
          <a:prstGeom prst="roundRect">
            <a:avLst>
              <a:gd name="adj" fmla="val 16667"/>
            </a:avLst>
          </a:prstGeom>
          <a:solidFill>
            <a:srgbClr val="F5F7F9"/>
          </a:solidFill>
        </p:spPr>
        <p:txBody>
          <a:bodyPr/>
          <a:lstStyle/>
          <a:p>
            <a:endParaRPr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E0F36CEF-4E43-482C-A12A-8119E3F9F616}"/>
              </a:ext>
            </a:extLst>
          </p:cNvPr>
          <p:cNvSpPr>
            <a:spLocks noGrp="1"/>
          </p:cNvSpPr>
          <p:nvPr/>
        </p:nvSpPr>
        <p:spPr>
          <a:xfrm>
            <a:off x="3840480" y="4864608"/>
            <a:ext cx="1321308" cy="109728"/>
          </a:xfrm>
          <a:prstGeom prst="roundRect">
            <a:avLst>
              <a:gd name="adj" fmla="val 16667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196DE2EA-E13E-490C-BAE2-21D6F0435C0D}"/>
              </a:ext>
            </a:extLst>
          </p:cNvPr>
          <p:cNvSpPr>
            <a:spLocks noGrp="1"/>
          </p:cNvSpPr>
          <p:nvPr/>
        </p:nvSpPr>
        <p:spPr>
          <a:xfrm>
            <a:off x="3840480" y="4864608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85%</a:t>
            </a:r>
            <a:endParaRPr sz="7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2C263AE-1FD1-45CE-9FA5-67ECBB2AE157}"/>
              </a:ext>
            </a:extLst>
          </p:cNvPr>
          <p:cNvSpPr>
            <a:spLocks noGrp="1"/>
          </p:cNvSpPr>
          <p:nvPr/>
        </p:nvSpPr>
        <p:spPr>
          <a:xfrm>
            <a:off x="5532120" y="466344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Ch6 网络整合</a:t>
            </a:r>
            <a:endParaRPr sz="90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DC0070A8-5BBB-4C3B-8D33-8DCA2A80B421}"/>
              </a:ext>
            </a:extLst>
          </p:cNvPr>
          <p:cNvSpPr>
            <a:spLocks noGrp="1"/>
          </p:cNvSpPr>
          <p:nvPr/>
        </p:nvSpPr>
        <p:spPr>
          <a:xfrm>
            <a:off x="5532120" y="4864608"/>
            <a:ext cx="1554480" cy="109728"/>
          </a:xfrm>
          <a:prstGeom prst="roundRect">
            <a:avLst>
              <a:gd name="adj" fmla="val 16667"/>
            </a:avLst>
          </a:prstGeom>
          <a:solidFill>
            <a:srgbClr val="F5F7F9"/>
          </a:solidFill>
        </p:spPr>
        <p:txBody>
          <a:bodyPr/>
          <a:lstStyle/>
          <a:p>
            <a:endParaRPr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3D9CAEE-7FC1-4603-8918-B92DBB4B9EF3}"/>
              </a:ext>
            </a:extLst>
          </p:cNvPr>
          <p:cNvSpPr>
            <a:spLocks noGrp="1"/>
          </p:cNvSpPr>
          <p:nvPr/>
        </p:nvSpPr>
        <p:spPr>
          <a:xfrm>
            <a:off x="5532120" y="4864608"/>
            <a:ext cx="1243584" cy="109728"/>
          </a:xfrm>
          <a:prstGeom prst="roundRect">
            <a:avLst>
              <a:gd name="adj" fmla="val 16667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A3AFE258-13F7-4606-83F0-329B99BD0FBC}"/>
              </a:ext>
            </a:extLst>
          </p:cNvPr>
          <p:cNvSpPr>
            <a:spLocks noGrp="1"/>
          </p:cNvSpPr>
          <p:nvPr/>
        </p:nvSpPr>
        <p:spPr>
          <a:xfrm>
            <a:off x="5532120" y="4864608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80%</a:t>
            </a:r>
            <a:endParaRPr sz="70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5ED6FCCA-227A-43C3-83D2-1B3E3EA11A24}"/>
              </a:ext>
            </a:extLst>
          </p:cNvPr>
          <p:cNvSpPr>
            <a:spLocks noGrp="1"/>
          </p:cNvSpPr>
          <p:nvPr/>
        </p:nvSpPr>
        <p:spPr>
          <a:xfrm>
            <a:off x="7223760" y="466344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Ch7 讨论/结论</a:t>
            </a:r>
            <a:endParaRPr sz="90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3B9DDC48-02C6-4666-8C4B-4B30799147DC}"/>
              </a:ext>
            </a:extLst>
          </p:cNvPr>
          <p:cNvSpPr>
            <a:spLocks noGrp="1"/>
          </p:cNvSpPr>
          <p:nvPr/>
        </p:nvSpPr>
        <p:spPr>
          <a:xfrm>
            <a:off x="7223760" y="4864608"/>
            <a:ext cx="1554480" cy="109728"/>
          </a:xfrm>
          <a:prstGeom prst="roundRect">
            <a:avLst>
              <a:gd name="adj" fmla="val 16667"/>
            </a:avLst>
          </a:prstGeom>
          <a:solidFill>
            <a:srgbClr val="F5F7F9"/>
          </a:solidFill>
        </p:spPr>
        <p:txBody>
          <a:bodyPr/>
          <a:lstStyle/>
          <a:p>
            <a:endParaRPr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2B42B112-9259-471A-B239-1564F090A5A4}"/>
              </a:ext>
            </a:extLst>
          </p:cNvPr>
          <p:cNvSpPr>
            <a:spLocks noGrp="1"/>
          </p:cNvSpPr>
          <p:nvPr/>
        </p:nvSpPr>
        <p:spPr>
          <a:xfrm>
            <a:off x="7223760" y="4864608"/>
            <a:ext cx="1088136" cy="109728"/>
          </a:xfrm>
          <a:prstGeom prst="roundRect">
            <a:avLst>
              <a:gd name="adj" fmla="val 16667"/>
            </a:avLst>
          </a:prstGeom>
          <a:solidFill>
            <a:srgbClr val="2E6DA4"/>
          </a:solidFill>
        </p:spPr>
        <p:txBody>
          <a:bodyPr/>
          <a:lstStyle/>
          <a:p>
            <a:endParaRPr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34B119E-8FCA-4259-92D8-00CD915DBFF8}"/>
              </a:ext>
            </a:extLst>
          </p:cNvPr>
          <p:cNvSpPr>
            <a:spLocks noGrp="1"/>
          </p:cNvSpPr>
          <p:nvPr/>
        </p:nvSpPr>
        <p:spPr>
          <a:xfrm>
            <a:off x="7223760" y="4864608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70%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545070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229433-888A-400B-BDC6-1E84F93EDD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1E96A0E-D61C-4A04-AE37-A13AC3BD7D44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485F03-D15C-44F5-A2B1-37CB8F519AF0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06 · PROGRESS &amp; PLANS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885D72-8032-4F72-B825-A098F95843BF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25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FB709C-413C-4AD8-9A0A-DC2ABE200585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后续计划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Timeline</a:t>
            </a:r>
            <a:endParaRPr sz="2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6171265-A375-4533-8CCE-7B6FFECF1AC1}"/>
              </a:ext>
            </a:extLst>
          </p:cNvPr>
          <p:cNvSpPr>
            <a:spLocks noGrp="1"/>
          </p:cNvSpPr>
          <p:nvPr/>
        </p:nvSpPr>
        <p:spPr>
          <a:xfrm>
            <a:off x="1371600" y="1207008"/>
            <a:ext cx="182880" cy="182880"/>
          </a:xfrm>
          <a:prstGeom prst="ellipse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34A29A0-FF83-46F9-A01D-52CED51157F7}"/>
              </a:ext>
            </a:extLst>
          </p:cNvPr>
          <p:cNvSpPr>
            <a:spLocks noGrp="1"/>
          </p:cNvSpPr>
          <p:nvPr/>
        </p:nvSpPr>
        <p:spPr>
          <a:xfrm>
            <a:off x="1453896" y="1417320"/>
            <a:ext cx="18288" cy="54864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9ED2292-478F-4BDF-ACD8-5193B112A82D}"/>
              </a:ext>
            </a:extLst>
          </p:cNvPr>
          <p:cNvSpPr>
            <a:spLocks noGrp="1"/>
          </p:cNvSpPr>
          <p:nvPr/>
        </p:nvSpPr>
        <p:spPr>
          <a:xfrm>
            <a:off x="1828800" y="10972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2026.09–10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DB55E39-5412-4C84-A3C9-66E4CE62AD64}"/>
              </a:ext>
            </a:extLst>
          </p:cNvPr>
          <p:cNvSpPr>
            <a:spLocks noGrp="1"/>
          </p:cNvSpPr>
          <p:nvPr/>
        </p:nvSpPr>
        <p:spPr>
          <a:xfrm>
            <a:off x="1828800" y="141732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完成模型确认与可视化；开展性别的探索性分析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DFBF3B2-9FD4-4971-9462-60206ECE682D}"/>
              </a:ext>
            </a:extLst>
          </p:cNvPr>
          <p:cNvSpPr>
            <a:spLocks noGrp="1"/>
          </p:cNvSpPr>
          <p:nvPr/>
        </p:nvSpPr>
        <p:spPr>
          <a:xfrm>
            <a:off x="1371600" y="2075688"/>
            <a:ext cx="182880" cy="182880"/>
          </a:xfrm>
          <a:prstGeom prst="ellipse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F5804F7-6BDD-4908-8927-4FE355EF894C}"/>
              </a:ext>
            </a:extLst>
          </p:cNvPr>
          <p:cNvSpPr>
            <a:spLocks noGrp="1"/>
          </p:cNvSpPr>
          <p:nvPr/>
        </p:nvSpPr>
        <p:spPr>
          <a:xfrm>
            <a:off x="1453896" y="2286000"/>
            <a:ext cx="18288" cy="54864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CA9204E-1953-467E-AF25-C47F378122B2}"/>
              </a:ext>
            </a:extLst>
          </p:cNvPr>
          <p:cNvSpPr>
            <a:spLocks noGrp="1"/>
          </p:cNvSpPr>
          <p:nvPr/>
        </p:nvSpPr>
        <p:spPr>
          <a:xfrm>
            <a:off x="1828800" y="19659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2026.11–12</a:t>
            </a:r>
            <a:endParaRPr sz="1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FE97820-8E7D-429B-B7E5-85849504B267}"/>
              </a:ext>
            </a:extLst>
          </p:cNvPr>
          <p:cNvSpPr>
            <a:spLocks noGrp="1"/>
          </p:cNvSpPr>
          <p:nvPr/>
        </p:nvSpPr>
        <p:spPr>
          <a:xfrm>
            <a:off x="1828800" y="228600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完善讨论章节 (Ch7)；论文统稿与校对</a:t>
            </a:r>
            <a:endParaRPr sz="12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EDF8AEA-6102-40E5-809E-77AC9358EB47}"/>
              </a:ext>
            </a:extLst>
          </p:cNvPr>
          <p:cNvSpPr>
            <a:spLocks noGrp="1"/>
          </p:cNvSpPr>
          <p:nvPr/>
        </p:nvSpPr>
        <p:spPr>
          <a:xfrm>
            <a:off x="1371600" y="2944368"/>
            <a:ext cx="182880" cy="182880"/>
          </a:xfrm>
          <a:prstGeom prst="ellipse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71501EA-6D79-4AB8-BC2C-78FDB11C92A1}"/>
              </a:ext>
            </a:extLst>
          </p:cNvPr>
          <p:cNvSpPr>
            <a:spLocks noGrp="1"/>
          </p:cNvSpPr>
          <p:nvPr/>
        </p:nvSpPr>
        <p:spPr>
          <a:xfrm>
            <a:off x="1453896" y="3154680"/>
            <a:ext cx="18288" cy="54864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D7C63F2-2522-4D92-9C2B-196A502C33F8}"/>
              </a:ext>
            </a:extLst>
          </p:cNvPr>
          <p:cNvSpPr>
            <a:spLocks noGrp="1"/>
          </p:cNvSpPr>
          <p:nvPr/>
        </p:nvSpPr>
        <p:spPr>
          <a:xfrm>
            <a:off x="1828800" y="2834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2027.01–02</a:t>
            </a:r>
            <a:endParaRPr sz="1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FC4E214-C915-43B0-BDFB-F435A8549C46}"/>
              </a:ext>
            </a:extLst>
          </p:cNvPr>
          <p:cNvSpPr>
            <a:spLocks noGrp="1"/>
          </p:cNvSpPr>
          <p:nvPr/>
        </p:nvSpPr>
        <p:spPr>
          <a:xfrm>
            <a:off x="1828800" y="315468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导师审阅与修改；预答辩准备</a:t>
            </a:r>
            <a:endParaRPr sz="12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707A2D6-C983-496E-9557-0AC1860E7510}"/>
              </a:ext>
            </a:extLst>
          </p:cNvPr>
          <p:cNvSpPr>
            <a:spLocks noGrp="1"/>
          </p:cNvSpPr>
          <p:nvPr/>
        </p:nvSpPr>
        <p:spPr>
          <a:xfrm>
            <a:off x="1371600" y="3813048"/>
            <a:ext cx="182880" cy="182880"/>
          </a:xfrm>
          <a:prstGeom prst="ellipse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19C12F4-D7D4-4C49-BD54-DE55CB68C3AB}"/>
              </a:ext>
            </a:extLst>
          </p:cNvPr>
          <p:cNvSpPr>
            <a:spLocks noGrp="1"/>
          </p:cNvSpPr>
          <p:nvPr/>
        </p:nvSpPr>
        <p:spPr>
          <a:xfrm>
            <a:off x="1828800" y="37033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2027.03–04</a:t>
            </a:r>
            <a:endParaRPr sz="14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EFEF8E0-4C30-49F4-91BD-42BAE1FE699A}"/>
              </a:ext>
            </a:extLst>
          </p:cNvPr>
          <p:cNvSpPr>
            <a:spLocks noGrp="1"/>
          </p:cNvSpPr>
          <p:nvPr/>
        </p:nvSpPr>
        <p:spPr>
          <a:xfrm>
            <a:off x="1828800" y="402336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外审与最终修改；正式答辩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324376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5EC0B5-CD71-495E-80AC-0AFC6CCB85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0A064D-F79E-4670-8417-EED1D96EB933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63D9F8-0F38-4487-BFDF-3824EDDB8EE4}"/>
              </a:ext>
            </a:extLst>
          </p:cNvPr>
          <p:cNvSpPr>
            <a:spLocks noGrp="1"/>
          </p:cNvSpPr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REFERENCES</a:t>
            </a:r>
            <a:endParaRPr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A77EC0-C047-49AA-A808-C6736C41197E}"/>
              </a:ext>
            </a:extLst>
          </p:cNvPr>
          <p:cNvSpPr>
            <a:spLocks noGrp="1"/>
          </p:cNvSpPr>
          <p:nvPr/>
        </p:nvSpPr>
        <p:spPr>
          <a:xfrm>
            <a:off x="8229600" y="1097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26</a:t>
            </a:r>
            <a:endParaRPr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092EEE-5591-4B60-A1BA-76A77BD7F3DE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主要参考文献</a:t>
            </a:r>
            <a:r>
              <a:rPr sz="14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│ Selected References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B7BD0D4-4358-4097-8393-40A1D0F84304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Fitzpatrick, T. (2006). Habits and rabbits: Word associations and the L2 lexicon. EUROSLA Yearbook, 6, 121–145.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24BAC6D-D445-4EF7-9A36-62758B3BDA67}"/>
              </a:ext>
            </a:extLst>
          </p:cNvPr>
          <p:cNvSpPr>
            <a:spLocks noGrp="1"/>
          </p:cNvSpPr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Meara, P. (2009). Connected words: Word associations and second language vocabulary acquisition. John Benjamins.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CE8CB0C-57CC-4C08-B0AA-98D460BEEBF5}"/>
              </a:ext>
            </a:extLst>
          </p:cNvPr>
          <p:cNvSpPr>
            <a:spLocks noGrp="1"/>
          </p:cNvSpPr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Nation, I. S. P. (2016). Making and using word lists for language learning and testing. John Benjamins.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4B74809-3AA2-4BFE-8F7E-6A02B1070A93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Wilks, C., &amp; Meara, P. (2002). Untangling word webs: Graph theory and the notion of density in second language word association networks. Second Language Research, 18(4), 303–324.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A6E817D-8BD7-48A9-9081-6866268FC995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Zareva, A. (2007). Structure of the second language mental lexicon: How does it compare to native speakers' lexical organization? Second Language Research, 23(2), 123–153.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947FB07-E2BB-4747-B2B0-0CE894991755}"/>
              </a:ext>
            </a:extLst>
          </p:cNvPr>
          <p:cNvSpPr>
            <a:spLocks noGrp="1"/>
          </p:cNvSpPr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张萍 (2026). 汉英词汇联想反应分类的共用框架：MMAF的构建及可适性分析. 世界汉语教学, 40(1), 101–112.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42C7E17-EEA3-4843-8BBE-3ED067094A7D}"/>
              </a:ext>
            </a:extLst>
          </p:cNvPr>
          <p:cNvSpPr>
            <a:spLocks noGrp="1"/>
          </p:cNvSpPr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 Deyne, S., Navarro, D. J., Perfors, A., Brysbaert, M., &amp; Storms, G. (2019). The Small World of Words English word association norms for over 12,000 cue words. Behavior Research Methods, 51(3), 987–1006.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22092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EA2704-B650-436E-ADCB-4F89C7817F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E5A149-263B-49FF-99D2-C1F00BBD6998}"/>
              </a:ext>
            </a:extLst>
          </p:cNvPr>
          <p:cNvSpPr>
            <a:spLocks noGrp="1"/>
          </p:cNvSpPr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3A5C"/>
          </a:solidFill>
        </p:spPr>
        <p:txBody>
          <a:bodyPr/>
          <a:lstStyle/>
          <a:p>
            <a:endParaRPr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640080"/>
            <a:ext cx="1828800" cy="18288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88831AD-8FB8-4058-9D1C-2425C41F5B7D}"/>
              </a:ext>
            </a:extLst>
          </p:cNvPr>
          <p:cNvSpPr>
            <a:spLocks noGrp="1"/>
          </p:cNvSpPr>
          <p:nvPr/>
        </p:nvSpPr>
        <p:spPr>
          <a:xfrm>
            <a:off x="914400" y="26060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2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感谢您的指导！</a:t>
            </a:r>
            <a:endParaRPr sz="32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1826B57-DE24-48BE-A10F-B1AD187CA5AA}"/>
              </a:ext>
            </a:extLst>
          </p:cNvPr>
          <p:cNvSpPr>
            <a:spLocks noGrp="1"/>
          </p:cNvSpPr>
          <p:nvPr/>
        </p:nvSpPr>
        <p:spPr>
          <a:xfrm>
            <a:off x="914400" y="315468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Thank You for Your Guidance!</a:t>
            </a:r>
            <a:endParaRPr sz="18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D784C8F-53F2-4076-8175-334E04323B07}"/>
              </a:ext>
            </a:extLst>
          </p:cNvPr>
          <p:cNvSpPr>
            <a:spLocks noGrp="1"/>
          </p:cNvSpPr>
          <p:nvPr/>
        </p:nvSpPr>
        <p:spPr>
          <a:xfrm>
            <a:off x="2743200" y="3749040"/>
            <a:ext cx="3657600" cy="9144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BD78771-BD1F-4349-A646-FAA2B3D7145A}"/>
              </a:ext>
            </a:extLst>
          </p:cNvPr>
          <p:cNvSpPr>
            <a:spLocks noGrp="1"/>
          </p:cNvSpPr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王 鑫  |  苏州大学 · 外国语学院</a:t>
            </a:r>
            <a:endParaRPr sz="14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F39903-BF52-4C85-84C6-BB0FC2077A53}"/>
              </a:ext>
            </a:extLst>
          </p:cNvPr>
          <p:cNvSpPr>
            <a:spLocks noGrp="1"/>
          </p:cNvSpPr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导师：张 萍 教授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312811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3470</Words>
  <Application>Microsoft Office PowerPoint</Application>
  <DocSecurity>0</DocSecurity>
  <PresentationFormat>全屏显示(16:9)</PresentationFormat>
  <Paragraphs>656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修 马</cp:lastModifiedBy>
  <cp:revision>2</cp:revision>
  <dcterms:created xsi:type="dcterms:W3CDTF">2026-09-12T06:34:31Z</dcterms:created>
  <dcterms:modified xsi:type="dcterms:W3CDTF">2026-09-12T10:00:34Z</dcterms:modified>
</cp:coreProperties>
</file>