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d80cf4d3b246de" /><Relationship Type="http://schemas.openxmlformats.org/officeDocument/2006/relationships/extended-properties" Target="/docProps/app.xml" Id="R9fdb4defeb3b4afe" /><Relationship Type="http://schemas.openxmlformats.org/officeDocument/2006/relationships/officeDocument" Target="/ppt/presentation.xml" Id="R1addc61412c148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ec76f263547ca"/>
  </p:sldMasterIdLst>
  <p:notesMasterIdLst>
    <p:notesMasterId xmlns:r="http://schemas.openxmlformats.org/officeDocument/2006/relationships" r:id="Rddbdecdd0d254c83"/>
  </p:notesMasterIdLst>
  <p:sldIdLst>
    <p:sldId xmlns:r="http://schemas.openxmlformats.org/officeDocument/2006/relationships" id="256" r:id="R5f1da0c3014d4722"/>
    <p:sldId xmlns:r="http://schemas.openxmlformats.org/officeDocument/2006/relationships" id="257" r:id="R1966c188dc82457d"/>
    <p:sldId xmlns:r="http://schemas.openxmlformats.org/officeDocument/2006/relationships" id="258" r:id="R83640d8fee1a41d9"/>
    <p:sldId xmlns:r="http://schemas.openxmlformats.org/officeDocument/2006/relationships" id="259" r:id="R79e7831f90bc4942"/>
    <p:sldId xmlns:r="http://schemas.openxmlformats.org/officeDocument/2006/relationships" id="260" r:id="R217ccc003fd5447d"/>
    <p:sldId xmlns:r="http://schemas.openxmlformats.org/officeDocument/2006/relationships" id="261" r:id="Rb290f36633184550"/>
    <p:sldId xmlns:r="http://schemas.openxmlformats.org/officeDocument/2006/relationships" id="262" r:id="Rea4f61bcd81c4826"/>
    <p:sldId xmlns:r="http://schemas.openxmlformats.org/officeDocument/2006/relationships" id="263" r:id="R94c0c949b4b14f59"/>
    <p:sldId xmlns:r="http://schemas.openxmlformats.org/officeDocument/2006/relationships" id="264" r:id="R1b314828b0484d70"/>
    <p:sldId xmlns:r="http://schemas.openxmlformats.org/officeDocument/2006/relationships" id="265" r:id="R828ae3d28a484759"/>
    <p:sldId xmlns:r="http://schemas.openxmlformats.org/officeDocument/2006/relationships" id="266" r:id="R39c409a766b7415e"/>
    <p:sldId xmlns:r="http://schemas.openxmlformats.org/officeDocument/2006/relationships" id="267" r:id="R891ef7a616a84109"/>
    <p:sldId xmlns:r="http://schemas.openxmlformats.org/officeDocument/2006/relationships" id="268" r:id="R2829e2d967ac4d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efb720b8a4a17" /><Relationship Type="http://schemas.openxmlformats.org/officeDocument/2006/relationships/slideMaster" Target="/ppt/slideMasters/slideMaster1.xml" Id="Ra64ec76f263547ca" /><Relationship Type="http://schemas.openxmlformats.org/officeDocument/2006/relationships/notesMaster" Target="/ppt/notesMasters/notesMaster1.xml" Id="Rddbdecdd0d254c83" /><Relationship Type="http://schemas.openxmlformats.org/officeDocument/2006/relationships/presProps" Target="/ppt/presProps.xml" Id="R21e14c49a813499f" /><Relationship Type="http://schemas.openxmlformats.org/officeDocument/2006/relationships/viewProps" Target="/ppt/viewProps.xml" Id="Rf5162bbf4cd24fa4" /><Relationship Type="http://schemas.openxmlformats.org/officeDocument/2006/relationships/tableStyles" Target="/ppt/tableStyles.xml" Id="R5051093706114cc8" /><Relationship Type="http://schemas.openxmlformats.org/officeDocument/2006/relationships/slide" Target="/ppt/slides/slide1.xml" Id="R5f1da0c3014d4722" /><Relationship Type="http://schemas.openxmlformats.org/officeDocument/2006/relationships/slide" Target="/ppt/slides/slide2.xml" Id="R1966c188dc82457d" /><Relationship Type="http://schemas.openxmlformats.org/officeDocument/2006/relationships/slide" Target="/ppt/slides/slide3.xml" Id="R83640d8fee1a41d9" /><Relationship Type="http://schemas.openxmlformats.org/officeDocument/2006/relationships/slide" Target="/ppt/slides/slide4.xml" Id="R79e7831f90bc4942" /><Relationship Type="http://schemas.openxmlformats.org/officeDocument/2006/relationships/slide" Target="/ppt/slides/slide5.xml" Id="R217ccc003fd5447d" /><Relationship Type="http://schemas.openxmlformats.org/officeDocument/2006/relationships/slide" Target="/ppt/slides/slide6.xml" Id="Rb290f36633184550" /><Relationship Type="http://schemas.openxmlformats.org/officeDocument/2006/relationships/slide" Target="/ppt/slides/slide7.xml" Id="Rea4f61bcd81c4826" /><Relationship Type="http://schemas.openxmlformats.org/officeDocument/2006/relationships/slide" Target="/ppt/slides/slide8.xml" Id="R94c0c949b4b14f59" /><Relationship Type="http://schemas.openxmlformats.org/officeDocument/2006/relationships/slide" Target="/ppt/slides/slide9.xml" Id="R1b314828b0484d70" /><Relationship Type="http://schemas.openxmlformats.org/officeDocument/2006/relationships/slide" Target="/ppt/slides/slide10.xml" Id="R828ae3d28a484759" /><Relationship Type="http://schemas.openxmlformats.org/officeDocument/2006/relationships/slide" Target="/ppt/slides/slide11.xml" Id="R39c409a766b7415e" /><Relationship Type="http://schemas.openxmlformats.org/officeDocument/2006/relationships/slide" Target="/ppt/slides/slide12.xml" Id="R891ef7a616a84109" /><Relationship Type="http://schemas.openxmlformats.org/officeDocument/2006/relationships/slide" Target="/ppt/slides/slide13.xml" Id="R2829e2d967ac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cdc9aa74e4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91741f03ce4d73" /><Relationship Type="http://schemas.openxmlformats.org/officeDocument/2006/relationships/notesMaster" Target="/ppt/notesMasters/notesMaster1.xml" Id="R2094fa4ca8b341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d395b0431042f0" /><Relationship Type="http://schemas.openxmlformats.org/officeDocument/2006/relationships/notesMaster" Target="/ppt/notesMasters/notesMaster1.xml" Id="R521039ac5bf0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ccfc3931414f11" /><Relationship Type="http://schemas.openxmlformats.org/officeDocument/2006/relationships/notesMaster" Target="/ppt/notesMasters/notesMaster1.xml" Id="Rf5bb949c99d94e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8d9b7cf32492f" /><Relationship Type="http://schemas.openxmlformats.org/officeDocument/2006/relationships/notesMaster" Target="/ppt/notesMasters/notesMaster1.xml" Id="R6c172a91b5b8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46d875b0924eab" /><Relationship Type="http://schemas.openxmlformats.org/officeDocument/2006/relationships/notesMaster" Target="/ppt/notesMasters/notesMaster1.xml" Id="Rfbc4faf033574d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8aadcb9aa74507" /><Relationship Type="http://schemas.openxmlformats.org/officeDocument/2006/relationships/notesMaster" Target="/ppt/notesMasters/notesMaster1.xml" Id="Rfbfd033267bc45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9cddd864af4ff0" /><Relationship Type="http://schemas.openxmlformats.org/officeDocument/2006/relationships/notesMaster" Target="/ppt/notesMasters/notesMaster1.xml" Id="Rbc097cbc0d444d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c914714d314cbd" /><Relationship Type="http://schemas.openxmlformats.org/officeDocument/2006/relationships/notesMaster" Target="/ppt/notesMasters/notesMaster1.xml" Id="Rfed8fa1507b143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eaa670df624ffc" /><Relationship Type="http://schemas.openxmlformats.org/officeDocument/2006/relationships/notesMaster" Target="/ppt/notesMasters/notesMaster1.xml" Id="R1c94240a96224c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4a63b4a97f4923" /><Relationship Type="http://schemas.openxmlformats.org/officeDocument/2006/relationships/notesMaster" Target="/ppt/notesMasters/notesMaster1.xml" Id="Rd13ac815673445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22084701194878" /><Relationship Type="http://schemas.openxmlformats.org/officeDocument/2006/relationships/notesMaster" Target="/ppt/notesMasters/notesMaster1.xml" Id="R946bbb204a6a42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1d2864787247d9" /><Relationship Type="http://schemas.openxmlformats.org/officeDocument/2006/relationships/notesMaster" Target="/ppt/notesMasters/notesMaster1.xml" Id="Ra7d5dd70ac4b47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c98b5053ba41cd" /><Relationship Type="http://schemas.openxmlformats.org/officeDocument/2006/relationships/notesMaster" Target="/ppt/notesMasters/notesMaster1.xml" Id="R41c3ce09469449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10b33de4f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c26e3d16984164" /><Relationship Type="http://schemas.openxmlformats.org/officeDocument/2006/relationships/slideLayout" Target="/ppt/slideLayouts/slideLayout1.xml" Id="R8e1209221d964f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1209221d964f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e1151fa6047a8" /><Relationship Type="http://schemas.openxmlformats.org/officeDocument/2006/relationships/notesSlide" Target="/ppt/notesSlides/notesSlide1.xml" Id="R6f525ed167e849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f74d500a44b00" /><Relationship Type="http://schemas.openxmlformats.org/officeDocument/2006/relationships/notesSlide" Target="/ppt/notesSlides/notesSlide2.xml" Id="R4c1552a8f6ba4c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6b8ea45a943fa" /><Relationship Type="http://schemas.openxmlformats.org/officeDocument/2006/relationships/notesSlide" Target="/ppt/notesSlides/notesSlide3.xml" Id="R2f049efb1a574c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84f43f3dd4fd5" /><Relationship Type="http://schemas.openxmlformats.org/officeDocument/2006/relationships/notesSlide" Target="/ppt/notesSlides/notesSlide4.xml" Id="R709da69278a9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8f23d9d4a4367" /><Relationship Type="http://schemas.openxmlformats.org/officeDocument/2006/relationships/notesSlide" Target="/ppt/notesSlides/notesSlide5.xml" Id="Rec2ae5bfca81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5b1a1a316454f" /><Relationship Type="http://schemas.openxmlformats.org/officeDocument/2006/relationships/notesSlide" Target="/ppt/notesSlides/notesSlide6.xml" Id="Rf5bedc5dc7c94f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f357287684c74" /><Relationship Type="http://schemas.openxmlformats.org/officeDocument/2006/relationships/notesSlide" Target="/ppt/notesSlides/notesSlide7.xml" Id="R030997be13dd45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42001a1394fed" /><Relationship Type="http://schemas.openxmlformats.org/officeDocument/2006/relationships/chart" Target="/ppt/slides/charts/chart1.xml" Id="Re429af28d8264b17" /><Relationship Type="http://schemas.openxmlformats.org/officeDocument/2006/relationships/notesSlide" Target="/ppt/notesSlides/notesSlide8.xml" Id="R4a1b668aa27546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f65e17af04d27" /><Relationship Type="http://schemas.openxmlformats.org/officeDocument/2006/relationships/notesSlide" Target="/ppt/notesSlides/notesSlide9.xml" Id="Rf9c9d3c15c1e4f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160cb67634184" /><Relationship Type="http://schemas.openxmlformats.org/officeDocument/2006/relationships/chart" Target="/ppt/slides/charts/chart2.xml" Id="R680cfbfd2ad6451f" /><Relationship Type="http://schemas.openxmlformats.org/officeDocument/2006/relationships/notesSlide" Target="/ppt/notesSlides/notesSlide10.xml" Id="R5384aa99389b4f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13c84e7ee4e86" /><Relationship Type="http://schemas.openxmlformats.org/officeDocument/2006/relationships/notesSlide" Target="/ppt/notesSlides/notesSlide11.xml" Id="R042e9f22c34e40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f50f2458e4622" /><Relationship Type="http://schemas.openxmlformats.org/officeDocument/2006/relationships/notesSlide" Target="/ppt/notesSlides/notesSlide12.xml" Id="Rc0bfa929d1f047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67e22d4b24887" /><Relationship Type="http://schemas.openxmlformats.org/officeDocument/2006/relationships/notesSlide" Target="/ppt/notesSlides/notesSlide13.xml" Id="Rbaceaebc9fa5472f" /></Relationships>
</file>

<file path=ppt/slides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1.xlsx"/></Relationships>
</file>

<file path=ppt/slides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2.xlsx"/></Relationships>
</file>

<file path=ppt/slides/charts/chart1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L1 汉语</c:v>
          </c:tx>
          <c:spPr>
            <a:solidFill xmlns:a="http://schemas.openxmlformats.org/drawingml/2006/main">
              <a:srgbClr val="2A5B7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30–40</c:v>
                </c:pt>
                <c:pt idx="1">
                  <c:v>41–50</c:v>
                </c:pt>
                <c:pt idx="2">
                  <c:v>51–60</c:v>
                </c:pt>
                <c:pt idx="3">
                  <c:v>61–70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58.943</c:v>
                </c:pt>
                <c:pt idx="1">
                  <c:v>63.105</c:v>
                </c:pt>
                <c:pt idx="2">
                  <c:v>62.293</c:v>
                </c:pt>
                <c:pt idx="3">
                  <c:v>61.152</c:v>
                </c:pt>
              </c:numCache>
            </c:numRef>
          </c:val>
        </c:ser>
        <c:ser>
          <c:idx val="1"/>
          <c:order val="1"/>
          <c:tx>
            <c:v>L2 英语</c:v>
          </c:tx>
          <c:spPr>
            <a:solidFill xmlns:a="http://schemas.openxmlformats.org/drawingml/2006/main">
              <a:srgbClr val="C17845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30–40</c:v>
                </c:pt>
                <c:pt idx="1">
                  <c:v>41–50</c:v>
                </c:pt>
                <c:pt idx="2">
                  <c:v>51–60</c:v>
                </c:pt>
                <c:pt idx="3">
                  <c:v>61–70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51.591</c:v>
                </c:pt>
                <c:pt idx="1">
                  <c:v>62.827</c:v>
                </c:pt>
                <c:pt idx="2">
                  <c:v>57.746</c:v>
                </c:pt>
                <c:pt idx="3">
                  <c:v>61.481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charts/chart2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L1 汉语</c:v>
          </c:tx>
          <c:spPr>
            <a:ln xmlns:a="http://schemas.openxmlformats.org/drawingml/2006/main"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A5B78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30–40</c:v>
                </c:pt>
                <c:pt idx="1">
                  <c:v>41–50</c:v>
                </c:pt>
                <c:pt idx="2">
                  <c:v>51–60</c:v>
                </c:pt>
                <c:pt idx="3">
                  <c:v>61–70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0.937</c:v>
                </c:pt>
                <c:pt idx="1">
                  <c:v>0.927</c:v>
                </c:pt>
                <c:pt idx="2">
                  <c:v>0.932</c:v>
                </c:pt>
                <c:pt idx="3">
                  <c:v>0.942</c:v>
                </c:pt>
              </c:numCache>
            </c:numRef>
          </c:val>
          <c:smooth val="1"/>
        </c:ser>
        <c:ser>
          <c:idx val="1"/>
          <c:order val="1"/>
          <c:tx>
            <c:v>L2 英语</c:v>
          </c:tx>
          <c:spPr>
            <a:ln xmlns:a="http://schemas.openxmlformats.org/drawingml/2006/main"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C17845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30–40</c:v>
                </c:pt>
                <c:pt idx="1">
                  <c:v>41–50</c:v>
                </c:pt>
                <c:pt idx="2">
                  <c:v>51–60</c:v>
                </c:pt>
                <c:pt idx="3">
                  <c:v>61–70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0.914</c:v>
                </c:pt>
                <c:pt idx="1">
                  <c:v>0.892</c:v>
                </c:pt>
                <c:pt idx="2">
                  <c:v>0.913</c:v>
                </c:pt>
                <c:pt idx="3">
                  <c:v>0.906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0.95"/>
          <c:min val="0.88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CA7F7B-8B48-42E5-B7A5-BC53CE1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5B78"/>
                </a:solidFill>
                <a:latin typeface="Aptos"/>
                <a:ea typeface="Aptos"/>
                <a:cs typeface="Aptos"/>
              </a:rPr>
              <a:t>Cognitive Science Article Presentation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71599"/>
            <a:ext cx="10362644" cy="197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Investigating the Bilingual Aging Lexicon: A Network Analysis of Word Associations in Chinese–English Bilinguals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4735"/>
            <a:ext cx="5018314" cy="53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Ping Zhang · Xin Wang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6542314" cy="422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Cognitive Science 50 (2026) e70205  DOI 10.1111/cogs.70205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DC405-A457-4A7D-8681-14179D2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B723F-EBAF-41A8-AEE9-3CD412B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National Social Science Fund of China (23BYY178)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A42E5-61FB-4B09-9ACF-15EE57F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4B031D-020E-4B7F-BE4F-2FFC18D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Table of Contents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248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1580B-2E46-4E38-9887-07EFDDF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0679F-0ECD-4F6B-A1ED-AD07BE1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88232-9534-4EF8-9567-047D20D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9D737-1823-4517-B8D5-4C7DF9D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574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研究背景与研究问题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F8B8B-0681-4122-9C88-3E88F89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3EE86-BA28-4464-97C5-3FCBAAA0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4213E-2710-43C2-ABDD-AE8151A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72B8B-14F5-497C-9954-4B80D7B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参与者与材料、实验流程、网络构建与分析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D5169-AB1D-4535-B4C4-F4B4A57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C7DE4-A167-4A58-AB08-3EE22FE1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61946-F2AB-4E3B-A07E-2D0DE67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90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2FE48-A969-4877-A933-6FA97A0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年龄轨迹、跨语言差异与结构重组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E650B-2F53-4F44-86DF-B7359AA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F3682-4A4F-4632-9DBD-25F171C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7C0EF-6BE9-4BA9-AB90-DB6B0E78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7AF24-B739-472B-BD77-372349A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结果解释、研究贡献、局限与结论</a:t>
            </a: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8EBE4A2-CFFE-41DE-AED9-3B6BF58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Background and Research Gap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核心概念（Core Concept）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Semantic Network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248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词汇联想网络将反应词表示为节点，将词语之间的共现关系表示为边。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网络指标用于描述双语心理词汇的整体连接、局部聚集和社群结构。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研究问题（Research Gap）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成年期双语词汇网络的年龄变化仍缺乏系统证据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同一批双语者的 L1 与 L2 网络轨迹尚未得到直接比较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中年阶段可能包含关键转折，二分年龄组设计难以识别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研究聚焦 30–70 岁汉英双语者的词汇网络结构及其跨语言差异。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BD98526-3D6E-443A-A75F-1700E7EA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Research Questions and Hypotheses</a:t>
            </a:r>
            <a:endParaRPr sz="2850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3B75D-8A43-4D0D-82FA-444732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年龄轨迹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平均度、最短路径、聚类系数和模块度如何随年龄变化？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F88155-59AE-46DE-A86B-95288EC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跨语言差异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575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汉语与 L2 英语的年龄变化轨迹是否不同？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900090-ED51-48DB-BEC2-974F18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理论预期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预期聚类系数随年龄下降、模块度上升；平均度与最短路径不设方向性假设。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B54F813-6E5F-4B9C-B8BD-843D3F15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Participants and Materials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117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高校英语教师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总样本  N = 117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女性 78 人，男性 39 人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均为汉英双语者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无自报神经或认知障碍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24.8% 有海外学习经历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086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年龄组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四个成年年龄组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30–40 岁   n = 30   M = 36.23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67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41–50 岁   n = 30   M = 42.73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51–60 岁   n = 30   M = 54.53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61–70 岁   n = 27   M = 65.04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51ED586-EB61-4DC3-A237-E366697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Procedure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在线连续词汇联想任务（continued word association task）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英语任务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先完成 L2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间隔约 6 个月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自然任务间隔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汉语任务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后完成 L1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数据整理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标准化与词形还原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每种语言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个高频刺激词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每个刺激词产出 3 个同语种反应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不设时限，可选语音输入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刺激词匹配词性、具体性及词长或笔画；系统要求三个反应填写完整后进入下一题。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CDB6FCA-5BD8-4D4B-ACD0-A384A28C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Network Construction and Analysis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19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R–R 网络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4171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节点：独立反应词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边：同一刺激词下的反应共现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边权为同一词对跨刺激词共同出现的次数。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网络指标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整体结构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平均度 &lt;k&gt;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平均最短路径 L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局部与社群结构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聚类系数 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模块度 Q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统计比较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BFS 子图抽样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每个网络抽取 1000 个节点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100 次重复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组间设计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年龄 × 语言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控制网络规模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统计检验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双因素方差分析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必要时采用非参数检验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D94F7A0-D9CF-45D5-B565-299C9AC4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Average Degree Peaks in Middle Adulthood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两种语言均在 41–50 岁达到最高整体连接水平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29af28d8264b17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年龄主效应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 &lt; .001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ηp² = .938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语言主效应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 &lt; .001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ηp² = .802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0537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年龄、语言及交互均显著（均 p &lt; .001）；平均度呈非线性轨迹，L2 的组间波动幅度更大。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DC152C0-CAA0-4759-94D3-3D617ED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Distinct L1 and L2 Aging Trajectories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95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汉语网络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&lt;k&gt; = 63.105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峰值：41–50 岁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 最低：51–60 岁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 与 Q 中年降低、晚年回升，整体轨迹较平缓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5276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英语网络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&lt;k&gt; = 62.827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峰值：41–50 岁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 最低：41–50 岁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 与 Q 中年下降、51–60 岁反弹，晚年再次分化。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中年阶段变化最活跃，L2 的结构波动整体大于 L1。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B5E215-B49E-4F89-8523-340BBC9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Local Clustering Changes Across Adulthood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的局部连接始终高于 L2，两种语言的最低点均出现在 41–50 岁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0cfbfd2ad6451f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495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95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语言主效应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 &lt; .001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ηp² = .973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955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年龄效应与交互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43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均 p &lt; .001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ηp² = .883 / .702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L2 在晚年再次下降。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L1 在 41–50 岁后持续回升；L2 在 51–60 岁回升后，于 61–70 岁再次下降。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0335850-DC86-4BA8-AC0D-190B0B2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Interpreting Nonlinear Lexical Aging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研究结果与网络丰富化和补偿性重组两种解释相一致。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819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网络丰富化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Network enrichment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持续语言经验扩展词汇知识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反应类型增多，跨个体重合降低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群体网络表现得更稀疏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高学历与持续双语使用或有助于延长效率保持期。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5334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补偿性重组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Compensatory reorganization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晚年局部聚集与模块化增强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社群边界更清晰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结构隔离支持语义加工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61–70 岁 L1 模块度明显上升，提示晚年结构重组。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两种解释共同强调成年期词汇网络的持续变化与个体经验差异。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9CD57E7-B6D1-488B-A70C-9B7684E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Contributions and Implications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成年期视角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四个年龄组揭示中年转折与晚年重组，补充青年与老年二分比较。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A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方法贡献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R–R 网络结合 BFS 子图抽样，在保留局部结构的同时控制网络规模。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双语启示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结构更稳定；L2 对职业需求、使用经验和年龄变化更敏感。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持续双语使用可能支持中晚年语义网络的效率保持与结构重组。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D927867-3207-4DCA-8D2A-3D129D9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Limitations and Conclusions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横断面与群体网络无法直接呈现个体内部的 L1–L2 关系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样本均为高学历高校英语教师，结论的适用范围有限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认知健康依据自报，未纳入标准化认知测评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L1 与 L2 均呈现非线性成年期发展轨迹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中年阶段变化最活跃，L2 的结构波动更大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L1 整体更稳定，晚年局部聚集与模块化增强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双语词汇网络随成年经验持续重组，年龄效应在 L1 与 L2 中表现不同。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2026-09-27T09:46:31.4890000Z</dcterms:created>
  <dcterms:modified xsi:type="dcterms:W3CDTF">2026-09-27T09:46:31.4890000Z</dcterms:modified>
</coreProperties>
</file>