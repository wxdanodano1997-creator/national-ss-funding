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2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L1 汉语</c:v>
          </c:tx>
          <c:spPr>
            <a:solidFill>
              <a:srgbClr val="2A5B78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按学习者</c:v>
                </c:pt>
                <c:pt idx="1">
                  <c:v>按刺激词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31.74</c:v>
                </c:pt>
                <c:pt idx="1">
                  <c:v>62.68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2EA-4CE8-9255-1DBBA864AACE}"/>
            </c:ext>
          </c:extLst>
        </c:ser>
        <c:ser>
          <c:idx val="1"/>
          <c:order val="1"/>
          <c:tx>
            <c:v>L2 英语</c:v>
          </c:tx>
          <c:spPr>
            <a:solidFill>
              <a:srgbClr val="C17845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按学习者</c:v>
                </c:pt>
                <c:pt idx="1">
                  <c:v>按刺激词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39.090000000000003</c:v>
                </c:pt>
                <c:pt idx="1">
                  <c:v>68.55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2EA-4CE8-9255-1DBBA864AAC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>
              <a:latin typeface="Microsoft YaHei"/>
              <a:ea typeface="Microsoft YaHei"/>
              <a:cs typeface="Microsoft YaHei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L1 汉语</c:v>
          </c:tx>
          <c:spPr>
            <a:ln w="28575">
              <a:solidFill>
                <a:srgbClr val="2A5B78"/>
              </a:solidFill>
            </a:ln>
          </c:spPr>
          <c:marker>
            <c:symbol val="diamond"/>
            <c:size val="8"/>
            <c:spPr>
              <a:solidFill>
                <a:srgbClr val="2A5B78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反应 1</c:v>
                </c:pt>
                <c:pt idx="1">
                  <c:v>反应 2</c:v>
                </c:pt>
                <c:pt idx="2">
                  <c:v>反应 3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33.5</c:v>
                </c:pt>
                <c:pt idx="1">
                  <c:v>12.73</c:v>
                </c:pt>
                <c:pt idx="2">
                  <c:v>6.67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541-479B-AF1A-9C6469953706}"/>
            </c:ext>
          </c:extLst>
        </c:ser>
        <c:ser>
          <c:idx val="1"/>
          <c:order val="1"/>
          <c:tx>
            <c:v>L2 英语</c:v>
          </c:tx>
          <c:spPr>
            <a:ln w="28575">
              <a:solidFill>
                <a:srgbClr val="C17845"/>
              </a:solidFill>
            </a:ln>
          </c:spPr>
          <c:marker>
            <c:symbol val="square"/>
            <c:size val="8"/>
            <c:spPr>
              <a:solidFill>
                <a:srgbClr val="C17845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反应 1</c:v>
                </c:pt>
                <c:pt idx="1">
                  <c:v>反应 2</c:v>
                </c:pt>
                <c:pt idx="2">
                  <c:v>反应 3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38.72</c:v>
                </c:pt>
                <c:pt idx="1">
                  <c:v>15.73</c:v>
                </c:pt>
                <c:pt idx="2">
                  <c:v>8.4600000000000009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541-479B-AF1A-9C64699537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>
              <a:latin typeface="Microsoft YaHei"/>
              <a:ea typeface="Microsoft YaHei"/>
              <a:cs typeface="Microsoft YaHei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B3CB7D4-5E8E-494F-AD4B-E3F975E5739A}"/>
              </a:ext>
            </a:extLst>
          </p:cNvPr>
          <p:cNvSpPr>
            <a:spLocks noGrp="1"/>
          </p:cNvSpPr>
          <p:nvPr/>
        </p:nvSpPr>
        <p:spPr>
          <a:xfrm>
            <a:off x="704850" y="838200"/>
            <a:ext cx="76200" cy="3371850"/>
          </a:xfrm>
          <a:prstGeom prst="rect">
            <a:avLst/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43B4DF-F035-4B14-A04F-C5A42B2688F4}"/>
              </a:ext>
            </a:extLst>
          </p:cNvPr>
          <p:cNvSpPr>
            <a:spLocks noGrp="1"/>
          </p:cNvSpPr>
          <p:nvPr/>
        </p:nvSpPr>
        <p:spPr>
          <a:xfrm>
            <a:off x="990600" y="1371599"/>
            <a:ext cx="10362644" cy="197313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322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我重复了这么多英语词吗</a:t>
            </a:r>
            <a:r>
              <a:rPr sz="32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？” L1和L2词汇联想反应在不同时间及反应位置上的稳定性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C9D7FECA-8035-441B-B236-6235CCC3A99E}"/>
              </a:ext>
            </a:extLst>
          </p:cNvPr>
          <p:cNvSpPr>
            <a:spLocks noGrp="1"/>
          </p:cNvSpPr>
          <p:nvPr/>
        </p:nvSpPr>
        <p:spPr>
          <a:xfrm>
            <a:off x="990600" y="4476750"/>
            <a:ext cx="104775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DB6FAA-5543-4AA1-AB42-F450FDE3637E}"/>
              </a:ext>
            </a:extLst>
          </p:cNvPr>
          <p:cNvSpPr>
            <a:spLocks noGrp="1"/>
          </p:cNvSpPr>
          <p:nvPr/>
        </p:nvSpPr>
        <p:spPr>
          <a:xfrm>
            <a:off x="990600" y="3344735"/>
            <a:ext cx="5018314" cy="5319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Xin Wang · Ping Zhang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8AC98C-1F2A-4189-BEBE-F8C8047CBEF4}"/>
              </a:ext>
            </a:extLst>
          </p:cNvPr>
          <p:cNvSpPr>
            <a:spLocks noGrp="1"/>
          </p:cNvSpPr>
          <p:nvPr/>
        </p:nvSpPr>
        <p:spPr>
          <a:xfrm>
            <a:off x="990600" y="3876675"/>
            <a:ext cx="6542314" cy="42273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Lingua 310 (2024) 103804 DOI 10.1016/j.lingua.2024.103804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4DC405-A457-4A7D-8681-14179D24F0E3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2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6B723F-EBAF-41A8-AEE9-3CD412B15300}"/>
              </a:ext>
            </a:extLst>
          </p:cNvPr>
          <p:cNvSpPr>
            <a:spLocks noGrp="1"/>
          </p:cNvSpPr>
          <p:nvPr/>
        </p:nvSpPr>
        <p:spPr>
          <a:xfrm>
            <a:off x="990600" y="5124450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National Social Science Fund of China (23BYY178)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CA42E5-61FB-4B09-9ACF-15EE57F0B401}"/>
              </a:ext>
            </a:extLst>
          </p:cNvPr>
          <p:cNvSpPr>
            <a:spLocks noGrp="1"/>
          </p:cNvSpPr>
          <p:nvPr/>
        </p:nvSpPr>
        <p:spPr>
          <a:xfrm>
            <a:off x="990600" y="54673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Major Program Fund of Jiangsu Education Department (2022SJZD126)</a:t>
            </a:r>
          </a:p>
        </p:txBody>
      </p:sp>
    </p:spTree>
    <p:extLst>
      <p:ext uri="{BB962C8B-B14F-4D97-AF65-F5344CB8AC3E}">
        <p14:creationId xmlns:p14="http://schemas.microsoft.com/office/powerpoint/2010/main" val="178815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FB7C34-C6FD-407B-B08A-0724088B2670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9E765C-440B-4A29-8C59-82633A6B0AE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汇报内容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9C57E24-F39A-4CC4-9645-261828B00DAC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88FDF0-8554-4E4C-AC52-B8F924F264A3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73601C-2491-429D-9952-F382A41B4C17}"/>
              </a:ext>
            </a:extLst>
          </p:cNvPr>
          <p:cNvSpPr>
            <a:spLocks noGrp="1"/>
          </p:cNvSpPr>
          <p:nvPr/>
        </p:nvSpPr>
        <p:spPr>
          <a:xfrm>
            <a:off x="762000" y="2009775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FF4F2A-5B23-4484-A0A3-4718BB3C26DE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39052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5E26E9-1297-497A-A264-F8EFF4113E3E}"/>
              </a:ext>
            </a:extLst>
          </p:cNvPr>
          <p:cNvSpPr>
            <a:spLocks noGrp="1"/>
          </p:cNvSpPr>
          <p:nvPr/>
        </p:nvSpPr>
        <p:spPr>
          <a:xfrm>
            <a:off x="5619750" y="16954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D49EBF-3E14-4E4E-8D44-9B5A39EDFE9D}"/>
              </a:ext>
            </a:extLst>
          </p:cNvPr>
          <p:cNvSpPr>
            <a:spLocks noGrp="1"/>
          </p:cNvSpPr>
          <p:nvPr/>
        </p:nvSpPr>
        <p:spPr>
          <a:xfrm>
            <a:off x="5619750" y="2009775"/>
            <a:ext cx="5524500" cy="1085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2F647A1D-DB82-45C9-A1B3-726D182DF28D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106680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569BA4-A148-4164-93D6-C725E2C20D72}"/>
              </a:ext>
            </a:extLst>
          </p:cNvPr>
          <p:cNvSpPr>
            <a:spLocks noGrp="1"/>
          </p:cNvSpPr>
          <p:nvPr/>
        </p:nvSpPr>
        <p:spPr>
          <a:xfrm>
            <a:off x="762000" y="416242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BC809D-50F5-4D93-8CB6-114EC71DDB1A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4857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F08158-AFD1-47CF-8ACE-AE5089C4E822}"/>
              </a:ext>
            </a:extLst>
          </p:cNvPr>
          <p:cNvSpPr>
            <a:spLocks noGrp="1"/>
          </p:cNvSpPr>
          <p:nvPr/>
        </p:nvSpPr>
        <p:spPr>
          <a:xfrm>
            <a:off x="762000" y="493395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A162656-DA17-46F4-8FA9-6B1DFC6FB07D}"/>
              </a:ext>
            </a:extLst>
          </p:cNvPr>
          <p:cNvSpPr>
            <a:spLocks noGrp="1"/>
          </p:cNvSpPr>
          <p:nvPr/>
        </p:nvSpPr>
        <p:spPr>
          <a:xfrm>
            <a:off x="6896100" y="4229100"/>
            <a:ext cx="4248150" cy="1200150"/>
          </a:xfrm>
          <a:prstGeom prst="roundRect">
            <a:avLst>
              <a:gd name="adj" fmla="val 6349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F12E822-816B-4B09-B3F1-856EB317211C}"/>
              </a:ext>
            </a:extLst>
          </p:cNvPr>
          <p:cNvSpPr>
            <a:spLocks noGrp="1"/>
          </p:cNvSpPr>
          <p:nvPr/>
        </p:nvSpPr>
        <p:spPr>
          <a:xfrm>
            <a:off x="7181850" y="4381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D0A663-D9F3-4E44-9A67-20B1DBCA4EE3}"/>
              </a:ext>
            </a:extLst>
          </p:cNvPr>
          <p:cNvSpPr>
            <a:spLocks noGrp="1"/>
          </p:cNvSpPr>
          <p:nvPr/>
        </p:nvSpPr>
        <p:spPr>
          <a:xfrm>
            <a:off x="7181850" y="4743450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endParaRPr sz="1575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41580B-2E46-4E38-9887-07EFDDF2EAD4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4953000"/>
          </a:xfrm>
          <a:prstGeom prst="rect">
            <a:avLst/>
          </a:prstGeom>
          <a:solidFill>
            <a:srgbClr val="F8F7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B0679F-0ECD-4F6B-A1ED-AD07BE19A72D}"/>
              </a:ext>
            </a:extLst>
          </p:cNvPr>
          <p:cNvSpPr>
            <a:spLocks noGrp="1"/>
          </p:cNvSpPr>
          <p:nvPr/>
        </p:nvSpPr>
        <p:spPr>
          <a:xfrm>
            <a:off x="990600" y="1638300"/>
            <a:ext cx="8763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E88232-9534-4EF8-9567-047D20D73163}"/>
              </a:ext>
            </a:extLst>
          </p:cNvPr>
          <p:cNvSpPr>
            <a:spLocks noGrp="1"/>
          </p:cNvSpPr>
          <p:nvPr/>
        </p:nvSpPr>
        <p:spPr>
          <a:xfrm>
            <a:off x="2190750" y="16573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研究背景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3F8B8B-0681-4122-9C88-3E88F89E5678}"/>
              </a:ext>
            </a:extLst>
          </p:cNvPr>
          <p:cNvSpPr>
            <a:spLocks noGrp="1"/>
          </p:cNvSpPr>
          <p:nvPr/>
        </p:nvSpPr>
        <p:spPr>
          <a:xfrm>
            <a:off x="2190750" y="2505075"/>
            <a:ext cx="8096250" cy="9525"/>
          </a:xfrm>
          <a:prstGeom prst="rect">
            <a:avLst/>
          </a:prstGeom>
          <a:solidFill>
            <a:srgbClr val="D9D7D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63EE86-BA28-4464-97C5-3FCBAAA092F6}"/>
              </a:ext>
            </a:extLst>
          </p:cNvPr>
          <p:cNvSpPr>
            <a:spLocks noGrp="1"/>
          </p:cNvSpPr>
          <p:nvPr/>
        </p:nvSpPr>
        <p:spPr>
          <a:xfrm>
            <a:off x="990600" y="2705100"/>
            <a:ext cx="8763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84213E-2710-43C2-ABDD-AE8151A0A143}"/>
              </a:ext>
            </a:extLst>
          </p:cNvPr>
          <p:cNvSpPr>
            <a:spLocks noGrp="1"/>
          </p:cNvSpPr>
          <p:nvPr/>
        </p:nvSpPr>
        <p:spPr>
          <a:xfrm>
            <a:off x="2190750" y="27241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研究设计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ED5169-AB1D-4535-B4C4-F4B4A5779791}"/>
              </a:ext>
            </a:extLst>
          </p:cNvPr>
          <p:cNvSpPr>
            <a:spLocks noGrp="1"/>
          </p:cNvSpPr>
          <p:nvPr/>
        </p:nvSpPr>
        <p:spPr>
          <a:xfrm>
            <a:off x="2190750" y="3571875"/>
            <a:ext cx="8096250" cy="9525"/>
          </a:xfrm>
          <a:prstGeom prst="rect">
            <a:avLst/>
          </a:prstGeom>
          <a:solidFill>
            <a:srgbClr val="D9D7D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4C7DE4-A167-4A58-AB08-3EE22FE11188}"/>
              </a:ext>
            </a:extLst>
          </p:cNvPr>
          <p:cNvSpPr>
            <a:spLocks noGrp="1"/>
          </p:cNvSpPr>
          <p:nvPr/>
        </p:nvSpPr>
        <p:spPr>
          <a:xfrm>
            <a:off x="990600" y="3771900"/>
            <a:ext cx="8763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B61946-F2AB-4E3B-A07E-2D0DE670BDEE}"/>
              </a:ext>
            </a:extLst>
          </p:cNvPr>
          <p:cNvSpPr>
            <a:spLocks noGrp="1"/>
          </p:cNvSpPr>
          <p:nvPr/>
        </p:nvSpPr>
        <p:spPr>
          <a:xfrm>
            <a:off x="2190750" y="37909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主要结果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FDE650B-2F53-4F44-86DF-B7359AAD9A82}"/>
              </a:ext>
            </a:extLst>
          </p:cNvPr>
          <p:cNvSpPr>
            <a:spLocks noGrp="1"/>
          </p:cNvSpPr>
          <p:nvPr/>
        </p:nvSpPr>
        <p:spPr>
          <a:xfrm>
            <a:off x="2190750" y="4638675"/>
            <a:ext cx="8096250" cy="9525"/>
          </a:xfrm>
          <a:prstGeom prst="rect">
            <a:avLst/>
          </a:prstGeom>
          <a:solidFill>
            <a:srgbClr val="D9D7D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7DF3682-4A4F-4632-9DBD-25F171C1895A}"/>
              </a:ext>
            </a:extLst>
          </p:cNvPr>
          <p:cNvSpPr>
            <a:spLocks noGrp="1"/>
          </p:cNvSpPr>
          <p:nvPr/>
        </p:nvSpPr>
        <p:spPr>
          <a:xfrm>
            <a:off x="990600" y="4838700"/>
            <a:ext cx="8763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AB7C0EF-6BE9-4BA9-AB90-DB6B0E78D7CD}"/>
              </a:ext>
            </a:extLst>
          </p:cNvPr>
          <p:cNvSpPr>
            <a:spLocks noGrp="1"/>
          </p:cNvSpPr>
          <p:nvPr/>
        </p:nvSpPr>
        <p:spPr>
          <a:xfrm>
            <a:off x="2190750" y="48577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讨论与结论</a:t>
            </a:r>
          </a:p>
        </p:txBody>
      </p:sp>
    </p:spTree>
    <p:extLst>
      <p:ext uri="{BB962C8B-B14F-4D97-AF65-F5344CB8AC3E}">
        <p14:creationId xmlns:p14="http://schemas.microsoft.com/office/powerpoint/2010/main" val="43641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BD5022-AABC-4D5F-A46F-D53F10B128E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2576DA-310B-432A-A3FA-E0C81C0958E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研究背景与研究空白</a:t>
            </a:r>
            <a:endParaRPr sz="2850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9F45281-8080-4B00-9359-19A5C14174B1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7AA38E2-3C90-494F-8DD5-90C657301D54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4953000" cy="3790950"/>
          </a:xfrm>
          <a:prstGeom prst="roundRect">
            <a:avLst>
              <a:gd name="adj" fmla="val 2010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19274A-A7C0-465C-B1D1-755EB6532E80}"/>
              </a:ext>
            </a:extLst>
          </p:cNvPr>
          <p:cNvSpPr>
            <a:spLocks noGrp="1"/>
          </p:cNvSpPr>
          <p:nvPr/>
        </p:nvSpPr>
        <p:spPr>
          <a:xfrm>
            <a:off x="1047750" y="19431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定义（Definition）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A41497-31AE-4F3A-B943-57030B273E1C}"/>
              </a:ext>
            </a:extLst>
          </p:cNvPr>
          <p:cNvSpPr>
            <a:spLocks noGrp="1"/>
          </p:cNvSpPr>
          <p:nvPr/>
        </p:nvSpPr>
        <p:spPr>
          <a:xfrm>
            <a:off x="1047750" y="231457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Associative stability (AS)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FC124C-79E1-4BA8-BDCB-E9573D37D565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424815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0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同一学习者在不同时间面对同一刺激词时，重复产生相同反应词的程度</a:t>
            </a:r>
            <a:r>
              <a:rPr sz="187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6E776A-AC8F-48A3-89FE-EF6C0FCF1882}"/>
              </a:ext>
            </a:extLst>
          </p:cNvPr>
          <p:cNvSpPr>
            <a:spLocks noGrp="1"/>
          </p:cNvSpPr>
          <p:nvPr/>
        </p:nvSpPr>
        <p:spPr>
          <a:xfrm>
            <a:off x="1047750" y="4057650"/>
            <a:ext cx="43624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本研究以两次测试之间的反应重复率（repetition</a:t>
            </a:r>
            <a:r>
              <a:rPr sz="1425" b="0" dirty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rate）衡量</a:t>
            </a:r>
            <a:r>
              <a:rPr sz="1425" b="0" dirty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 associative stability。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645813-4E41-4895-9565-677EFABCEC05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研究空白（Research Gap）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59BA60A-10EC-4682-BD12-D157FEAB1400}"/>
              </a:ext>
            </a:extLst>
          </p:cNvPr>
          <p:cNvSpPr>
            <a:spLocks noGrp="1"/>
          </p:cNvSpPr>
          <p:nvPr/>
        </p:nvSpPr>
        <p:spPr>
          <a:xfrm>
            <a:off x="6229350" y="23622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099DA2-08AA-45F2-B985-C155C8B5619F}"/>
              </a:ext>
            </a:extLst>
          </p:cNvPr>
          <p:cNvSpPr>
            <a:spLocks noGrp="1"/>
          </p:cNvSpPr>
          <p:nvPr/>
        </p:nvSpPr>
        <p:spPr>
          <a:xfrm>
            <a:off x="6419850" y="2209800"/>
            <a:ext cx="5503636" cy="54292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L1与L2的联想稳定性（associative </a:t>
            </a:r>
            <a:r>
              <a:rPr sz="1650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stability）是否不同</a:t>
            </a:r>
            <a:endParaRPr sz="1650" b="0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D270C4-25CB-4F5D-B75C-F5C897E6376A}"/>
              </a:ext>
            </a:extLst>
          </p:cNvPr>
          <p:cNvSpPr>
            <a:spLocks noGrp="1"/>
          </p:cNvSpPr>
          <p:nvPr/>
        </p:nvSpPr>
        <p:spPr>
          <a:xfrm>
            <a:off x="6229350" y="31527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7529E0-2819-4C8D-A2C9-7539E346C032}"/>
              </a:ext>
            </a:extLst>
          </p:cNvPr>
          <p:cNvSpPr>
            <a:spLocks noGrp="1"/>
          </p:cNvSpPr>
          <p:nvPr/>
        </p:nvSpPr>
        <p:spPr>
          <a:xfrm>
            <a:off x="6419850" y="3038475"/>
            <a:ext cx="5029200" cy="56197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同一学习者在L1与L2中的联想稳定性是否一致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A868AFA-B59D-4348-8CDF-89FA6238B9FC}"/>
              </a:ext>
            </a:extLst>
          </p:cNvPr>
          <p:cNvSpPr>
            <a:spLocks noGrp="1"/>
          </p:cNvSpPr>
          <p:nvPr/>
        </p:nvSpPr>
        <p:spPr>
          <a:xfrm>
            <a:off x="6229350" y="41148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6914A5-D8CC-4462-9D3E-571BFDFD8B86}"/>
              </a:ext>
            </a:extLst>
          </p:cNvPr>
          <p:cNvSpPr>
            <a:spLocks noGrp="1"/>
          </p:cNvSpPr>
          <p:nvPr/>
        </p:nvSpPr>
        <p:spPr>
          <a:xfrm>
            <a:off x="6419850" y="3886200"/>
            <a:ext cx="4572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连续词汇联想任务（continuous</a:t>
            </a:r>
            <a:r>
              <a:rPr sz="1650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WAT）的反应位置效应（response-position</a:t>
            </a:r>
            <a:r>
              <a:rPr sz="1650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effect）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595616-3718-491D-84CF-96235FEAEE3E}"/>
              </a:ext>
            </a:extLst>
          </p:cNvPr>
          <p:cNvSpPr>
            <a:spLocks noGrp="1"/>
          </p:cNvSpPr>
          <p:nvPr/>
        </p:nvSpPr>
        <p:spPr>
          <a:xfrm>
            <a:off x="6229350" y="5048250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研究聚焦同一联想反应跨时间再次出现的概率。</a:t>
            </a:r>
          </a:p>
        </p:txBody>
      </p:sp>
    </p:spTree>
    <p:extLst>
      <p:ext uri="{BB962C8B-B14F-4D97-AF65-F5344CB8AC3E}">
        <p14:creationId xmlns:p14="http://schemas.microsoft.com/office/powerpoint/2010/main" val="124785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F41A8C-8A48-47C3-8A2A-F20F5ACE392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213A3F-EE5A-4115-894E-461E06D8DE3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9913482-D929-4B77-B346-D878DB2506C8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116FEF-EC63-40D0-B103-D1DDBA3E1BA1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E129F1-5F3B-4623-AACA-0E3CF57FB5C4}"/>
              </a:ext>
            </a:extLst>
          </p:cNvPr>
          <p:cNvSpPr>
            <a:spLocks noGrp="1"/>
          </p:cNvSpPr>
          <p:nvPr/>
        </p:nvSpPr>
        <p:spPr>
          <a:xfrm>
            <a:off x="1828800" y="1795462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对于学习者群体，一语</a:t>
            </a:r>
            <a:r>
              <a:rPr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zh-CN" altLang="en-US"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二语</a:t>
            </a:r>
            <a:r>
              <a:rPr sz="202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联想稳定性是否存在差异</a:t>
            </a:r>
            <a:r>
              <a:rPr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64112D6C-1DD9-4A25-A5E1-872E0361849F}"/>
              </a:ext>
            </a:extLst>
          </p:cNvPr>
          <p:cNvSpPr>
            <a:spLocks noGrp="1"/>
          </p:cNvSpPr>
          <p:nvPr/>
        </p:nvSpPr>
        <p:spPr>
          <a:xfrm>
            <a:off x="1828800" y="2809875"/>
            <a:ext cx="931545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017A04-A5BC-48B8-9AA2-FC2E29AB31DE}"/>
              </a:ext>
            </a:extLst>
          </p:cNvPr>
          <p:cNvSpPr>
            <a:spLocks noGrp="1"/>
          </p:cNvSpPr>
          <p:nvPr/>
        </p:nvSpPr>
        <p:spPr>
          <a:xfrm>
            <a:off x="876300" y="3114675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544AA5-C5D1-487E-B70D-4080B44D7A72}"/>
              </a:ext>
            </a:extLst>
          </p:cNvPr>
          <p:cNvSpPr>
            <a:spLocks noGrp="1"/>
          </p:cNvSpPr>
          <p:nvPr/>
        </p:nvSpPr>
        <p:spPr>
          <a:xfrm>
            <a:off x="1828800" y="3171824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对于学习者个体</a:t>
            </a:r>
            <a:r>
              <a:rPr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一语</a:t>
            </a:r>
            <a:r>
              <a:rPr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zh-CN" altLang="en-US"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二语联想</a:t>
            </a:r>
            <a:r>
              <a:rPr sz="202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稳定性是否</a:t>
            </a:r>
            <a:r>
              <a:rPr lang="zh-CN" altLang="en-US"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存在关联</a:t>
            </a:r>
            <a:r>
              <a:rPr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151D334-096C-4C9E-9BCA-6C7D22126B1B}"/>
              </a:ext>
            </a:extLst>
          </p:cNvPr>
          <p:cNvSpPr>
            <a:spLocks noGrp="1"/>
          </p:cNvSpPr>
          <p:nvPr/>
        </p:nvSpPr>
        <p:spPr>
          <a:xfrm>
            <a:off x="1828800" y="4114800"/>
            <a:ext cx="931545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79C95E-5EEC-43A4-80C1-A5C1B1EC1E46}"/>
              </a:ext>
            </a:extLst>
          </p:cNvPr>
          <p:cNvSpPr>
            <a:spLocks noGrp="1"/>
          </p:cNvSpPr>
          <p:nvPr/>
        </p:nvSpPr>
        <p:spPr>
          <a:xfrm>
            <a:off x="876300" y="441960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BC9B7B-6BCB-49E8-AE21-42B8D0C62FEB}"/>
              </a:ext>
            </a:extLst>
          </p:cNvPr>
          <p:cNvSpPr>
            <a:spLocks noGrp="1"/>
          </p:cNvSpPr>
          <p:nvPr/>
        </p:nvSpPr>
        <p:spPr>
          <a:xfrm>
            <a:off x="1828800" y="4493986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不同</a:t>
            </a:r>
            <a:r>
              <a:rPr sz="202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反应位置的</a:t>
            </a:r>
            <a:r>
              <a:rPr lang="zh-CN" altLang="en-US"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一语和二语</a:t>
            </a:r>
            <a:r>
              <a:rPr sz="202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联想稳定性是否</a:t>
            </a:r>
            <a:r>
              <a:rPr lang="zh-CN" altLang="en-US"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存在差异</a:t>
            </a:r>
            <a:r>
              <a:rPr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61837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4507B8-3EA5-4D00-8EE2-60C0A4E572D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C45661-D1C6-4322-8DBB-B030DF7CFD2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研究设计</a:t>
            </a:r>
            <a:endParaRPr sz="2850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40A1AD52-CD53-424E-8FB3-CFC19EB0CC89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ACF1B3C-0709-433D-A27A-C4F1204D3675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5048250" cy="3943350"/>
          </a:xfrm>
          <a:prstGeom prst="roundRect">
            <a:avLst>
              <a:gd name="adj" fmla="val 1932"/>
            </a:avLst>
          </a:prstGeom>
          <a:solidFill>
            <a:srgbClr val="FFFFFF"/>
          </a:solidFill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4FF415-ADA7-49AD-8CBE-6DE0441900A2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实验被试</a:t>
            </a:r>
            <a:endParaRPr sz="1200" b="1" dirty="0">
              <a:solidFill>
                <a:srgbClr val="2A5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3EF0FF-1800-468B-B8C1-9051D02D8615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1333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dirty="0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1BAE94-3B2F-4C11-BC7D-2E8A0A601A27}"/>
              </a:ext>
            </a:extLst>
          </p:cNvPr>
          <p:cNvSpPr>
            <a:spLocks noGrp="1"/>
          </p:cNvSpPr>
          <p:nvPr/>
        </p:nvSpPr>
        <p:spPr>
          <a:xfrm>
            <a:off x="2133600" y="2476500"/>
            <a:ext cx="114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初始样本</a:t>
            </a:r>
            <a:endParaRPr sz="1650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294B0FA-78D1-43CD-B207-CC4191A0FC24}"/>
              </a:ext>
            </a:extLst>
          </p:cNvPr>
          <p:cNvSpPr>
            <a:spLocks noGrp="1"/>
          </p:cNvSpPr>
          <p:nvPr/>
        </p:nvSpPr>
        <p:spPr>
          <a:xfrm>
            <a:off x="1066800" y="3105150"/>
            <a:ext cx="2476500" cy="361950"/>
          </a:xfrm>
          <a:prstGeom prst="roundRect">
            <a:avLst>
              <a:gd name="adj" fmla="val 21053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1B8BBE-3C01-4C32-8179-9D1F582C7B83}"/>
              </a:ext>
            </a:extLst>
          </p:cNvPr>
          <p:cNvSpPr>
            <a:spLocks noGrp="1"/>
          </p:cNvSpPr>
          <p:nvPr/>
        </p:nvSpPr>
        <p:spPr>
          <a:xfrm>
            <a:off x="1066800" y="3114675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有效样本  N = 39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13364F-807D-4B19-B6FD-DF5BBDA33D85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3810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来自 3 所高校的本科生</a:t>
            </a: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英语或英语教育专业</a:t>
            </a: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均通过大学英语四级（CET-4）</a:t>
            </a: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平均年龄 19.73 岁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58528AB-A259-41FB-9248-698BC56F9AB6}"/>
              </a:ext>
            </a:extLst>
          </p:cNvPr>
          <p:cNvSpPr>
            <a:spLocks noGrp="1"/>
          </p:cNvSpPr>
          <p:nvPr/>
        </p:nvSpPr>
        <p:spPr>
          <a:xfrm>
            <a:off x="6153150" y="1676400"/>
            <a:ext cx="5086350" cy="3943350"/>
          </a:xfrm>
          <a:prstGeom prst="roundRect">
            <a:avLst>
              <a:gd name="adj" fmla="val 1932"/>
            </a:avLst>
          </a:prstGeom>
          <a:solidFill>
            <a:srgbClr val="FFFFFF"/>
          </a:solidFill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7738A7-2C82-430C-A850-1FB8E50C4670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实验材料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B5461F-23DE-4938-A7A3-974B5C6DF47F}"/>
              </a:ext>
            </a:extLst>
          </p:cNvPr>
          <p:cNvSpPr>
            <a:spLocks noGrp="1"/>
          </p:cNvSpPr>
          <p:nvPr/>
        </p:nvSpPr>
        <p:spPr>
          <a:xfrm>
            <a:off x="6457950" y="2305050"/>
            <a:ext cx="1333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15DA17-F994-4092-848C-003136453D73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汉英翻译对等刺激词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466461-7182-455E-B024-F2DF93A0877B}"/>
              </a:ext>
            </a:extLst>
          </p:cNvPr>
          <p:cNvSpPr>
            <a:spLocks noGrp="1"/>
          </p:cNvSpPr>
          <p:nvPr/>
        </p:nvSpPr>
        <p:spPr>
          <a:xfrm>
            <a:off x="6457950" y="3257550"/>
            <a:ext cx="1352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词频</a:t>
            </a:r>
            <a:endParaRPr sz="1725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5F4002-EAA6-404C-A987-F7BB626A57FB}"/>
              </a:ext>
            </a:extLst>
          </p:cNvPr>
          <p:cNvSpPr>
            <a:spLocks noGrp="1"/>
          </p:cNvSpPr>
          <p:nvPr/>
        </p:nvSpPr>
        <p:spPr>
          <a:xfrm>
            <a:off x="6457950" y="3848100"/>
            <a:ext cx="1352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词类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B54FAC-CE00-46E4-9EA8-51AC52942AE6}"/>
              </a:ext>
            </a:extLst>
          </p:cNvPr>
          <p:cNvSpPr>
            <a:spLocks noGrp="1"/>
          </p:cNvSpPr>
          <p:nvPr/>
        </p:nvSpPr>
        <p:spPr>
          <a:xfrm>
            <a:off x="6457950" y="443865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具体性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08085E-627D-451D-973B-C3D83D2CEA8E}"/>
              </a:ext>
            </a:extLst>
          </p:cNvPr>
          <p:cNvSpPr>
            <a:spLocks noGrp="1"/>
          </p:cNvSpPr>
          <p:nvPr/>
        </p:nvSpPr>
        <p:spPr>
          <a:xfrm>
            <a:off x="8077200" y="3829050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名词、动词、形容词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8E36B9-7426-4206-9D68-FB086E224F36}"/>
              </a:ext>
            </a:extLst>
          </p:cNvPr>
          <p:cNvSpPr>
            <a:spLocks noGrp="1"/>
          </p:cNvSpPr>
          <p:nvPr/>
        </p:nvSpPr>
        <p:spPr>
          <a:xfrm>
            <a:off x="8077200" y="4419600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具体词与抽象词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7111F8-4391-465C-963B-895042EA6A40}"/>
              </a:ext>
            </a:extLst>
          </p:cNvPr>
          <p:cNvSpPr>
            <a:spLocks noGrp="1"/>
          </p:cNvSpPr>
          <p:nvPr/>
        </p:nvSpPr>
        <p:spPr>
          <a:xfrm>
            <a:off x="6457950" y="5076825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示例：kitchen / 厨房，smile / 微笑，value / 价值</a:t>
            </a:r>
          </a:p>
        </p:txBody>
      </p:sp>
    </p:spTree>
    <p:extLst>
      <p:ext uri="{BB962C8B-B14F-4D97-AF65-F5344CB8AC3E}">
        <p14:creationId xmlns:p14="http://schemas.microsoft.com/office/powerpoint/2010/main" val="213483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5EBAB9-B4B9-4542-B8C7-7369E38C830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AB59B0-1C69-4BE8-8E6C-ED24D386025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实验过程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253A86-0704-4EE3-AE67-2F6058886D5E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每种语言测试两次，两次间隔为两周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23A1CE3C-1906-4A4A-AF77-8DB50ABE8C07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E870174E-D690-4785-8FD9-C5E9C054CFA2}"/>
              </a:ext>
            </a:extLst>
          </p:cNvPr>
          <p:cNvSpPr>
            <a:spLocks noGrp="1"/>
          </p:cNvSpPr>
          <p:nvPr/>
        </p:nvSpPr>
        <p:spPr>
          <a:xfrm>
            <a:off x="1219200" y="2952750"/>
            <a:ext cx="8591550" cy="0"/>
          </a:xfrm>
          <a:prstGeom prst="line">
            <a:avLst/>
          </a:prstGeom>
          <a:noFill/>
          <a:ln w="38100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2870EB1-DF6A-4FC1-8BD3-F4B2D919434B}"/>
              </a:ext>
            </a:extLst>
          </p:cNvPr>
          <p:cNvSpPr>
            <a:spLocks noGrp="1"/>
          </p:cNvSpPr>
          <p:nvPr/>
        </p:nvSpPr>
        <p:spPr>
          <a:xfrm>
            <a:off x="1504950" y="2781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0AA9D2-7330-4A6A-BE50-BD2954F78CA2}"/>
              </a:ext>
            </a:extLst>
          </p:cNvPr>
          <p:cNvSpPr>
            <a:spLocks noGrp="1"/>
          </p:cNvSpPr>
          <p:nvPr/>
        </p:nvSpPr>
        <p:spPr>
          <a:xfrm>
            <a:off x="1504950" y="27813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D57FAD-75C3-4320-9366-641093A4F330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测试 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857160-4E89-4B12-B02B-3172CB460674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一种语言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8C0C960-C2BB-4F2E-925C-551D7AA1946E}"/>
              </a:ext>
            </a:extLst>
          </p:cNvPr>
          <p:cNvSpPr>
            <a:spLocks noGrp="1"/>
          </p:cNvSpPr>
          <p:nvPr/>
        </p:nvSpPr>
        <p:spPr>
          <a:xfrm>
            <a:off x="4057650" y="2781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5EA205-B1F1-4DC0-8848-76939089CE84}"/>
              </a:ext>
            </a:extLst>
          </p:cNvPr>
          <p:cNvSpPr>
            <a:spLocks noGrp="1"/>
          </p:cNvSpPr>
          <p:nvPr/>
        </p:nvSpPr>
        <p:spPr>
          <a:xfrm>
            <a:off x="4057650" y="27813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BE63A1-22E3-4B9E-A1B9-6AAD3378DDC0}"/>
              </a:ext>
            </a:extLst>
          </p:cNvPr>
          <p:cNvSpPr>
            <a:spLocks noGrp="1"/>
          </p:cNvSpPr>
          <p:nvPr/>
        </p:nvSpPr>
        <p:spPr>
          <a:xfrm>
            <a:off x="3429000" y="3352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测试 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F2226F-B245-4EA6-B408-59F382462B06}"/>
              </a:ext>
            </a:extLst>
          </p:cNvPr>
          <p:cNvSpPr>
            <a:spLocks noGrp="1"/>
          </p:cNvSpPr>
          <p:nvPr/>
        </p:nvSpPr>
        <p:spPr>
          <a:xfrm>
            <a:off x="3333750" y="3733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另一种语言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13442D2-5068-4102-8789-7F652D4A1DC9}"/>
              </a:ext>
            </a:extLst>
          </p:cNvPr>
          <p:cNvSpPr>
            <a:spLocks noGrp="1"/>
          </p:cNvSpPr>
          <p:nvPr/>
        </p:nvSpPr>
        <p:spPr>
          <a:xfrm>
            <a:off x="6610350" y="2781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1784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3C8ACE-6DE7-4ACB-AB30-9684E5D575C4}"/>
              </a:ext>
            </a:extLst>
          </p:cNvPr>
          <p:cNvSpPr>
            <a:spLocks noGrp="1"/>
          </p:cNvSpPr>
          <p:nvPr/>
        </p:nvSpPr>
        <p:spPr>
          <a:xfrm>
            <a:off x="6610350" y="27813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EF491F-ACB1-43A0-98BD-9BAE91FCDE06}"/>
              </a:ext>
            </a:extLst>
          </p:cNvPr>
          <p:cNvSpPr>
            <a:spLocks noGrp="1"/>
          </p:cNvSpPr>
          <p:nvPr/>
        </p:nvSpPr>
        <p:spPr>
          <a:xfrm>
            <a:off x="5981700" y="3352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重测 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B81532E-469D-4327-B6EA-BD20B4B245BC}"/>
              </a:ext>
            </a:extLst>
          </p:cNvPr>
          <p:cNvSpPr>
            <a:spLocks noGrp="1"/>
          </p:cNvSpPr>
          <p:nvPr/>
        </p:nvSpPr>
        <p:spPr>
          <a:xfrm>
            <a:off x="5886450" y="3733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与测试 1 相同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EADA70C-42D0-437D-B239-2B082498FD32}"/>
              </a:ext>
            </a:extLst>
          </p:cNvPr>
          <p:cNvSpPr>
            <a:spLocks noGrp="1"/>
          </p:cNvSpPr>
          <p:nvPr/>
        </p:nvSpPr>
        <p:spPr>
          <a:xfrm>
            <a:off x="9163050" y="2781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1784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F568B45-7ABA-4B91-ABC9-A74B18A95499}"/>
              </a:ext>
            </a:extLst>
          </p:cNvPr>
          <p:cNvSpPr>
            <a:spLocks noGrp="1"/>
          </p:cNvSpPr>
          <p:nvPr/>
        </p:nvSpPr>
        <p:spPr>
          <a:xfrm>
            <a:off x="9163050" y="27813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40E341-678D-4D00-880C-4CAF1DB4371E}"/>
              </a:ext>
            </a:extLst>
          </p:cNvPr>
          <p:cNvSpPr>
            <a:spLocks noGrp="1"/>
          </p:cNvSpPr>
          <p:nvPr/>
        </p:nvSpPr>
        <p:spPr>
          <a:xfrm>
            <a:off x="8534400" y="3352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重测 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4EA7E1-66A9-4C01-A3B7-CD27BFD4599E}"/>
              </a:ext>
            </a:extLst>
          </p:cNvPr>
          <p:cNvSpPr>
            <a:spLocks noGrp="1"/>
          </p:cNvSpPr>
          <p:nvPr/>
        </p:nvSpPr>
        <p:spPr>
          <a:xfrm>
            <a:off x="8439150" y="3733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与测试 2 相同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F35D30E-AA9A-45DB-A4D3-CD0AD6093D53}"/>
              </a:ext>
            </a:extLst>
          </p:cNvPr>
          <p:cNvSpPr>
            <a:spLocks noGrp="1"/>
          </p:cNvSpPr>
          <p:nvPr/>
        </p:nvSpPr>
        <p:spPr>
          <a:xfrm>
            <a:off x="933450" y="485775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DE9D88-317C-4E68-B684-66A03A030AAA}"/>
              </a:ext>
            </a:extLst>
          </p:cNvPr>
          <p:cNvSpPr>
            <a:spLocks noGrp="1"/>
          </p:cNvSpPr>
          <p:nvPr/>
        </p:nvSpPr>
        <p:spPr>
          <a:xfrm>
            <a:off x="933450" y="4867275"/>
            <a:ext cx="1238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每次测试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14EA942-F2EA-4155-8F8B-4D7C113205F8}"/>
              </a:ext>
            </a:extLst>
          </p:cNvPr>
          <p:cNvSpPr>
            <a:spLocks noGrp="1"/>
          </p:cNvSpPr>
          <p:nvPr/>
        </p:nvSpPr>
        <p:spPr>
          <a:xfrm>
            <a:off x="2343150" y="4857750"/>
            <a:ext cx="1524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 个刺激词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B6CEC5-6F54-4860-AA3A-28E77886535F}"/>
              </a:ext>
            </a:extLst>
          </p:cNvPr>
          <p:cNvSpPr>
            <a:spLocks noGrp="1"/>
          </p:cNvSpPr>
          <p:nvPr/>
        </p:nvSpPr>
        <p:spPr>
          <a:xfrm>
            <a:off x="4152900" y="4857750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每个刺激词产出 3 个联想反应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1AD26E7-7F0F-4FF3-99D2-73C4712F8829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不设时限，尽快作答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87B3BD-93E1-48F9-9BB4-96D4993FDA7C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重测的时间、刺激词顺序和说明保持一致；参与者事先不知道会再次完成同一测试。</a:t>
            </a:r>
          </a:p>
        </p:txBody>
      </p:sp>
    </p:spTree>
    <p:extLst>
      <p:ext uri="{BB962C8B-B14F-4D97-AF65-F5344CB8AC3E}">
        <p14:creationId xmlns:p14="http://schemas.microsoft.com/office/powerpoint/2010/main" val="102020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83E15F-E754-4F92-B2C7-3793FAC93305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E2F8F7-548E-4863-BFA6-A111205B08C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F275DE4-9B0B-4533-89FF-BA079CE87C3D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6A29F09-936D-4D7F-B178-71FAEF7C0FFB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4819650" cy="1676400"/>
          </a:xfrm>
          <a:prstGeom prst="roundRect">
            <a:avLst>
              <a:gd name="adj" fmla="val 4545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59DAE1-F7B8-4CBF-82B3-1EF4B61562A7}"/>
              </a:ext>
            </a:extLst>
          </p:cNvPr>
          <p:cNvSpPr>
            <a:spLocks noGrp="1"/>
          </p:cNvSpPr>
          <p:nvPr/>
        </p:nvSpPr>
        <p:spPr>
          <a:xfrm>
            <a:off x="1066800" y="19716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0A7AC3-F70B-48F0-8762-C5180CE135A6}"/>
              </a:ext>
            </a:extLst>
          </p:cNvPr>
          <p:cNvSpPr>
            <a:spLocks noGrp="1"/>
          </p:cNvSpPr>
          <p:nvPr/>
        </p:nvSpPr>
        <p:spPr>
          <a:xfrm>
            <a:off x="1066800" y="2352675"/>
            <a:ext cx="41719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联想稳定性（associative stability, AS）</a:t>
            </a:r>
          </a:p>
          <a:p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= 两次测试中重复反应的百分比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224558-6AFF-406B-9AD8-F61814AC279D}"/>
              </a:ext>
            </a:extLst>
          </p:cNvPr>
          <p:cNvSpPr>
            <a:spLocks noGrp="1"/>
          </p:cNvSpPr>
          <p:nvPr/>
        </p:nvSpPr>
        <p:spPr>
          <a:xfrm>
            <a:off x="1066800" y="3038475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统计前进行词形还原（lemmatization）与拼写修正。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C79335D-EBA8-4E06-9897-51B782261B65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5334000" cy="1676400"/>
          </a:xfrm>
          <a:prstGeom prst="roundRect">
            <a:avLst>
              <a:gd name="adj" fmla="val 4545"/>
            </a:avLst>
          </a:prstGeom>
          <a:solidFill>
            <a:srgbClr val="F1E4D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44B17C-A28B-49B6-A1B3-480975128A1E}"/>
              </a:ext>
            </a:extLst>
          </p:cNvPr>
          <p:cNvSpPr>
            <a:spLocks noGrp="1"/>
          </p:cNvSpPr>
          <p:nvPr/>
        </p:nvSpPr>
        <p:spPr>
          <a:xfrm>
            <a:off x="6210300" y="197167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分析单位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90A021-1674-4D3E-B2AD-434B0CA15709}"/>
              </a:ext>
            </a:extLst>
          </p:cNvPr>
          <p:cNvSpPr>
            <a:spLocks noGrp="1"/>
          </p:cNvSpPr>
          <p:nvPr/>
        </p:nvSpPr>
        <p:spPr>
          <a:xfrm>
            <a:off x="6210300" y="240030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D73D33-B0B8-4077-8B65-2CBEF4945C70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个体层面的跨时间重复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9DB286-DBDD-4426-98CB-1D108BD37DEB}"/>
              </a:ext>
            </a:extLst>
          </p:cNvPr>
          <p:cNvSpPr>
            <a:spLocks noGrp="1"/>
          </p:cNvSpPr>
          <p:nvPr/>
        </p:nvSpPr>
        <p:spPr>
          <a:xfrm>
            <a:off x="8724900" y="240030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按刺激词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83BD94-B2DF-4D24-ACFB-B5A4377EB680}"/>
              </a:ext>
            </a:extLst>
          </p:cNvPr>
          <p:cNvSpPr>
            <a:spLocks noGrp="1"/>
          </p:cNvSpPr>
          <p:nvPr/>
        </p:nvSpPr>
        <p:spPr>
          <a:xfrm>
            <a:off x="8724900" y="27813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刺激词层面的群体稳定性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698438A5-EACD-444E-B5B5-6F9586E962D0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104775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A0CD62-B4B9-4CDC-A1D8-AE1983B922BE}"/>
              </a:ext>
            </a:extLst>
          </p:cNvPr>
          <p:cNvSpPr>
            <a:spLocks noGrp="1"/>
          </p:cNvSpPr>
          <p:nvPr/>
        </p:nvSpPr>
        <p:spPr>
          <a:xfrm>
            <a:off x="762000" y="41243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统计检验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F5B39A-DC72-4B35-A5E5-AD972F4B0B9A}"/>
              </a:ext>
            </a:extLst>
          </p:cNvPr>
          <p:cNvSpPr>
            <a:spLocks noGrp="1"/>
          </p:cNvSpPr>
          <p:nvPr/>
        </p:nvSpPr>
        <p:spPr>
          <a:xfrm>
            <a:off x="762000" y="454342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整体差异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1270C8-E251-46AC-9CC0-C4D9DD80BC50}"/>
              </a:ext>
            </a:extLst>
          </p:cNvPr>
          <p:cNvSpPr>
            <a:spLocks noGrp="1"/>
          </p:cNvSpPr>
          <p:nvPr/>
        </p:nvSpPr>
        <p:spPr>
          <a:xfrm>
            <a:off x="762000" y="4886325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独立样本 t 检验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BD03F1-8A19-499E-A5FC-1BB4E4D34536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比较 L1 与 L2 的重复率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2ACD23-413A-4C1D-8091-1E0D4928EEC3}"/>
              </a:ext>
            </a:extLst>
          </p:cNvPr>
          <p:cNvSpPr>
            <a:spLocks noGrp="1"/>
          </p:cNvSpPr>
          <p:nvPr/>
        </p:nvSpPr>
        <p:spPr>
          <a:xfrm>
            <a:off x="4305300" y="454342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跨语言一致性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48AB43-C9C4-4607-BBCA-26B39B8DC464}"/>
              </a:ext>
            </a:extLst>
          </p:cNvPr>
          <p:cNvSpPr>
            <a:spLocks noGrp="1"/>
          </p:cNvSpPr>
          <p:nvPr/>
        </p:nvSpPr>
        <p:spPr>
          <a:xfrm>
            <a:off x="4305300" y="4886325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Pearson 相关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75B694-DE54-4B38-BB5F-53510367030A}"/>
              </a:ext>
            </a:extLst>
          </p:cNvPr>
          <p:cNvSpPr>
            <a:spLocks noGrp="1"/>
          </p:cNvSpPr>
          <p:nvPr/>
        </p:nvSpPr>
        <p:spPr>
          <a:xfrm>
            <a:off x="4305300" y="5286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按学习者与刺激词分别计算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7B64DD-74F8-42A1-83E5-700EBC747F1D}"/>
              </a:ext>
            </a:extLst>
          </p:cNvPr>
          <p:cNvSpPr>
            <a:spLocks noGrp="1"/>
          </p:cNvSpPr>
          <p:nvPr/>
        </p:nvSpPr>
        <p:spPr>
          <a:xfrm>
            <a:off x="7848600" y="454342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反应位置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CFDCC9-43D5-41D8-B639-BC06CDFE0DD5}"/>
              </a:ext>
            </a:extLst>
          </p:cNvPr>
          <p:cNvSpPr>
            <a:spLocks noGrp="1"/>
          </p:cNvSpPr>
          <p:nvPr/>
        </p:nvSpPr>
        <p:spPr>
          <a:xfrm>
            <a:off x="7848600" y="4886325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双因素方差分析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E8061D-1530-4EB5-A816-6763776582C4}"/>
              </a:ext>
            </a:extLst>
          </p:cNvPr>
          <p:cNvSpPr>
            <a:spLocks noGrp="1"/>
          </p:cNvSpPr>
          <p:nvPr/>
        </p:nvSpPr>
        <p:spPr>
          <a:xfrm>
            <a:off x="7848600" y="5286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语言 × 反应位置</a:t>
            </a:r>
          </a:p>
        </p:txBody>
      </p:sp>
    </p:spTree>
    <p:extLst>
      <p:ext uri="{BB962C8B-B14F-4D97-AF65-F5344CB8AC3E}">
        <p14:creationId xmlns:p14="http://schemas.microsoft.com/office/powerpoint/2010/main" val="136243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676DF2-7DEC-453B-943F-4B6D38016A0F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279471-B3AA-4D15-8E19-42511D71F13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L2整体联想稳定性高于L1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4DDEE7-79A0-4E77-BC10-646A31FE3441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学习者与刺激词两个层面的结果方向一致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93C83BF3-D16A-4DC2-A03E-F3D48F8F66A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graphicFrame>
        <p:nvGraphicFramePr>
          <p:cNvPr id="23" name="Chart">
            <a:extLst>
              <a:ext uri="{FF2B5EF4-FFF2-40B4-BE49-F238E27FC236}">
                <a16:creationId xmlns:a16="http://schemas.microsoft.com/office/drawing/2014/main" id="{F9F50477-6624-4D0E-B681-8BB0DEE1523B}"/>
              </a:ext>
            </a:extLst>
          </p:cNvPr>
          <p:cNvGraphicFramePr/>
          <p:nvPr/>
        </p:nvGraphicFramePr>
        <p:xfrm>
          <a:off x="857250" y="2143125"/>
          <a:ext cx="6667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00C3F6A1-79EF-44C4-A2E6-9EB15839A2BB}"/>
              </a:ext>
            </a:extLst>
          </p:cNvPr>
          <p:cNvSpPr>
            <a:spLocks noGrp="1"/>
          </p:cNvSpPr>
          <p:nvPr/>
        </p:nvSpPr>
        <p:spPr>
          <a:xfrm>
            <a:off x="7905750" y="2238375"/>
            <a:ext cx="3295650" cy="1352550"/>
          </a:xfrm>
          <a:prstGeom prst="roundRect">
            <a:avLst>
              <a:gd name="adj" fmla="val 5634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048EC4-01C3-4D03-9D9D-7E8369DBEFBC}"/>
              </a:ext>
            </a:extLst>
          </p:cNvPr>
          <p:cNvSpPr>
            <a:spLocks noGrp="1"/>
          </p:cNvSpPr>
          <p:nvPr/>
        </p:nvSpPr>
        <p:spPr>
          <a:xfrm>
            <a:off x="8172450" y="2428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FF2EB2-F594-488D-A1FB-F6AFD94699C5}"/>
              </a:ext>
            </a:extLst>
          </p:cNvPr>
          <p:cNvSpPr>
            <a:spLocks noGrp="1"/>
          </p:cNvSpPr>
          <p:nvPr/>
        </p:nvSpPr>
        <p:spPr>
          <a:xfrm>
            <a:off x="8172450" y="2781300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+7.35 pp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DB5827-8497-4B18-AE01-5EEBFD65EFC6}"/>
              </a:ext>
            </a:extLst>
          </p:cNvPr>
          <p:cNvSpPr>
            <a:spLocks noGrp="1"/>
          </p:cNvSpPr>
          <p:nvPr/>
        </p:nvSpPr>
        <p:spPr>
          <a:xfrm>
            <a:off x="8172450" y="3228975"/>
            <a:ext cx="2724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.01 · d = .703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CA79A81-A929-440E-9C68-ADF4A3735162}"/>
              </a:ext>
            </a:extLst>
          </p:cNvPr>
          <p:cNvSpPr>
            <a:spLocks noGrp="1"/>
          </p:cNvSpPr>
          <p:nvPr/>
        </p:nvSpPr>
        <p:spPr>
          <a:xfrm>
            <a:off x="7905750" y="3867150"/>
            <a:ext cx="3295650" cy="1352550"/>
          </a:xfrm>
          <a:prstGeom prst="roundRect">
            <a:avLst>
              <a:gd name="adj" fmla="val 5634"/>
            </a:avLst>
          </a:prstGeom>
          <a:solidFill>
            <a:srgbClr val="F1E4D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AF9D44-3AF4-43F4-A978-2DC02CD562CC}"/>
              </a:ext>
            </a:extLst>
          </p:cNvPr>
          <p:cNvSpPr>
            <a:spLocks noGrp="1"/>
          </p:cNvSpPr>
          <p:nvPr/>
        </p:nvSpPr>
        <p:spPr>
          <a:xfrm>
            <a:off x="8172450" y="40576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按刺激词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98217E-7784-48A5-9AC3-70A1FBDC4A1E}"/>
              </a:ext>
            </a:extLst>
          </p:cNvPr>
          <p:cNvSpPr>
            <a:spLocks noGrp="1"/>
          </p:cNvSpPr>
          <p:nvPr/>
        </p:nvSpPr>
        <p:spPr>
          <a:xfrm>
            <a:off x="8172450" y="441007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+5.87 pp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134ABD-8762-4C70-AEC7-514A082EA084}"/>
              </a:ext>
            </a:extLst>
          </p:cNvPr>
          <p:cNvSpPr>
            <a:spLocks noGrp="1"/>
          </p:cNvSpPr>
          <p:nvPr/>
        </p:nvSpPr>
        <p:spPr>
          <a:xfrm>
            <a:off x="8172450" y="4857750"/>
            <a:ext cx="2724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.001 · d = .868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7183F0-FBBB-41FB-9051-85900F76826E}"/>
              </a:ext>
            </a:extLst>
          </p:cNvPr>
          <p:cNvSpPr>
            <a:spLocks noGrp="1"/>
          </p:cNvSpPr>
          <p:nvPr/>
        </p:nvSpPr>
        <p:spPr>
          <a:xfrm>
            <a:off x="857250" y="5676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按刺激词计算的群体稳定性高于学习者层面的反应稳定性。</a:t>
            </a:r>
          </a:p>
        </p:txBody>
      </p:sp>
    </p:spTree>
    <p:extLst>
      <p:ext uri="{BB962C8B-B14F-4D97-AF65-F5344CB8AC3E}">
        <p14:creationId xmlns:p14="http://schemas.microsoft.com/office/powerpoint/2010/main" val="148426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B8FFE0-35F4-4B56-A88B-6152DA56D63A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1E26ED-76B2-4FDF-9500-A3E467FCFEB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学习者层面的跨语言一致性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3D6896F-DC6C-4AA5-9F4C-881ABD27F14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E1551BD-05BA-4CC8-BE03-764DA8948AB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4895850" cy="3190875"/>
          </a:xfrm>
          <a:prstGeom prst="roundRect">
            <a:avLst>
              <a:gd name="adj" fmla="val 2388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1654E0-CC57-4A63-8076-751231EDEDCA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按学习者（by participant）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F23D6C-9B82-4BEA-8317-9D60C2221071}"/>
              </a:ext>
            </a:extLst>
          </p:cNvPr>
          <p:cNvSpPr>
            <a:spLocks noGrp="1"/>
          </p:cNvSpPr>
          <p:nvPr/>
        </p:nvSpPr>
        <p:spPr>
          <a:xfrm>
            <a:off x="1066800" y="2381250"/>
            <a:ext cx="39052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r = .636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B000F4-67D3-4372-9BDC-580505244FA8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&lt; .001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EA1C83-FFE0-4EC9-ADCA-31976799E50C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[.400, .792]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58482A-2E12-4A60-A206-016AE61E6577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中重复率较高的学习者，在 L2 中通常也有较高重复率。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7260380-D1BA-43D5-AE42-8C3A3B11A7B5}"/>
              </a:ext>
            </a:extLst>
          </p:cNvPr>
          <p:cNvSpPr>
            <a:spLocks noGrp="1"/>
          </p:cNvSpPr>
          <p:nvPr/>
        </p:nvSpPr>
        <p:spPr>
          <a:xfrm>
            <a:off x="5962650" y="1733550"/>
            <a:ext cx="5276850" cy="3190875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0BC5D9-79FA-4F9F-8EBE-2284AE8F57A2}"/>
              </a:ext>
            </a:extLst>
          </p:cNvPr>
          <p:cNvSpPr>
            <a:spLocks noGrp="1"/>
          </p:cNvSpPr>
          <p:nvPr/>
        </p:nvSpPr>
        <p:spPr>
          <a:xfrm>
            <a:off x="6267450" y="20002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按刺激词（by item）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1CEEA4-446D-49C2-8ED4-9D51E9FC712F}"/>
              </a:ext>
            </a:extLst>
          </p:cNvPr>
          <p:cNvSpPr>
            <a:spLocks noGrp="1"/>
          </p:cNvSpPr>
          <p:nvPr/>
        </p:nvSpPr>
        <p:spPr>
          <a:xfrm>
            <a:off x="6267450" y="2381250"/>
            <a:ext cx="39052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r = .155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8A098F-49B1-4312-A90C-FD834F8578E2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= .414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1CF569-C4CD-45BC-9164-44379F09197E}"/>
              </a:ext>
            </a:extLst>
          </p:cNvPr>
          <p:cNvSpPr>
            <a:spLocks noGrp="1"/>
          </p:cNvSpPr>
          <p:nvPr/>
        </p:nvSpPr>
        <p:spPr>
          <a:xfrm>
            <a:off x="6267450" y="35242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[-.218, .488]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FA243E-D1B6-43EA-83F5-B55F3DB99FFA}"/>
              </a:ext>
            </a:extLst>
          </p:cNvPr>
          <p:cNvSpPr>
            <a:spLocks noGrp="1"/>
          </p:cNvSpPr>
          <p:nvPr/>
        </p:nvSpPr>
        <p:spPr>
          <a:xfrm>
            <a:off x="6267450" y="4076700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翻译对等刺激词在两种语言中未呈现稳定的对应关系。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75DE71-C2EE-4F8E-AEBE-7BE715A2D6A1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跨语言一致性主要体现在学习者层面。</a:t>
            </a:r>
          </a:p>
        </p:txBody>
      </p:sp>
    </p:spTree>
    <p:extLst>
      <p:ext uri="{BB962C8B-B14F-4D97-AF65-F5344CB8AC3E}">
        <p14:creationId xmlns:p14="http://schemas.microsoft.com/office/powerpoint/2010/main" val="1674317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73C01F6-1CF8-41AE-9583-6AFB83E5E10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0B0125-EDAF-438E-80ED-538718FAB1C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联想稳定性随反应位置后移而下降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980B87-1CC8-441C-8E43-3ECEF2BDF02E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从第一个到第三个反应，L1 与 L2 的联想稳定性均持续下降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88F88BE5-56B6-4ECC-B21A-DAC7BF910143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graphicFrame>
        <p:nvGraphicFramePr>
          <p:cNvPr id="24" name="Chart">
            <a:extLst>
              <a:ext uri="{FF2B5EF4-FFF2-40B4-BE49-F238E27FC236}">
                <a16:creationId xmlns:a16="http://schemas.microsoft.com/office/drawing/2014/main" id="{BB6BA2EF-76B5-4FEE-A499-09495A6E443B}"/>
              </a:ext>
            </a:extLst>
          </p:cNvPr>
          <p:cNvGraphicFramePr/>
          <p:nvPr/>
        </p:nvGraphicFramePr>
        <p:xfrm>
          <a:off x="838200" y="2076450"/>
          <a:ext cx="75247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16324B79-C855-4F96-B86B-5EF6FDC67A01}"/>
              </a:ext>
            </a:extLst>
          </p:cNvPr>
          <p:cNvSpPr>
            <a:spLocks noGrp="1"/>
          </p:cNvSpPr>
          <p:nvPr/>
        </p:nvSpPr>
        <p:spPr>
          <a:xfrm>
            <a:off x="8763000" y="2114550"/>
            <a:ext cx="2495550" cy="1257300"/>
          </a:xfrm>
          <a:prstGeom prst="roundRect">
            <a:avLst>
              <a:gd name="adj" fmla="val 6061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A07F0C-8B64-4A90-B786-03BF187F09FF}"/>
              </a:ext>
            </a:extLst>
          </p:cNvPr>
          <p:cNvSpPr>
            <a:spLocks noGrp="1"/>
          </p:cNvSpPr>
          <p:nvPr/>
        </p:nvSpPr>
        <p:spPr>
          <a:xfrm>
            <a:off x="8991600" y="229552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反应位置效应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FC2C5C-A556-41A1-ACA0-FAE0B5619436}"/>
              </a:ext>
            </a:extLst>
          </p:cNvPr>
          <p:cNvSpPr>
            <a:spLocks noGrp="1"/>
          </p:cNvSpPr>
          <p:nvPr/>
        </p:nvSpPr>
        <p:spPr>
          <a:xfrm>
            <a:off x="8991600" y="264795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 &lt; .001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D2CF04-5196-4586-9EC4-8E50D4446FEA}"/>
              </a:ext>
            </a:extLst>
          </p:cNvPr>
          <p:cNvSpPr>
            <a:spLocks noGrp="1"/>
          </p:cNvSpPr>
          <p:nvPr/>
        </p:nvSpPr>
        <p:spPr>
          <a:xfrm>
            <a:off x="8991600" y="3038475"/>
            <a:ext cx="2095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η² = .666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4586835-2822-416F-9355-9260D3DCB697}"/>
              </a:ext>
            </a:extLst>
          </p:cNvPr>
          <p:cNvSpPr>
            <a:spLocks noGrp="1"/>
          </p:cNvSpPr>
          <p:nvPr/>
        </p:nvSpPr>
        <p:spPr>
          <a:xfrm>
            <a:off x="8763000" y="3581400"/>
            <a:ext cx="24955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A87782-1F4D-4A54-BC5B-BCC16A8D214D}"/>
              </a:ext>
            </a:extLst>
          </p:cNvPr>
          <p:cNvSpPr>
            <a:spLocks noGrp="1"/>
          </p:cNvSpPr>
          <p:nvPr/>
        </p:nvSpPr>
        <p:spPr>
          <a:xfrm>
            <a:off x="8991600" y="37528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双因素模型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0D94F3-C218-42CB-914B-15F8489886F5}"/>
              </a:ext>
            </a:extLst>
          </p:cNvPr>
          <p:cNvSpPr>
            <a:spLocks noGrp="1"/>
          </p:cNvSpPr>
          <p:nvPr/>
        </p:nvSpPr>
        <p:spPr>
          <a:xfrm>
            <a:off x="8991600" y="41433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语言主效应  p = .156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444464-F553-4959-8625-77F0426343E0}"/>
              </a:ext>
            </a:extLst>
          </p:cNvPr>
          <p:cNvSpPr>
            <a:spLocks noGrp="1"/>
          </p:cNvSpPr>
          <p:nvPr/>
        </p:nvSpPr>
        <p:spPr>
          <a:xfrm>
            <a:off x="8991600" y="450532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交互作用  p = .621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9FF198-9C44-46CD-A008-8B4F2A0DB8BD}"/>
              </a:ext>
            </a:extLst>
          </p:cNvPr>
          <p:cNvSpPr>
            <a:spLocks noGrp="1"/>
          </p:cNvSpPr>
          <p:nvPr/>
        </p:nvSpPr>
        <p:spPr>
          <a:xfrm>
            <a:off x="8991600" y="48577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反应位置是主要影响因素。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EB9BA5-15F9-4F35-BAC7-4E7D379D8286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第三个反应位置中，平均重复约 2 个 L1 反应和 3 个 L2 反应。</a:t>
            </a:r>
          </a:p>
        </p:txBody>
      </p:sp>
    </p:spTree>
    <p:extLst>
      <p:ext uri="{BB962C8B-B14F-4D97-AF65-F5344CB8AC3E}">
        <p14:creationId xmlns:p14="http://schemas.microsoft.com/office/powerpoint/2010/main" val="1499157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8ED591-970C-4C09-84F0-0F98753847F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660A5F-7DA1-4400-B61F-EE4FEA6941A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L2联想稳定性较高的解释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76AF51-4145-4DB4-B031-18BE61A30501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研究结果可以用词汇网络（lexical network）视角进行解读。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2BA43DC1-00E8-48C7-85E8-CAF8CA58A3ED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354561-FA3C-48F7-AEE8-C70B0DF734F5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819650" cy="2781300"/>
          </a:xfrm>
          <a:prstGeom prst="roundRect">
            <a:avLst>
              <a:gd name="adj" fmla="val 2740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FF0393-21A0-4293-9F91-E0F1961CA5F6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词汇网络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244A61-F54D-4A17-A1FF-A86EBB83E60C}"/>
              </a:ext>
            </a:extLst>
          </p:cNvPr>
          <p:cNvSpPr>
            <a:spLocks noGrp="1"/>
          </p:cNvSpPr>
          <p:nvPr/>
        </p:nvSpPr>
        <p:spPr>
          <a:xfrm>
            <a:off x="1066800" y="2705100"/>
            <a:ext cx="3905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词汇量更大</a:t>
            </a:r>
          </a:p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语义连接更丰富</a:t>
            </a:r>
          </a:p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竞争性反应更多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52B86A-F60A-4A69-973F-EBF821B81BBF}"/>
              </a:ext>
            </a:extLst>
          </p:cNvPr>
          <p:cNvSpPr>
            <a:spLocks noGrp="1"/>
          </p:cNvSpPr>
          <p:nvPr/>
        </p:nvSpPr>
        <p:spPr>
          <a:xfrm>
            <a:off x="1066800" y="40671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不同测试中可及的反应更多，重复率相对较低。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9149842-68D6-4EAA-9EEF-E763C897C7DD}"/>
              </a:ext>
            </a:extLst>
          </p:cNvPr>
          <p:cNvSpPr>
            <a:spLocks noGrp="1"/>
          </p:cNvSpPr>
          <p:nvPr/>
        </p:nvSpPr>
        <p:spPr>
          <a:xfrm>
            <a:off x="5905500" y="2057400"/>
            <a:ext cx="5334000" cy="2781300"/>
          </a:xfrm>
          <a:prstGeom prst="roundRect">
            <a:avLst>
              <a:gd name="adj" fmla="val 2740"/>
            </a:avLst>
          </a:prstGeom>
          <a:solidFill>
            <a:srgbClr val="F1E4D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04631E-4F6D-4E88-B024-0B071AA793DB}"/>
              </a:ext>
            </a:extLst>
          </p:cNvPr>
          <p:cNvSpPr>
            <a:spLocks noGrp="1"/>
          </p:cNvSpPr>
          <p:nvPr/>
        </p:nvSpPr>
        <p:spPr>
          <a:xfrm>
            <a:off x="6210300" y="23241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 词汇网络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167105-4DC2-4625-B57D-757151213C01}"/>
              </a:ext>
            </a:extLst>
          </p:cNvPr>
          <p:cNvSpPr>
            <a:spLocks noGrp="1"/>
          </p:cNvSpPr>
          <p:nvPr/>
        </p:nvSpPr>
        <p:spPr>
          <a:xfrm>
            <a:off x="6210300" y="2705100"/>
            <a:ext cx="438150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可及反应较少</a:t>
            </a:r>
          </a:p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语义连接较弱</a:t>
            </a:r>
          </a:p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优势表征更突出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4733B6-7475-4AE8-9380-35A9CD7CBF9A}"/>
              </a:ext>
            </a:extLst>
          </p:cNvPr>
          <p:cNvSpPr>
            <a:spLocks noGrp="1"/>
          </p:cNvSpPr>
          <p:nvPr/>
        </p:nvSpPr>
        <p:spPr>
          <a:xfrm>
            <a:off x="6210300" y="40671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优势反应更容易在不同测试中重复出现。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4EB2B183-024B-466B-97E2-8EB84A36B6DC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104775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48A9F7-2E49-4385-8EEF-48E9CB0C59D0}"/>
              </a:ext>
            </a:extLst>
          </p:cNvPr>
          <p:cNvSpPr>
            <a:spLocks noGrp="1"/>
          </p:cNvSpPr>
          <p:nvPr/>
        </p:nvSpPr>
        <p:spPr>
          <a:xfrm>
            <a:off x="762000" y="54864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词项层面的影响还包括多义性、具体性和评分标准。</a:t>
            </a:r>
          </a:p>
        </p:txBody>
      </p:sp>
    </p:spTree>
    <p:extLst>
      <p:ext uri="{BB962C8B-B14F-4D97-AF65-F5344CB8AC3E}">
        <p14:creationId xmlns:p14="http://schemas.microsoft.com/office/powerpoint/2010/main" val="745633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8335C1-52E7-4A51-845A-429CC955215D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3DD1B7-1555-462D-87D2-8F91848B51AF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研究贡献与启示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0309F03-74C9-4EEB-9B49-6A2951B0785F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B46DE7D-95F7-4AE8-9AF4-84392F15824C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3276600" cy="2952750"/>
          </a:xfrm>
          <a:prstGeom prst="roundRect">
            <a:avLst>
              <a:gd name="adj" fmla="val 2581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13D6D0-F920-49DF-B142-1097606C4CA2}"/>
              </a:ext>
            </a:extLst>
          </p:cNvPr>
          <p:cNvSpPr>
            <a:spLocks noGrp="1"/>
          </p:cNvSpPr>
          <p:nvPr/>
        </p:nvSpPr>
        <p:spPr>
          <a:xfrm>
            <a:off x="1028700" y="2038350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AEC774-79D2-4D94-A9BF-C1E221B45E94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理论视角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6D02D5-9490-4DC8-BE73-A04481D7A954}"/>
              </a:ext>
            </a:extLst>
          </p:cNvPr>
          <p:cNvSpPr>
            <a:spLocks noGrp="1"/>
          </p:cNvSpPr>
          <p:nvPr/>
        </p:nvSpPr>
        <p:spPr>
          <a:xfrm>
            <a:off x="1028700" y="3152775"/>
            <a:ext cx="26670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联想稳定性可作为观察双语心理词汇的重测指标。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4369E45-1FC8-4CA8-A846-44A2C1B83AEE}"/>
              </a:ext>
            </a:extLst>
          </p:cNvPr>
          <p:cNvSpPr>
            <a:spLocks noGrp="1"/>
          </p:cNvSpPr>
          <p:nvPr/>
        </p:nvSpPr>
        <p:spPr>
          <a:xfrm>
            <a:off x="4324350" y="1790700"/>
            <a:ext cx="3276600" cy="2952750"/>
          </a:xfrm>
          <a:prstGeom prst="roundRect">
            <a:avLst>
              <a:gd name="adj" fmla="val 2581"/>
            </a:avLst>
          </a:prstGeom>
          <a:solidFill>
            <a:srgbClr val="DDEA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CFC6B1-B771-4F98-94C5-43167D41BAA3}"/>
              </a:ext>
            </a:extLst>
          </p:cNvPr>
          <p:cNvSpPr>
            <a:spLocks noGrp="1"/>
          </p:cNvSpPr>
          <p:nvPr/>
        </p:nvSpPr>
        <p:spPr>
          <a:xfrm>
            <a:off x="4610100" y="2038350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141A5F-6B95-43AA-A3DF-A0AE8C454137}"/>
              </a:ext>
            </a:extLst>
          </p:cNvPr>
          <p:cNvSpPr>
            <a:spLocks noGrp="1"/>
          </p:cNvSpPr>
          <p:nvPr/>
        </p:nvSpPr>
        <p:spPr>
          <a:xfrm>
            <a:off x="4610100" y="25717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分析层次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C3C4BE-CEEA-4E91-A425-1CDB44F7E420}"/>
              </a:ext>
            </a:extLst>
          </p:cNvPr>
          <p:cNvSpPr>
            <a:spLocks noGrp="1"/>
          </p:cNvSpPr>
          <p:nvPr/>
        </p:nvSpPr>
        <p:spPr>
          <a:xfrm>
            <a:off x="4610100" y="3152775"/>
            <a:ext cx="26670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学习者、刺激词与反应位置的分析呈现不同模式。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9D75B4-E326-4B65-81CB-7DB4445D798E}"/>
              </a:ext>
            </a:extLst>
          </p:cNvPr>
          <p:cNvSpPr>
            <a:spLocks noGrp="1"/>
          </p:cNvSpPr>
          <p:nvPr/>
        </p:nvSpPr>
        <p:spPr>
          <a:xfrm>
            <a:off x="7905750" y="1790700"/>
            <a:ext cx="3276600" cy="2952750"/>
          </a:xfrm>
          <a:prstGeom prst="roundRect">
            <a:avLst>
              <a:gd name="adj" fmla="val 2581"/>
            </a:avLst>
          </a:prstGeom>
          <a:solidFill>
            <a:srgbClr val="F1E4D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D9C7BF-F734-491D-A33E-8F103879DA3D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FEA178-6099-4D5D-A51B-29D0F0C66339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方法启示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24A582-D494-4661-B831-9821F6860412}"/>
              </a:ext>
            </a:extLst>
          </p:cNvPr>
          <p:cNvSpPr>
            <a:spLocks noGrp="1"/>
          </p:cNvSpPr>
          <p:nvPr/>
        </p:nvSpPr>
        <p:spPr>
          <a:xfrm>
            <a:off x="8191500" y="3152775"/>
            <a:ext cx="26670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后续反应稳定性较低，个体差异更明显。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5C5F2F-A1AF-4970-9F53-CAB41F2A6116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较高重复率可能反映可及反应的范围较窄。</a:t>
            </a:r>
          </a:p>
        </p:txBody>
      </p:sp>
    </p:spTree>
    <p:extLst>
      <p:ext uri="{BB962C8B-B14F-4D97-AF65-F5344CB8AC3E}">
        <p14:creationId xmlns:p14="http://schemas.microsoft.com/office/powerpoint/2010/main" val="966702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34273C-6E32-4585-A5DD-A2F1092D1E8C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AD3B54-06BE-42B6-92DB-1C7E8ACA723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研究局限与结论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AD0629F-1516-4B43-B333-8BC4D86A8C90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65511F-C54A-422E-9238-99973B0C31C9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研究局限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C3AACE-2D0C-4C11-B8F7-91FF906028BC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3B417A-4583-4E9E-9538-986B1C3B7E0F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4572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同一语言两次测试间隔仅为两周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D172559-6ABA-48BD-941B-94716632A36C}"/>
              </a:ext>
            </a:extLst>
          </p:cNvPr>
          <p:cNvSpPr>
            <a:spLocks noGrp="1"/>
          </p:cNvSpPr>
          <p:nvPr/>
        </p:nvSpPr>
        <p:spPr>
          <a:xfrm>
            <a:off x="762000" y="28860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66170B-000D-42C3-87ED-1FCAE056D8FA}"/>
              </a:ext>
            </a:extLst>
          </p:cNvPr>
          <p:cNvSpPr>
            <a:spLocks noGrp="1"/>
          </p:cNvSpPr>
          <p:nvPr/>
        </p:nvSpPr>
        <p:spPr>
          <a:xfrm>
            <a:off x="952500" y="2771775"/>
            <a:ext cx="45720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刺激词均为高频词，结果的适用范围有限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F10DAFD-CA93-44F3-9516-6B9A9A5150FE}"/>
              </a:ext>
            </a:extLst>
          </p:cNvPr>
          <p:cNvSpPr>
            <a:spLocks noGrp="1"/>
          </p:cNvSpPr>
          <p:nvPr/>
        </p:nvSpPr>
        <p:spPr>
          <a:xfrm>
            <a:off x="762000" y="36766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909B0A-87FE-4E15-9BCB-FAB56350A9C1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45720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未比较稳定与不稳定反应的语义类别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A31A3B5-D0E3-4BB7-AB72-DC8BE9D05258}"/>
              </a:ext>
            </a:extLst>
          </p:cNvPr>
          <p:cNvSpPr>
            <a:spLocks noGrp="1"/>
          </p:cNvSpPr>
          <p:nvPr/>
        </p:nvSpPr>
        <p:spPr>
          <a:xfrm>
            <a:off x="6019800" y="1733550"/>
            <a:ext cx="5219700" cy="2724150"/>
          </a:xfrm>
          <a:prstGeom prst="roundRect">
            <a:avLst>
              <a:gd name="adj" fmla="val 2797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8FCBB1-11EA-4385-8985-55A62A96F1C1}"/>
              </a:ext>
            </a:extLst>
          </p:cNvPr>
          <p:cNvSpPr>
            <a:spLocks noGrp="1"/>
          </p:cNvSpPr>
          <p:nvPr/>
        </p:nvSpPr>
        <p:spPr>
          <a:xfrm>
            <a:off x="6324600" y="19812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5E61D0-C6AF-42A8-A1A2-732261B795AB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 L2 的整体重复率高于 L1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8F9F04-77F0-44D9-B9F6-E57F1E23B453}"/>
              </a:ext>
            </a:extLst>
          </p:cNvPr>
          <p:cNvSpPr>
            <a:spLocks noGrp="1"/>
          </p:cNvSpPr>
          <p:nvPr/>
        </p:nvSpPr>
        <p:spPr>
          <a:xfrm>
            <a:off x="6324600" y="304800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 学习者层面的 L1 与 L2 稳定性显著相关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C76DB6-C71D-4ACE-8DCA-442F9C1764F8}"/>
              </a:ext>
            </a:extLst>
          </p:cNvPr>
          <p:cNvSpPr>
            <a:spLocks noGrp="1"/>
          </p:cNvSpPr>
          <p:nvPr/>
        </p:nvSpPr>
        <p:spPr>
          <a:xfrm>
            <a:off x="6324600" y="371475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 稳定性从第一个到第三个反应持续下降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1B9DC117-A808-449F-BCB0-391449D20307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104775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A6A6B5-070E-4032-BCA2-E870337DE636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10382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联想稳定性反映同一词汇联系跨时间再次出现的可能性。</a:t>
            </a:r>
          </a:p>
        </p:txBody>
      </p:sp>
    </p:spTree>
    <p:extLst>
      <p:ext uri="{BB962C8B-B14F-4D97-AF65-F5344CB8AC3E}">
        <p14:creationId xmlns:p14="http://schemas.microsoft.com/office/powerpoint/2010/main" val="13443316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508</Words>
  <Application>Microsoft Office PowerPoint</Application>
  <DocSecurity>0</DocSecurity>
  <PresentationFormat>宽屏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修 马</cp:lastModifiedBy>
  <cp:revision>1</cp:revision>
  <dcterms:created xsi:type="dcterms:W3CDTF">2026-10-10T10:31:33Z</dcterms:created>
  <dcterms:modified xsi:type="dcterms:W3CDTF">2026-10-10T10:46:40Z</dcterms:modified>
</cp:coreProperties>
</file>