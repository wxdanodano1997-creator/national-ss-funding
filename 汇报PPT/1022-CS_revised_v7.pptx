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52560" y="1005840"/>
            <a:ext cx="4846320" cy="4846320"/>
          </a:xfrm>
          <a:prstGeom prst="ellipse">
            <a:avLst/>
          </a:prstGeom>
          <a:ln w="177800">
            <a:solidFill>
              <a:srgbClr val="E7EDF4"/>
            </a:solidFill>
            <a:prstDash val="solid"/>
          </a:ln>
        </p:spPr>
      </p:sp>
      <p:sp>
        <p:nvSpPr>
          <p:cNvPr id="3" name="Shape 1"/>
          <p:cNvSpPr/>
          <p:nvPr/>
        </p:nvSpPr>
        <p:spPr>
          <a:xfrm>
            <a:off x="10058400" y="4206240"/>
            <a:ext cx="1920240" cy="1920240"/>
          </a:xfrm>
          <a:prstGeom prst="ellipse">
            <a:avLst/>
          </a:prstGeom>
          <a:solidFill>
            <a:srgbClr val="F1F5FA"/>
          </a:solidFill>
          <a:ln/>
        </p:spPr>
      </p:sp>
      <p:pic>
        <p:nvPicPr>
          <p:cNvPr id="4" name="Image 0" descr="/tmp/claude-0/-home-user-NATIONAL-SS-Funding/d399dd62-2b1c-5986-baf9-d080933e5780/scratchpad/ppt-work/assets/logo-suda.jpg">    </p:cNvPr>
          <p:cNvPicPr>
            <a:picLocks noChangeAspect="1"/>
          </p:cNvPicPr>
          <p:nvPr/>
        </p:nvPicPr>
        <p:blipFill>
          <a:blip r:embed="rId1"/>
          <a:stretch>
            <a:fillRect/>
          </a:stretch>
        </p:blipFill>
        <p:spPr>
          <a:xfrm>
            <a:off x="548640" y="502920"/>
            <a:ext cx="914400" cy="914400"/>
          </a:xfrm>
          <a:prstGeom prst="rect">
            <a:avLst/>
          </a:prstGeom>
        </p:spPr>
      </p:pic>
      <p:sp>
        <p:nvSpPr>
          <p:cNvPr id="5" name="Text 2"/>
          <p:cNvSpPr txBox="1"/>
          <p:nvPr/>
        </p:nvSpPr>
        <p:spPr>
          <a:xfrm>
            <a:off x="1645920" y="484632"/>
            <a:ext cx="4754880" cy="950976"/>
          </a:xfrm>
          <a:prstGeom prst="rect">
            <a:avLst/>
          </a:prstGeom>
          <a:noFill/>
          <a:ln/>
        </p:spPr>
        <p:txBody>
          <a:bodyPr wrap="square" lIns="0" tIns="0" rIns="0" bIns="0" rtlCol="0" anchor="ctr"/>
          <a:lstStyle/>
          <a:p>
            <a:pPr algn="l" indent="0" marL="0">
              <a:lnSpc>
                <a:spcPct val="115000"/>
              </a:lnSpc>
              <a:buNone/>
            </a:pPr>
            <a:r>
              <a:rPr lang="en-US" sz="1600" b="1" dirty="0">
                <a:solidFill>
                  <a:srgbClr val="1E3D63"/>
                </a:solidFill>
                <a:latin typeface="Microsoft YaHei" pitchFamily="34" charset="0"/>
                <a:ea typeface="Microsoft YaHei" pitchFamily="34" charset="-122"/>
                <a:cs typeface="Microsoft YaHei" pitchFamily="34" charset="-120"/>
              </a:rPr>
              <a:t>苏州大学 · 外国语学院</a:t>
            </a:r>
            <a:endParaRPr lang="en-US" sz="1600" dirty="0"/>
          </a:p>
          <a:p>
            <a:pPr algn="l" indent="0" marL="0">
              <a:lnSpc>
                <a:spcPct val="115000"/>
              </a:lnSpc>
              <a:buNone/>
            </a:pPr>
            <a:r>
              <a:rPr lang="en-US" sz="950" spc="100" kern="0" dirty="0">
                <a:solidFill>
                  <a:srgbClr val="6B6B6B"/>
                </a:solidFill>
                <a:latin typeface="Microsoft YaHei" pitchFamily="34" charset="0"/>
                <a:ea typeface="Microsoft YaHei" pitchFamily="34" charset="-122"/>
                <a:cs typeface="Microsoft YaHei" pitchFamily="34" charset="-120"/>
              </a:rPr>
              <a:t>School of Foreign Languages</a:t>
            </a:r>
            <a:endParaRPr lang="en-US" sz="1600" dirty="0"/>
          </a:p>
        </p:txBody>
      </p:sp>
      <p:sp>
        <p:nvSpPr>
          <p:cNvPr id="6" name="Shape 3"/>
          <p:cNvSpPr/>
          <p:nvPr/>
        </p:nvSpPr>
        <p:spPr>
          <a:xfrm>
            <a:off x="566928" y="1783080"/>
            <a:ext cx="6766560" cy="0"/>
          </a:xfrm>
          <a:prstGeom prst="line">
            <a:avLst/>
          </a:prstGeom>
          <a:noFill/>
          <a:ln w="19050">
            <a:solidFill>
              <a:srgbClr val="E7EDF4"/>
            </a:solidFill>
            <a:prstDash val="solid"/>
          </a:ln>
        </p:spPr>
      </p:sp>
      <p:sp>
        <p:nvSpPr>
          <p:cNvPr id="7" name="Text 4"/>
          <p:cNvSpPr txBox="1"/>
          <p:nvPr/>
        </p:nvSpPr>
        <p:spPr>
          <a:xfrm>
            <a:off x="566928" y="2286000"/>
            <a:ext cx="9509760" cy="2011680"/>
          </a:xfrm>
          <a:prstGeom prst="rect">
            <a:avLst/>
          </a:prstGeom>
          <a:noFill/>
          <a:ln/>
        </p:spPr>
        <p:txBody>
          <a:bodyPr wrap="square" lIns="0" tIns="0" rIns="0" bIns="0" rtlCol="0" anchor="t"/>
          <a:lstStyle/>
          <a:p>
            <a:pPr algn="l" indent="0" marL="0">
              <a:lnSpc>
                <a:spcPct val="116000"/>
              </a:lnSpc>
              <a:buNone/>
            </a:pPr>
            <a:r>
              <a:rPr lang="en-US" sz="3100" b="1" dirty="0">
                <a:solidFill>
                  <a:srgbClr val="1E3D63"/>
                </a:solidFill>
                <a:latin typeface="Microsoft YaHei" pitchFamily="34" charset="0"/>
                <a:ea typeface="Microsoft YaHei" pitchFamily="34" charset="-122"/>
                <a:cs typeface="Microsoft YaHei" pitchFamily="34" charset="-120"/>
              </a:rPr>
              <a:t>Investigating the Bilingual Aging Lexicon: A Network Analysis of Word Associations in Chinese–English Bilinguals</a:t>
            </a:r>
            <a:endParaRPr lang="en-US" sz="3100" dirty="0"/>
          </a:p>
        </p:txBody>
      </p:sp>
      <p:sp>
        <p:nvSpPr>
          <p:cNvPr id="8" name="Text 5"/>
          <p:cNvSpPr txBox="1"/>
          <p:nvPr/>
        </p:nvSpPr>
        <p:spPr>
          <a:xfrm>
            <a:off x="603504" y="4434840"/>
            <a:ext cx="9144000" cy="457200"/>
          </a:xfrm>
          <a:prstGeom prst="rect">
            <a:avLst/>
          </a:prstGeom>
          <a:noFill/>
          <a:ln/>
        </p:spPr>
        <p:txBody>
          <a:bodyPr wrap="square" lIns="0" tIns="0" rIns="0" bIns="0" rtlCol="0" anchor="ctr"/>
          <a:lstStyle/>
          <a:p>
            <a:pPr algn="l" indent="0" marL="0">
              <a:buNone/>
            </a:pPr>
            <a:r>
              <a:rPr lang="en-US" sz="2000" b="1" dirty="0">
                <a:solidFill>
                  <a:srgbClr val="2F6093"/>
                </a:solidFill>
                <a:latin typeface="Microsoft YaHei" pitchFamily="34" charset="0"/>
                <a:ea typeface="Microsoft YaHei" pitchFamily="34" charset="-122"/>
                <a:cs typeface="Microsoft YaHei" pitchFamily="34" charset="-120"/>
              </a:rPr>
              <a:t>Ping Zhang · Xin Wang</a:t>
            </a:r>
            <a:endParaRPr lang="en-US" sz="2000" dirty="0"/>
          </a:p>
        </p:txBody>
      </p:sp>
      <p:sp>
        <p:nvSpPr>
          <p:cNvPr id="9" name="Text 6"/>
          <p:cNvSpPr txBox="1"/>
          <p:nvPr/>
        </p:nvSpPr>
        <p:spPr>
          <a:xfrm>
            <a:off x="603504" y="4956048"/>
            <a:ext cx="9144000" cy="731520"/>
          </a:xfrm>
          <a:prstGeom prst="rect">
            <a:avLst/>
          </a:prstGeom>
          <a:noFill/>
          <a:ln/>
        </p:spPr>
        <p:txBody>
          <a:bodyPr wrap="square" lIns="0" tIns="0" rIns="0" bIns="0" rtlCol="0" anchor="t"/>
          <a:lstStyle/>
          <a:p>
            <a:pPr algn="l" indent="0" marL="0">
              <a:lnSpc>
                <a:spcPct val="130000"/>
              </a:lnSpc>
              <a:buNone/>
            </a:pPr>
            <a:r>
              <a:rPr lang="en-US" sz="1500" dirty="0">
                <a:solidFill>
                  <a:srgbClr val="20262E"/>
                </a:solidFill>
                <a:latin typeface="Microsoft YaHei" pitchFamily="34" charset="0"/>
                <a:ea typeface="Microsoft YaHei" pitchFamily="34" charset="-122"/>
                <a:cs typeface="Microsoft YaHei" pitchFamily="34" charset="-120"/>
              </a:rPr>
              <a:t>Cognitive Science 50 (2026) e70205</a:t>
            </a:r>
            <a:endParaRPr lang="en-US" sz="1500" dirty="0"/>
          </a:p>
          <a:p>
            <a:pPr algn="l" indent="0" marL="0">
              <a:lnSpc>
                <a:spcPct val="130000"/>
              </a:lnSpc>
              <a:buNone/>
            </a:pPr>
            <a:r>
              <a:rPr lang="en-US" sz="1300" dirty="0">
                <a:solidFill>
                  <a:srgbClr val="6B6B6B"/>
                </a:solidFill>
                <a:latin typeface="Microsoft YaHei" pitchFamily="34" charset="0"/>
                <a:ea typeface="Microsoft YaHei" pitchFamily="34" charset="-122"/>
                <a:cs typeface="Microsoft YaHei" pitchFamily="34" charset="-120"/>
              </a:rPr>
              <a:t>DOI: 10.1111/cogs.70205</a:t>
            </a:r>
            <a:endParaRPr lang="en-US" sz="1500" dirty="0"/>
          </a:p>
        </p:txBody>
      </p:sp>
      <p:sp>
        <p:nvSpPr>
          <p:cNvPr id="10" name="Text 7"/>
          <p:cNvSpPr txBox="1"/>
          <p:nvPr/>
        </p:nvSpPr>
        <p:spPr>
          <a:xfrm>
            <a:off x="603504" y="6080760"/>
            <a:ext cx="10241280" cy="502920"/>
          </a:xfrm>
          <a:prstGeom prst="rect">
            <a:avLst/>
          </a:prstGeom>
          <a:noFill/>
          <a:ln/>
        </p:spPr>
        <p:txBody>
          <a:bodyPr wrap="square" lIns="0" tIns="0" rIns="0" bIns="0" rtlCol="0" anchor="ctr"/>
          <a:lstStyle/>
          <a:p>
            <a:pPr algn="l" indent="0" marL="0">
              <a:lnSpc>
                <a:spcPct val="120000"/>
              </a:lnSpc>
              <a:buNone/>
            </a:pPr>
            <a:r>
              <a:rPr lang="en-US" sz="1200" dirty="0">
                <a:solidFill>
                  <a:srgbClr val="6B6B6B"/>
                </a:solidFill>
                <a:latin typeface="Microsoft YaHei" pitchFamily="34" charset="0"/>
                <a:ea typeface="Microsoft YaHei" pitchFamily="34" charset="-122"/>
                <a:cs typeface="Microsoft YaHei" pitchFamily="34" charset="-120"/>
              </a:rPr>
              <a:t>资助项目：国家社会科学基金（23BYY178）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成果介绍</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a:t>
            </a:r>
            <a:endParaRPr lang="en-US" sz="950" dirty="0"/>
          </a:p>
        </p:txBody>
      </p:sp>
      <p:sp>
        <p:nvSpPr>
          <p:cNvPr id="6" name="Text 4"/>
          <p:cNvSpPr txBox="1"/>
          <p:nvPr/>
        </p:nvSpPr>
        <p:spPr>
          <a:xfrm>
            <a:off x="548640" y="1920240"/>
            <a:ext cx="3977640" cy="1188720"/>
          </a:xfrm>
          <a:prstGeom prst="rect">
            <a:avLst/>
          </a:prstGeom>
          <a:noFill/>
          <a:ln/>
        </p:spPr>
        <p:txBody>
          <a:bodyPr wrap="square" lIns="0" tIns="0" rIns="0" bIns="0" rtlCol="0" anchor="t"/>
          <a:lstStyle/>
          <a:p>
            <a:pPr algn="l" indent="0" marL="0">
              <a:lnSpc>
                <a:spcPct val="106000"/>
              </a:lnSpc>
              <a:buNone/>
            </a:pPr>
            <a:r>
              <a:rPr lang="en-US" sz="2900" b="1" dirty="0">
                <a:solidFill>
                  <a:srgbClr val="1E3D63"/>
                </a:solidFill>
                <a:latin typeface="Microsoft YaHei" pitchFamily="34" charset="0"/>
                <a:ea typeface="Microsoft YaHei" pitchFamily="34" charset="-122"/>
                <a:cs typeface="Microsoft YaHei" pitchFamily="34" charset="-120"/>
              </a:rPr>
              <a:t>Cognitive Science</a:t>
            </a:r>
            <a:endParaRPr lang="en-US" sz="2900" dirty="0"/>
          </a:p>
        </p:txBody>
      </p:sp>
      <p:sp>
        <p:nvSpPr>
          <p:cNvPr id="7" name="Text 5"/>
          <p:cNvSpPr txBox="1"/>
          <p:nvPr/>
        </p:nvSpPr>
        <p:spPr>
          <a:xfrm>
            <a:off x="548640" y="3200400"/>
            <a:ext cx="3977640" cy="365760"/>
          </a:xfrm>
          <a:prstGeom prst="rect">
            <a:avLst/>
          </a:prstGeom>
          <a:noFill/>
          <a:ln/>
        </p:spPr>
        <p:txBody>
          <a:bodyPr wrap="square" lIns="0" tIns="0" rIns="0" bIns="0" rtlCol="0" anchor="ctr"/>
          <a:lstStyle/>
          <a:p>
            <a:pPr algn="l" indent="0" marL="0">
              <a:buNone/>
            </a:pPr>
            <a:r>
              <a:rPr lang="en-US" sz="1450" dirty="0">
                <a:solidFill>
                  <a:srgbClr val="6B6B6B"/>
                </a:solidFill>
                <a:latin typeface="Microsoft YaHei" pitchFamily="34" charset="0"/>
                <a:ea typeface="Microsoft YaHei" pitchFamily="34" charset="-122"/>
                <a:cs typeface="Microsoft YaHei" pitchFamily="34" charset="-120"/>
              </a:rPr>
              <a:t>Cognitive Science Society · Wiley</a:t>
            </a:r>
            <a:endParaRPr lang="en-US" sz="1450" dirty="0"/>
          </a:p>
        </p:txBody>
      </p:sp>
      <p:sp>
        <p:nvSpPr>
          <p:cNvPr id="8" name="Shape 6"/>
          <p:cNvSpPr/>
          <p:nvPr/>
        </p:nvSpPr>
        <p:spPr>
          <a:xfrm>
            <a:off x="548640" y="3657600"/>
            <a:ext cx="859536" cy="420624"/>
          </a:xfrm>
          <a:prstGeom prst="roundRect">
            <a:avLst>
              <a:gd name="adj" fmla="val 50000"/>
            </a:avLst>
          </a:prstGeom>
          <a:solidFill>
            <a:srgbClr val="E7EDF4"/>
          </a:solidFill>
          <a:ln w="12700">
            <a:solidFill>
              <a:srgbClr val="2F6093"/>
            </a:solidFill>
            <a:prstDash val="solid"/>
          </a:ln>
        </p:spPr>
      </p:sp>
      <p:sp>
        <p:nvSpPr>
          <p:cNvPr id="9" name="Text 7"/>
          <p:cNvSpPr txBox="1"/>
          <p:nvPr/>
        </p:nvSpPr>
        <p:spPr>
          <a:xfrm>
            <a:off x="548640" y="3657600"/>
            <a:ext cx="859536" cy="420624"/>
          </a:xfrm>
          <a:prstGeom prst="rect">
            <a:avLst/>
          </a:prstGeom>
          <a:noFill/>
          <a:ln/>
        </p:spPr>
        <p:txBody>
          <a:bodyPr wrap="square" lIns="0" tIns="0" rIns="0" bIns="0" rtlCol="0" anchor="ctr"/>
          <a:lstStyle/>
          <a:p>
            <a:pPr algn="ctr" indent="0" marL="0">
              <a:buNone/>
            </a:pPr>
            <a:r>
              <a:rPr lang="en-US" sz="1300" b="1" dirty="0">
                <a:solidFill>
                  <a:srgbClr val="1E3D63"/>
                </a:solidFill>
                <a:latin typeface="Microsoft YaHei" pitchFamily="34" charset="0"/>
                <a:ea typeface="Microsoft YaHei" pitchFamily="34" charset="-122"/>
                <a:cs typeface="Microsoft YaHei" pitchFamily="34" charset="-120"/>
              </a:rPr>
              <a:t>SSCI</a:t>
            </a:r>
            <a:endParaRPr lang="en-US" sz="1300" dirty="0"/>
          </a:p>
        </p:txBody>
      </p:sp>
      <p:sp>
        <p:nvSpPr>
          <p:cNvPr id="10" name="Shape 8"/>
          <p:cNvSpPr/>
          <p:nvPr/>
        </p:nvSpPr>
        <p:spPr>
          <a:xfrm>
            <a:off x="1609344" y="3657600"/>
            <a:ext cx="1188720" cy="420624"/>
          </a:xfrm>
          <a:prstGeom prst="roundRect">
            <a:avLst>
              <a:gd name="adj" fmla="val 50000"/>
            </a:avLst>
          </a:prstGeom>
          <a:solidFill>
            <a:srgbClr val="E7EDF4"/>
          </a:solidFill>
          <a:ln w="12700">
            <a:solidFill>
              <a:srgbClr val="2F6093"/>
            </a:solidFill>
            <a:prstDash val="solid"/>
          </a:ln>
        </p:spPr>
      </p:sp>
      <p:sp>
        <p:nvSpPr>
          <p:cNvPr id="11" name="Text 9"/>
          <p:cNvSpPr txBox="1"/>
          <p:nvPr/>
        </p:nvSpPr>
        <p:spPr>
          <a:xfrm>
            <a:off x="1609344" y="3657600"/>
            <a:ext cx="1188720" cy="420624"/>
          </a:xfrm>
          <a:prstGeom prst="rect">
            <a:avLst/>
          </a:prstGeom>
          <a:noFill/>
          <a:ln/>
        </p:spPr>
        <p:txBody>
          <a:bodyPr wrap="square" lIns="0" tIns="0" rIns="0" bIns="0" rtlCol="0" anchor="ctr"/>
          <a:lstStyle/>
          <a:p>
            <a:pPr algn="ctr" indent="0" marL="0">
              <a:buNone/>
            </a:pPr>
            <a:r>
              <a:rPr lang="en-US" sz="1300" b="1" dirty="0">
                <a:solidFill>
                  <a:srgbClr val="1E3D63"/>
                </a:solidFill>
                <a:latin typeface="Microsoft YaHei" pitchFamily="34" charset="0"/>
                <a:ea typeface="Microsoft YaHei" pitchFamily="34" charset="-122"/>
                <a:cs typeface="Microsoft YaHei" pitchFamily="34" charset="-120"/>
              </a:rPr>
              <a:t>认知科学</a:t>
            </a:r>
            <a:endParaRPr lang="en-US" sz="1300" dirty="0"/>
          </a:p>
        </p:txBody>
      </p:sp>
      <p:sp>
        <p:nvSpPr>
          <p:cNvPr id="12" name="Text 10"/>
          <p:cNvSpPr txBox="1"/>
          <p:nvPr/>
        </p:nvSpPr>
        <p:spPr>
          <a:xfrm>
            <a:off x="548640" y="4297680"/>
            <a:ext cx="3977640" cy="548640"/>
          </a:xfrm>
          <a:prstGeom prst="rect">
            <a:avLst/>
          </a:prstGeom>
          <a:noFill/>
          <a:ln/>
        </p:spPr>
        <p:txBody>
          <a:bodyPr wrap="square" lIns="0" tIns="0" rIns="0" bIns="0" rtlCol="0" anchor="t"/>
          <a:lstStyle/>
          <a:p>
            <a:pPr algn="l"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Volume 50 (2026) · Article e70205</a:t>
            </a:r>
            <a:endParaRPr lang="en-US" sz="1400" dirty="0"/>
          </a:p>
        </p:txBody>
      </p:sp>
      <p:sp>
        <p:nvSpPr>
          <p:cNvPr id="13" name="Shape 11"/>
          <p:cNvSpPr/>
          <p:nvPr/>
        </p:nvSpPr>
        <p:spPr>
          <a:xfrm>
            <a:off x="4892040" y="1463040"/>
            <a:ext cx="3200400" cy="4434840"/>
          </a:xfrm>
          <a:prstGeom prst="roundRect">
            <a:avLst>
              <a:gd name="adj" fmla="val 1429"/>
            </a:avLst>
          </a:prstGeom>
          <a:solidFill>
            <a:srgbClr val="FFFFFF"/>
          </a:solidFill>
          <a:ln w="15875">
            <a:solidFill>
              <a:srgbClr val="2F6093"/>
            </a:solidFill>
            <a:prstDash val="solid"/>
          </a:ln>
          <a:effectLst>
            <a:outerShdw sx="100000" sy="100000" kx="0" ky="0" algn="bl" rotWithShape="0" blurRad="88900" dist="38100" dir="5400000">
              <a:srgbClr val="999999">
                <a:alpha val="40000"/>
              </a:srgbClr>
            </a:outerShdw>
          </a:effectLst>
        </p:spPr>
      </p:sp>
      <p:pic>
        <p:nvPicPr>
          <p:cNvPr id="14" name="Image 0" descr="/tmp/claude-0/-home-user-NATIONAL-SS-Funding/d399dd62-2b1c-5986-baf9-d080933e5780/scratchpad/ppt-work/assets/real-cover-CS.png">    </p:cNvPr>
          <p:cNvPicPr>
            <a:picLocks noChangeAspect="1"/>
          </p:cNvPicPr>
          <p:nvPr/>
        </p:nvPicPr>
        <p:blipFill>
          <a:blip r:embed="rId1"/>
          <a:stretch>
            <a:fillRect/>
          </a:stretch>
        </p:blipFill>
        <p:spPr>
          <a:xfrm>
            <a:off x="5025286" y="1572768"/>
            <a:ext cx="2933907" cy="4215384"/>
          </a:xfrm>
          <a:prstGeom prst="rect">
            <a:avLst/>
          </a:prstGeom>
        </p:spPr>
      </p:pic>
      <p:sp>
        <p:nvSpPr>
          <p:cNvPr id="15" name="Text 12"/>
          <p:cNvSpPr txBox="1"/>
          <p:nvPr/>
        </p:nvSpPr>
        <p:spPr>
          <a:xfrm>
            <a:off x="4892040" y="5952744"/>
            <a:ext cx="3200400" cy="310896"/>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期刊封面</a:t>
            </a:r>
            <a:endParaRPr lang="en-US" sz="1350" dirty="0"/>
          </a:p>
        </p:txBody>
      </p:sp>
      <p:sp>
        <p:nvSpPr>
          <p:cNvPr id="16" name="Shape 13"/>
          <p:cNvSpPr/>
          <p:nvPr/>
        </p:nvSpPr>
        <p:spPr>
          <a:xfrm>
            <a:off x="8549640" y="1463040"/>
            <a:ext cx="3200400" cy="4434840"/>
          </a:xfrm>
          <a:prstGeom prst="roundRect">
            <a:avLst>
              <a:gd name="adj" fmla="val 1429"/>
            </a:avLst>
          </a:prstGeom>
          <a:solidFill>
            <a:srgbClr val="FFFFFF"/>
          </a:solidFill>
          <a:ln w="15875">
            <a:solidFill>
              <a:srgbClr val="2F6093"/>
            </a:solidFill>
            <a:prstDash val="solid"/>
          </a:ln>
          <a:effectLst>
            <a:outerShdw sx="100000" sy="100000" kx="0" ky="0" algn="bl" rotWithShape="0" blurRad="88900" dist="38100" dir="5400000">
              <a:srgbClr val="999999">
                <a:alpha val="40000"/>
              </a:srgbClr>
            </a:outerShdw>
          </a:effectLst>
        </p:spPr>
      </p:sp>
      <p:pic>
        <p:nvPicPr>
          <p:cNvPr id="17" name="Image 1" descr="/tmp/claude-0/-home-user-NATIONAL-SS-Funding/d399dd62-2b1c-5986-baf9-d080933e5780/scratchpad/ppt-work/assets/trim-CS-first-01.jpg">    </p:cNvPr>
          <p:cNvPicPr>
            <a:picLocks noChangeAspect="1"/>
          </p:cNvPicPr>
          <p:nvPr/>
        </p:nvPicPr>
        <p:blipFill>
          <a:blip r:embed="rId2"/>
          <a:stretch>
            <a:fillRect/>
          </a:stretch>
        </p:blipFill>
        <p:spPr>
          <a:xfrm>
            <a:off x="8659368" y="1584156"/>
            <a:ext cx="2980944" cy="4192608"/>
          </a:xfrm>
          <a:prstGeom prst="rect">
            <a:avLst/>
          </a:prstGeom>
        </p:spPr>
      </p:pic>
      <p:sp>
        <p:nvSpPr>
          <p:cNvPr id="18" name="Text 14"/>
          <p:cNvSpPr txBox="1"/>
          <p:nvPr/>
        </p:nvSpPr>
        <p:spPr>
          <a:xfrm>
            <a:off x="8549640" y="5952744"/>
            <a:ext cx="3200400" cy="310896"/>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论文首页</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研究背景</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2</a:t>
            </a:r>
            <a:endParaRPr lang="en-US" sz="950" dirty="0"/>
          </a:p>
        </p:txBody>
      </p:sp>
      <p:sp>
        <p:nvSpPr>
          <p:cNvPr id="6" name="Shape 4"/>
          <p:cNvSpPr/>
          <p:nvPr/>
        </p:nvSpPr>
        <p:spPr>
          <a:xfrm>
            <a:off x="502920" y="1417320"/>
            <a:ext cx="5440680"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77240" y="1728216"/>
            <a:ext cx="164592" cy="164592"/>
          </a:xfrm>
          <a:prstGeom prst="ellipse">
            <a:avLst/>
          </a:prstGeom>
          <a:solidFill>
            <a:srgbClr val="2F6093"/>
          </a:solidFill>
          <a:ln/>
        </p:spPr>
      </p:sp>
      <p:sp>
        <p:nvSpPr>
          <p:cNvPr id="8" name="Text 6"/>
          <p:cNvSpPr txBox="1"/>
          <p:nvPr/>
        </p:nvSpPr>
        <p:spPr>
          <a:xfrm>
            <a:off x="1051560" y="1600200"/>
            <a:ext cx="4663440"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总体背景</a:t>
            </a:r>
            <a:endParaRPr lang="en-US" sz="1900" dirty="0"/>
          </a:p>
        </p:txBody>
      </p:sp>
      <p:sp>
        <p:nvSpPr>
          <p:cNvPr id="9" name="Text 7"/>
          <p:cNvSpPr txBox="1"/>
          <p:nvPr/>
        </p:nvSpPr>
        <p:spPr>
          <a:xfrm>
            <a:off x="795528" y="2130552"/>
            <a:ext cx="4855464"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双语词汇系统在成年期持续受到知识积累、语言使用和认知老化的共同影响。词汇联想网络可通过连接、路径、聚集与社群结构，呈现词汇组织随年龄发生的整体变化。</a:t>
            </a:r>
            <a:endParaRPr lang="en-US" sz="1800" dirty="0"/>
          </a:p>
        </p:txBody>
      </p:sp>
      <p:sp>
        <p:nvSpPr>
          <p:cNvPr id="10" name="Shape 8"/>
          <p:cNvSpPr/>
          <p:nvPr/>
        </p:nvSpPr>
        <p:spPr>
          <a:xfrm>
            <a:off x="6217920" y="1417320"/>
            <a:ext cx="5468112"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92240" y="1728216"/>
            <a:ext cx="164592" cy="164592"/>
          </a:xfrm>
          <a:prstGeom prst="ellipse">
            <a:avLst/>
          </a:prstGeom>
          <a:solidFill>
            <a:srgbClr val="2F6093"/>
          </a:solidFill>
          <a:ln/>
        </p:spPr>
      </p:sp>
      <p:sp>
        <p:nvSpPr>
          <p:cNvPr id="12" name="Text 10"/>
          <p:cNvSpPr txBox="1"/>
          <p:nvPr/>
        </p:nvSpPr>
        <p:spPr>
          <a:xfrm>
            <a:off x="6766560" y="1600200"/>
            <a:ext cx="4690872"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已有发现与证据</a:t>
            </a:r>
            <a:endParaRPr lang="en-US" sz="1900" dirty="0"/>
          </a:p>
        </p:txBody>
      </p:sp>
      <p:sp>
        <p:nvSpPr>
          <p:cNvPr id="13" name="Text 11"/>
          <p:cNvSpPr txBox="1"/>
          <p:nvPr/>
        </p:nvSpPr>
        <p:spPr>
          <a:xfrm>
            <a:off x="6510528" y="2130552"/>
            <a:ext cx="4882896"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大规模生命周期研究发现，语义网络的连接度在成年早期达到峰值后下降，路径长度、聚类与模块化随年龄呈现阶段性变化（Dubossarsky et al., 2017；Wulff et al., 2022）。老年群体内部差异较大，持续学习和丰富语言经验可能维持或重组网络结构（Cosgrove et al., 2021；Hills, 2025）。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现有研究不足之处</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3</a:t>
            </a:r>
            <a:endParaRPr lang="en-US" sz="950" dirty="0"/>
          </a:p>
        </p:txBody>
      </p:sp>
      <p:sp>
        <p:nvSpPr>
          <p:cNvPr id="6" name="Shape 4"/>
          <p:cNvSpPr/>
          <p:nvPr/>
        </p:nvSpPr>
        <p:spPr>
          <a:xfrm>
            <a:off x="548640" y="1417320"/>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7" name="Shape 5"/>
          <p:cNvSpPr/>
          <p:nvPr/>
        </p:nvSpPr>
        <p:spPr>
          <a:xfrm>
            <a:off x="914400" y="1862328"/>
            <a:ext cx="585216" cy="585216"/>
          </a:xfrm>
          <a:prstGeom prst="ellipse">
            <a:avLst/>
          </a:prstGeom>
          <a:solidFill>
            <a:srgbClr val="2F6093"/>
          </a:solidFill>
          <a:ln/>
        </p:spPr>
      </p:sp>
      <p:sp>
        <p:nvSpPr>
          <p:cNvPr id="8" name="Text 6"/>
          <p:cNvSpPr txBox="1"/>
          <p:nvPr/>
        </p:nvSpPr>
        <p:spPr>
          <a:xfrm>
            <a:off x="914400" y="1862328"/>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1</a:t>
            </a:r>
            <a:endParaRPr lang="en-US" sz="2500" dirty="0"/>
          </a:p>
        </p:txBody>
      </p:sp>
      <p:sp>
        <p:nvSpPr>
          <p:cNvPr id="9" name="Text 7"/>
          <p:cNvSpPr txBox="1"/>
          <p:nvPr/>
        </p:nvSpPr>
        <p:spPr>
          <a:xfrm>
            <a:off x="1847088" y="1417320"/>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双语成人词汇网络的年龄变化证据有限，既有研究多聚焦年轻成人或单一年龄组，难以揭示中年至晚年的连续轨迹。</a:t>
            </a:r>
            <a:endParaRPr lang="en-US" sz="2050" dirty="0"/>
          </a:p>
        </p:txBody>
      </p:sp>
      <p:sp>
        <p:nvSpPr>
          <p:cNvPr id="10" name="Shape 8"/>
          <p:cNvSpPr/>
          <p:nvPr/>
        </p:nvSpPr>
        <p:spPr>
          <a:xfrm>
            <a:off x="548640" y="3148584"/>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1" name="Shape 9"/>
          <p:cNvSpPr/>
          <p:nvPr/>
        </p:nvSpPr>
        <p:spPr>
          <a:xfrm>
            <a:off x="914400" y="3593592"/>
            <a:ext cx="585216" cy="585216"/>
          </a:xfrm>
          <a:prstGeom prst="ellipse">
            <a:avLst/>
          </a:prstGeom>
          <a:solidFill>
            <a:srgbClr val="2F6093"/>
          </a:solidFill>
          <a:ln/>
        </p:spPr>
      </p:sp>
      <p:sp>
        <p:nvSpPr>
          <p:cNvPr id="12" name="Text 10"/>
          <p:cNvSpPr txBox="1"/>
          <p:nvPr/>
        </p:nvSpPr>
        <p:spPr>
          <a:xfrm>
            <a:off x="914400" y="3593592"/>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2</a:t>
            </a:r>
            <a:endParaRPr lang="en-US" sz="2500" dirty="0"/>
          </a:p>
        </p:txBody>
      </p:sp>
      <p:sp>
        <p:nvSpPr>
          <p:cNvPr id="13" name="Text 11"/>
          <p:cNvSpPr txBox="1"/>
          <p:nvPr/>
        </p:nvSpPr>
        <p:spPr>
          <a:xfrm>
            <a:off x="1847088" y="3148584"/>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既有双语网络研究主要基于语义流畅性任务、受限语义类别或描述性比较，母语与二语网络差异的结论并不一致（Borodkin et al., 2016；Agustín-Llach &amp; Palapanidi, 2024）。</a:t>
            </a:r>
            <a:endParaRPr lang="en-US" sz="2050" dirty="0"/>
          </a:p>
        </p:txBody>
      </p:sp>
      <p:sp>
        <p:nvSpPr>
          <p:cNvPr id="14" name="Shape 12"/>
          <p:cNvSpPr/>
          <p:nvPr/>
        </p:nvSpPr>
        <p:spPr>
          <a:xfrm>
            <a:off x="548640" y="4879848"/>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5" name="Shape 13"/>
          <p:cNvSpPr/>
          <p:nvPr/>
        </p:nvSpPr>
        <p:spPr>
          <a:xfrm>
            <a:off x="914400" y="5324856"/>
            <a:ext cx="585216" cy="585216"/>
          </a:xfrm>
          <a:prstGeom prst="ellipse">
            <a:avLst/>
          </a:prstGeom>
          <a:solidFill>
            <a:srgbClr val="2F6093"/>
          </a:solidFill>
          <a:ln/>
        </p:spPr>
      </p:sp>
      <p:sp>
        <p:nvSpPr>
          <p:cNvPr id="16" name="Text 14"/>
          <p:cNvSpPr txBox="1"/>
          <p:nvPr/>
        </p:nvSpPr>
        <p:spPr>
          <a:xfrm>
            <a:off x="914400" y="5324856"/>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3</a:t>
            </a:r>
            <a:endParaRPr lang="en-US" sz="2500" dirty="0"/>
          </a:p>
        </p:txBody>
      </p:sp>
      <p:sp>
        <p:nvSpPr>
          <p:cNvPr id="17" name="Text 15"/>
          <p:cNvSpPr txBox="1"/>
          <p:nvPr/>
        </p:nvSpPr>
        <p:spPr>
          <a:xfrm>
            <a:off x="1847088" y="4879848"/>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同一批双语者的母语与二语自由词汇联想网络是否呈现相同的年龄轨迹，尚缺少系统的统计检验。</a:t>
            </a:r>
            <a:endParaRPr lang="en-US" sz="2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研究问题</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4</a:t>
            </a:r>
            <a:endParaRPr lang="en-US" sz="950" dirty="0"/>
          </a:p>
        </p:txBody>
      </p:sp>
      <p:sp>
        <p:nvSpPr>
          <p:cNvPr id="6" name="Shape 4"/>
          <p:cNvSpPr/>
          <p:nvPr/>
        </p:nvSpPr>
        <p:spPr>
          <a:xfrm>
            <a:off x="502920" y="1737360"/>
            <a:ext cx="5349240" cy="3383280"/>
          </a:xfrm>
          <a:prstGeom prst="roundRect">
            <a:avLst>
              <a:gd name="adj" fmla="val 2703"/>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2647188" y="2057400"/>
            <a:ext cx="1060704" cy="1060704"/>
          </a:xfrm>
          <a:prstGeom prst="ellipse">
            <a:avLst/>
          </a:prstGeom>
          <a:solidFill>
            <a:srgbClr val="1E3D63"/>
          </a:solidFill>
          <a:ln/>
        </p:spPr>
      </p:sp>
      <p:sp>
        <p:nvSpPr>
          <p:cNvPr id="8" name="Text 6"/>
          <p:cNvSpPr txBox="1"/>
          <p:nvPr/>
        </p:nvSpPr>
        <p:spPr>
          <a:xfrm>
            <a:off x="2647188" y="2057400"/>
            <a:ext cx="1060704" cy="1060704"/>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RQ1</a:t>
            </a:r>
            <a:endParaRPr lang="en-US" sz="2000" dirty="0"/>
          </a:p>
        </p:txBody>
      </p:sp>
      <p:sp>
        <p:nvSpPr>
          <p:cNvPr id="9" name="Text 7"/>
          <p:cNvSpPr txBox="1"/>
          <p:nvPr/>
        </p:nvSpPr>
        <p:spPr>
          <a:xfrm>
            <a:off x="777240" y="3337560"/>
            <a:ext cx="4800600" cy="1645920"/>
          </a:xfrm>
          <a:prstGeom prst="rect">
            <a:avLst/>
          </a:prstGeom>
          <a:noFill/>
          <a:ln/>
        </p:spPr>
        <p:txBody>
          <a:bodyPr wrap="square" lIns="0" tIns="0" rIns="0" bIns="0" rtlCol="0" anchor="t"/>
          <a:lstStyle/>
          <a:p>
            <a:pPr algn="ctr" indent="0" marL="0">
              <a:lnSpc>
                <a:spcPct val="130000"/>
              </a:lnSpc>
              <a:buNone/>
            </a:pPr>
            <a:r>
              <a:rPr lang="en-US" sz="1750" dirty="0">
                <a:solidFill>
                  <a:srgbClr val="20262E"/>
                </a:solidFill>
                <a:latin typeface="Microsoft YaHei" pitchFamily="34" charset="0"/>
                <a:ea typeface="Microsoft YaHei" pitchFamily="34" charset="-122"/>
                <a:cs typeface="Microsoft YaHei" pitchFamily="34" charset="-120"/>
              </a:rPr>
              <a:t>母语汉语和二语英语网络的平均度、平均最短路径、聚类系数和模块度如何随年龄变化？</a:t>
            </a:r>
            <a:endParaRPr lang="en-US" sz="1750" dirty="0"/>
          </a:p>
        </p:txBody>
      </p:sp>
      <p:sp>
        <p:nvSpPr>
          <p:cNvPr id="10" name="Shape 8"/>
          <p:cNvSpPr/>
          <p:nvPr/>
        </p:nvSpPr>
        <p:spPr>
          <a:xfrm>
            <a:off x="6309360" y="1737360"/>
            <a:ext cx="5349240" cy="3383280"/>
          </a:xfrm>
          <a:prstGeom prst="roundRect">
            <a:avLst>
              <a:gd name="adj" fmla="val 2703"/>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8453628" y="2057400"/>
            <a:ext cx="1060704" cy="1060704"/>
          </a:xfrm>
          <a:prstGeom prst="ellipse">
            <a:avLst/>
          </a:prstGeom>
          <a:solidFill>
            <a:srgbClr val="1E3D63"/>
          </a:solidFill>
          <a:ln/>
        </p:spPr>
      </p:sp>
      <p:sp>
        <p:nvSpPr>
          <p:cNvPr id="12" name="Text 10"/>
          <p:cNvSpPr txBox="1"/>
          <p:nvPr/>
        </p:nvSpPr>
        <p:spPr>
          <a:xfrm>
            <a:off x="8453628" y="2057400"/>
            <a:ext cx="1060704" cy="1060704"/>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RQ2</a:t>
            </a:r>
            <a:endParaRPr lang="en-US" sz="2000" dirty="0"/>
          </a:p>
        </p:txBody>
      </p:sp>
      <p:sp>
        <p:nvSpPr>
          <p:cNvPr id="13" name="Text 11"/>
          <p:cNvSpPr txBox="1"/>
          <p:nvPr/>
        </p:nvSpPr>
        <p:spPr>
          <a:xfrm>
            <a:off x="6583680" y="3337560"/>
            <a:ext cx="4800600" cy="1645920"/>
          </a:xfrm>
          <a:prstGeom prst="rect">
            <a:avLst/>
          </a:prstGeom>
          <a:noFill/>
          <a:ln/>
        </p:spPr>
        <p:txBody>
          <a:bodyPr wrap="square" lIns="0" tIns="0" rIns="0" bIns="0" rtlCol="0" anchor="t"/>
          <a:lstStyle/>
          <a:p>
            <a:pPr algn="ctr" indent="0" marL="0">
              <a:lnSpc>
                <a:spcPct val="130000"/>
              </a:lnSpc>
              <a:buNone/>
            </a:pPr>
            <a:r>
              <a:rPr lang="en-US" sz="1750" dirty="0">
                <a:solidFill>
                  <a:srgbClr val="20262E"/>
                </a:solidFill>
                <a:latin typeface="Microsoft YaHei" pitchFamily="34" charset="0"/>
                <a:ea typeface="Microsoft YaHei" pitchFamily="34" charset="-122"/>
                <a:cs typeface="Microsoft YaHei" pitchFamily="34" charset="-120"/>
              </a:rPr>
              <a:t>母语与二语的年龄变化轨迹是否存在差异？</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研究被试</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5</a:t>
            </a:r>
            <a:endParaRPr lang="en-US" sz="950" dirty="0"/>
          </a:p>
        </p:txBody>
      </p:sp>
      <p:sp>
        <p:nvSpPr>
          <p:cNvPr id="6" name="Text 4"/>
          <p:cNvSpPr txBox="1"/>
          <p:nvPr/>
        </p:nvSpPr>
        <p:spPr>
          <a:xfrm>
            <a:off x="548640" y="1371600"/>
            <a:ext cx="11064240" cy="548640"/>
          </a:xfrm>
          <a:prstGeom prst="rect">
            <a:avLst/>
          </a:prstGeom>
          <a:noFill/>
          <a:ln/>
        </p:spPr>
        <p:txBody>
          <a:bodyPr wrap="square" lIns="0" tIns="0" rIns="0" bIns="0" rtlCol="0" anchor="t"/>
          <a:lstStyle/>
          <a:p>
            <a:pPr algn="l" indent="0" marL="0">
              <a:lnSpc>
                <a:spcPct val="120000"/>
              </a:lnSpc>
              <a:buNone/>
            </a:pPr>
            <a:r>
              <a:rPr lang="en-US" sz="1600" b="1" dirty="0">
                <a:solidFill>
                  <a:srgbClr val="2F6093"/>
                </a:solidFill>
                <a:latin typeface="Microsoft YaHei" pitchFamily="34" charset="0"/>
                <a:ea typeface="Microsoft YaHei" pitchFamily="34" charset="-122"/>
                <a:cs typeface="Microsoft YaHei" pitchFamily="34" charset="-120"/>
              </a:rPr>
              <a:t>— </a:t>
            </a:r>
            <a:pPr algn="l" indent="0" marL="0">
              <a:lnSpc>
                <a:spcPct val="120000"/>
              </a:lnSpc>
              <a:buNone/>
            </a:pPr>
            <a:r>
              <a:rPr lang="en-US" sz="1600" dirty="0">
                <a:solidFill>
                  <a:srgbClr val="20262E"/>
                </a:solidFill>
                <a:latin typeface="Microsoft YaHei" pitchFamily="34" charset="0"/>
                <a:ea typeface="Microsoft YaHei" pitchFamily="34" charset="-122"/>
                <a:cs typeface="Microsoft YaHei" pitchFamily="34" charset="-120"/>
              </a:rPr>
              <a:t>共 117 人，女性 78、男性 39；29 人有海外学习经历。均来自江苏高校，未报告神经或认知障碍。</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10698480" cy="914400"/>
        </p:xfrm>
        <a:graphic>
          <a:graphicData uri="http://schemas.openxmlformats.org/drawingml/2006/table">
            <a:tbl>
              <a:tblPr/>
              <a:tblGrid>
                <a:gridCol w="1645920"/>
                <a:gridCol w="1280160"/>
                <a:gridCol w="1645920"/>
                <a:gridCol w="1645920"/>
                <a:gridCol w="4480560"/>
              </a:tblGrid>
              <a:tr h="512064">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年龄组</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人数</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平均年龄</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年龄 SD</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样本说明</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512064">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30–40 岁</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30</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36.23</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2.81</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在职大学英语教师</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512064">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41–50 岁</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30</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42.73</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2.64</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在职大学英语教师</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512064">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51–60 岁</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30</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54.53</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2.91</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在职大学英语教师</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512064">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61–70 岁</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27</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65.04</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2.43</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在职大学英语教师</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实验材料</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6</a:t>
            </a:r>
            <a:endParaRPr lang="en-US" sz="950" dirty="0"/>
          </a:p>
        </p:txBody>
      </p:sp>
      <p:sp>
        <p:nvSpPr>
          <p:cNvPr id="6" name="Text 4"/>
          <p:cNvSpPr txBox="1"/>
          <p:nvPr/>
        </p:nvSpPr>
        <p:spPr>
          <a:xfrm>
            <a:off x="548640" y="1371600"/>
            <a:ext cx="11064240" cy="548640"/>
          </a:xfrm>
          <a:prstGeom prst="rect">
            <a:avLst/>
          </a:prstGeom>
          <a:noFill/>
          <a:ln/>
        </p:spPr>
        <p:txBody>
          <a:bodyPr wrap="square" lIns="0" tIns="0" rIns="0" bIns="0" rtlCol="0" anchor="t"/>
          <a:lstStyle/>
          <a:p>
            <a:pPr algn="l" indent="0" marL="0">
              <a:lnSpc>
                <a:spcPct val="120000"/>
              </a:lnSpc>
              <a:buNone/>
            </a:pPr>
            <a:r>
              <a:rPr lang="en-US" sz="1600" b="1" dirty="0">
                <a:solidFill>
                  <a:srgbClr val="2F6093"/>
                </a:solidFill>
                <a:latin typeface="Microsoft YaHei" pitchFamily="34" charset="0"/>
                <a:ea typeface="Microsoft YaHei" pitchFamily="34" charset="-122"/>
                <a:cs typeface="Microsoft YaHei" pitchFamily="34" charset="-120"/>
              </a:rPr>
              <a:t>— </a:t>
            </a:r>
            <a:pPr algn="l" indent="0" marL="0">
              <a:lnSpc>
                <a:spcPct val="120000"/>
              </a:lnSpc>
              <a:buNone/>
            </a:pPr>
            <a:r>
              <a:rPr lang="en-US" sz="1600" dirty="0">
                <a:solidFill>
                  <a:srgbClr val="20262E"/>
                </a:solidFill>
                <a:latin typeface="Microsoft YaHei" pitchFamily="34" charset="0"/>
                <a:ea typeface="Microsoft YaHei" pitchFamily="34" charset="-122"/>
                <a:cs typeface="Microsoft YaHei" pitchFamily="34" charset="-120"/>
              </a:rPr>
              <a:t>汉英两套刺激词用于构建可比较的母语与二语词汇联想网络。</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10698480" cy="914400"/>
        </p:xfrm>
        <a:graphic>
          <a:graphicData uri="http://schemas.openxmlformats.org/drawingml/2006/table">
            <a:tbl>
              <a:tblPr/>
              <a:tblGrid>
                <a:gridCol w="2103120"/>
                <a:gridCol w="1097280"/>
                <a:gridCol w="3931920"/>
                <a:gridCol w="3566160"/>
              </a:tblGrid>
              <a:tr h="731520">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材料</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数量</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覆盖范围</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控制变量</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731520">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英语刺激词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30</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名词、动词、形容词；具体词与抽象词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词性、具体性、词长；多数位于前 2000 高频词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731520">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汉语对应词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30</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与英语词构成翻译对应关系</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词性、具体性、笔画数</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实验任务</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7</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2743200"/>
                <a:gridCol w="7955280"/>
              </a:tblGrid>
              <a:tr h="658368">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项目</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任务要求</a:t>
                      </a:r>
                      <a:endParaRPr lang="en-US" sz="16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658368">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任务类型</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连续词汇联想任务（continuous word association task）</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658368">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刺激呈现</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在线程序逐词呈现 30 个刺激词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658368">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作答方式</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每个刺激词输入最先想到的 3 个同语种反应词</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658368">
                <a:tc>
                  <a:txBody>
                    <a:bodyPr/>
                    <a:lstStyle/>
                    <a:p>
                      <a:pPr algn="l" indent="0" marL="0">
                        <a:buNone/>
                      </a:pPr>
                      <a:r>
                        <a:rPr lang="en-US" sz="1550" b="1" dirty="0">
                          <a:solidFill>
                            <a:srgbClr val="20262E"/>
                          </a:solidFill>
                          <a:latin typeface="Microsoft YaHei" pitchFamily="34" charset="0"/>
                          <a:ea typeface="Microsoft YaHei" pitchFamily="34" charset="-122"/>
                          <a:cs typeface="Microsoft YaHei" pitchFamily="34" charset="-120"/>
                        </a:rPr>
                        <a:t>时间要求</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550" dirty="0">
                          <a:solidFill>
                            <a:srgbClr val="20262E"/>
                          </a:solidFill>
                          <a:latin typeface="Microsoft YaHei" pitchFamily="34" charset="0"/>
                          <a:ea typeface="Microsoft YaHei" pitchFamily="34" charset="-122"/>
                          <a:cs typeface="Microsoft YaHei" pitchFamily="34" charset="-120"/>
                        </a:rPr>
                        <a:t>不设时间限制，自然即时作答；支持键盘输入和语音转写</a:t>
                      </a:r>
                      <a:endParaRPr lang="en-US" sz="15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实验过程</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8</a:t>
            </a:r>
            <a:endParaRPr lang="en-US" sz="950" dirty="0"/>
          </a:p>
        </p:txBody>
      </p:sp>
      <p:sp>
        <p:nvSpPr>
          <p:cNvPr id="6" name="Shape 4"/>
          <p:cNvSpPr/>
          <p:nvPr/>
        </p:nvSpPr>
        <p:spPr>
          <a:xfrm>
            <a:off x="502920" y="2148840"/>
            <a:ext cx="2583180" cy="2377440"/>
          </a:xfrm>
          <a:prstGeom prst="roundRect">
            <a:avLst>
              <a:gd name="adj" fmla="val 3846"/>
            </a:avLst>
          </a:prstGeom>
          <a:solidFill>
            <a:srgbClr val="F1F5FA"/>
          </a:solidFill>
          <a:ln w="15875">
            <a:solidFill>
              <a:srgbClr val="2F6093"/>
            </a:solidFill>
            <a:prstDash val="solid"/>
          </a:ln>
          <a:effectLst>
            <a:outerShdw sx="100000" sy="100000" kx="0" ky="0" algn="bl" rotWithShape="0" blurRad="63500" dist="25400" dir="5400000">
              <a:srgbClr val="BBBBBB">
                <a:alpha val="30000"/>
              </a:srgbClr>
            </a:outerShdw>
          </a:effectLst>
        </p:spPr>
      </p:sp>
      <p:sp>
        <p:nvSpPr>
          <p:cNvPr id="7" name="Shape 5"/>
          <p:cNvSpPr/>
          <p:nvPr/>
        </p:nvSpPr>
        <p:spPr>
          <a:xfrm>
            <a:off x="1501902" y="1856232"/>
            <a:ext cx="585216" cy="585216"/>
          </a:xfrm>
          <a:prstGeom prst="ellipse">
            <a:avLst/>
          </a:prstGeom>
          <a:solidFill>
            <a:srgbClr val="1E3D63"/>
          </a:solidFill>
          <a:ln w="25400">
            <a:solidFill>
              <a:srgbClr val="FFFFFF"/>
            </a:solidFill>
            <a:prstDash val="solid"/>
          </a:ln>
        </p:spPr>
      </p:sp>
      <p:sp>
        <p:nvSpPr>
          <p:cNvPr id="8" name="Text 6"/>
          <p:cNvSpPr txBox="1"/>
          <p:nvPr/>
        </p:nvSpPr>
        <p:spPr>
          <a:xfrm>
            <a:off x="1501902" y="185623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1</a:t>
            </a:r>
            <a:endParaRPr lang="en-US" sz="2200" dirty="0"/>
          </a:p>
        </p:txBody>
      </p:sp>
      <p:sp>
        <p:nvSpPr>
          <p:cNvPr id="9" name="Text 7"/>
          <p:cNvSpPr txBox="1"/>
          <p:nvPr/>
        </p:nvSpPr>
        <p:spPr>
          <a:xfrm>
            <a:off x="612648" y="2606040"/>
            <a:ext cx="2363724" cy="548640"/>
          </a:xfrm>
          <a:prstGeom prst="rect">
            <a:avLst/>
          </a:prstGeom>
          <a:noFill/>
          <a:ln/>
        </p:spPr>
        <p:txBody>
          <a:bodyPr wrap="square" lIns="0" tIns="0" rIns="0" bIns="0" rtlCol="0" anchor="ctr"/>
          <a:lstStyle/>
          <a:p>
            <a:pPr algn="ctr" indent="0" marL="0">
              <a:lnSpc>
                <a:spcPct val="110000"/>
              </a:lnSpc>
              <a:buNone/>
            </a:pPr>
            <a:r>
              <a:rPr lang="en-US" sz="1600" b="1" dirty="0">
                <a:solidFill>
                  <a:srgbClr val="1E3D63"/>
                </a:solidFill>
                <a:latin typeface="Microsoft YaHei" pitchFamily="34" charset="0"/>
                <a:ea typeface="Microsoft YaHei" pitchFamily="34" charset="-122"/>
                <a:cs typeface="Microsoft YaHei" pitchFamily="34" charset="-120"/>
              </a:rPr>
              <a:t>数据采集</a:t>
            </a:r>
            <a:endParaRPr lang="en-US" sz="1600" dirty="0"/>
          </a:p>
        </p:txBody>
      </p:sp>
      <p:sp>
        <p:nvSpPr>
          <p:cNvPr id="10" name="Text 8"/>
          <p:cNvSpPr txBox="1"/>
          <p:nvPr/>
        </p:nvSpPr>
        <p:spPr>
          <a:xfrm>
            <a:off x="667512" y="3200400"/>
            <a:ext cx="2253996" cy="1188720"/>
          </a:xfrm>
          <a:prstGeom prst="rect">
            <a:avLst/>
          </a:prstGeom>
          <a:noFill/>
          <a:ln/>
        </p:spPr>
        <p:txBody>
          <a:bodyPr wrap="square" lIns="0" tIns="0" rIns="0" bIns="0" rtlCol="0" anchor="t"/>
          <a:lstStyle/>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2024 年下半年开展</a:t>
            </a:r>
            <a:endParaRPr lang="en-US" sz="1400" dirty="0"/>
          </a:p>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参与者先完成英语任务</a:t>
            </a:r>
            <a:endParaRPr lang="en-US" sz="1400" dirty="0"/>
          </a:p>
        </p:txBody>
      </p:sp>
      <p:sp>
        <p:nvSpPr>
          <p:cNvPr id="11" name="Shape 9"/>
          <p:cNvSpPr/>
          <p:nvPr/>
        </p:nvSpPr>
        <p:spPr>
          <a:xfrm>
            <a:off x="3104388" y="3218688"/>
            <a:ext cx="237744" cy="237744"/>
          </a:xfrm>
          <a:prstGeom prst="rightArrow">
            <a:avLst/>
          </a:prstGeom>
          <a:solidFill>
            <a:srgbClr val="2F6093"/>
          </a:solidFill>
          <a:ln/>
        </p:spPr>
      </p:sp>
      <p:sp>
        <p:nvSpPr>
          <p:cNvPr id="12" name="Shape 10"/>
          <p:cNvSpPr/>
          <p:nvPr/>
        </p:nvSpPr>
        <p:spPr>
          <a:xfrm>
            <a:off x="3360420" y="2148840"/>
            <a:ext cx="2583180" cy="2377440"/>
          </a:xfrm>
          <a:prstGeom prst="roundRect">
            <a:avLst>
              <a:gd name="adj" fmla="val 3846"/>
            </a:avLst>
          </a:prstGeom>
          <a:solidFill>
            <a:srgbClr val="E7EDF4"/>
          </a:solidFill>
          <a:ln w="15875">
            <a:solidFill>
              <a:srgbClr val="2F6093"/>
            </a:solidFill>
            <a:prstDash val="solid"/>
          </a:ln>
          <a:effectLst>
            <a:outerShdw sx="100000" sy="100000" kx="0" ky="0" algn="bl" rotWithShape="0" blurRad="63500" dist="25400" dir="5400000">
              <a:srgbClr val="BBBBBB">
                <a:alpha val="30000"/>
              </a:srgbClr>
            </a:outerShdw>
          </a:effectLst>
        </p:spPr>
      </p:sp>
      <p:sp>
        <p:nvSpPr>
          <p:cNvPr id="13" name="Shape 11"/>
          <p:cNvSpPr/>
          <p:nvPr/>
        </p:nvSpPr>
        <p:spPr>
          <a:xfrm>
            <a:off x="4359402" y="1856232"/>
            <a:ext cx="585216" cy="585216"/>
          </a:xfrm>
          <a:prstGeom prst="ellipse">
            <a:avLst/>
          </a:prstGeom>
          <a:solidFill>
            <a:srgbClr val="1E3D63"/>
          </a:solidFill>
          <a:ln w="25400">
            <a:solidFill>
              <a:srgbClr val="FFFFFF"/>
            </a:solidFill>
            <a:prstDash val="solid"/>
          </a:ln>
        </p:spPr>
      </p:sp>
      <p:sp>
        <p:nvSpPr>
          <p:cNvPr id="14" name="Text 12"/>
          <p:cNvSpPr txBox="1"/>
          <p:nvPr/>
        </p:nvSpPr>
        <p:spPr>
          <a:xfrm>
            <a:off x="4359402" y="185623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2</a:t>
            </a:r>
            <a:endParaRPr lang="en-US" sz="2200" dirty="0"/>
          </a:p>
        </p:txBody>
      </p:sp>
      <p:sp>
        <p:nvSpPr>
          <p:cNvPr id="15" name="Text 13"/>
          <p:cNvSpPr txBox="1"/>
          <p:nvPr/>
        </p:nvSpPr>
        <p:spPr>
          <a:xfrm>
            <a:off x="3470148" y="2606040"/>
            <a:ext cx="2363724" cy="548640"/>
          </a:xfrm>
          <a:prstGeom prst="rect">
            <a:avLst/>
          </a:prstGeom>
          <a:noFill/>
          <a:ln/>
        </p:spPr>
        <p:txBody>
          <a:bodyPr wrap="square" lIns="0" tIns="0" rIns="0" bIns="0" rtlCol="0" anchor="ctr"/>
          <a:lstStyle/>
          <a:p>
            <a:pPr algn="ctr" indent="0" marL="0">
              <a:lnSpc>
                <a:spcPct val="110000"/>
              </a:lnSpc>
              <a:buNone/>
            </a:pPr>
            <a:r>
              <a:rPr lang="en-US" sz="1600" b="1" dirty="0">
                <a:solidFill>
                  <a:srgbClr val="1E3D63"/>
                </a:solidFill>
                <a:latin typeface="Microsoft YaHei" pitchFamily="34" charset="0"/>
                <a:ea typeface="Microsoft YaHei" pitchFamily="34" charset="-122"/>
                <a:cs typeface="Microsoft YaHei" pitchFamily="34" charset="-120"/>
              </a:rPr>
              <a:t>时间间隔</a:t>
            </a:r>
            <a:endParaRPr lang="en-US" sz="1600" dirty="0"/>
          </a:p>
        </p:txBody>
      </p:sp>
      <p:sp>
        <p:nvSpPr>
          <p:cNvPr id="16" name="Text 14"/>
          <p:cNvSpPr txBox="1"/>
          <p:nvPr/>
        </p:nvSpPr>
        <p:spPr>
          <a:xfrm>
            <a:off x="3525012" y="3200400"/>
            <a:ext cx="2253996" cy="1188720"/>
          </a:xfrm>
          <a:prstGeom prst="rect">
            <a:avLst/>
          </a:prstGeom>
          <a:noFill/>
          <a:ln/>
        </p:spPr>
        <p:txBody>
          <a:bodyPr wrap="square" lIns="0" tIns="0" rIns="0" bIns="0" rtlCol="0" anchor="t"/>
          <a:lstStyle/>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约 6 个月后完成汉语</a:t>
            </a:r>
            <a:endParaRPr lang="en-US" sz="1400" dirty="0"/>
          </a:p>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刺激词顺序与要求相同</a:t>
            </a:r>
            <a:endParaRPr lang="en-US" sz="1400" dirty="0"/>
          </a:p>
        </p:txBody>
      </p:sp>
      <p:sp>
        <p:nvSpPr>
          <p:cNvPr id="17" name="Shape 15"/>
          <p:cNvSpPr/>
          <p:nvPr/>
        </p:nvSpPr>
        <p:spPr>
          <a:xfrm>
            <a:off x="5961888" y="3218688"/>
            <a:ext cx="237744" cy="237744"/>
          </a:xfrm>
          <a:prstGeom prst="rightArrow">
            <a:avLst/>
          </a:prstGeom>
          <a:solidFill>
            <a:srgbClr val="2F6093"/>
          </a:solidFill>
          <a:ln/>
        </p:spPr>
      </p:sp>
      <p:sp>
        <p:nvSpPr>
          <p:cNvPr id="18" name="Shape 16"/>
          <p:cNvSpPr/>
          <p:nvPr/>
        </p:nvSpPr>
        <p:spPr>
          <a:xfrm>
            <a:off x="6217920" y="2148840"/>
            <a:ext cx="2583180" cy="2377440"/>
          </a:xfrm>
          <a:prstGeom prst="roundRect">
            <a:avLst>
              <a:gd name="adj" fmla="val 3846"/>
            </a:avLst>
          </a:prstGeom>
          <a:solidFill>
            <a:srgbClr val="F1F5FA"/>
          </a:solidFill>
          <a:ln w="15875">
            <a:solidFill>
              <a:srgbClr val="2F6093"/>
            </a:solidFill>
            <a:prstDash val="solid"/>
          </a:ln>
          <a:effectLst>
            <a:outerShdw sx="100000" sy="100000" kx="0" ky="0" algn="bl" rotWithShape="0" blurRad="63500" dist="25400" dir="5400000">
              <a:srgbClr val="BBBBBB">
                <a:alpha val="30000"/>
              </a:srgbClr>
            </a:outerShdw>
          </a:effectLst>
        </p:spPr>
      </p:sp>
      <p:sp>
        <p:nvSpPr>
          <p:cNvPr id="19" name="Shape 17"/>
          <p:cNvSpPr/>
          <p:nvPr/>
        </p:nvSpPr>
        <p:spPr>
          <a:xfrm>
            <a:off x="7216902" y="1856232"/>
            <a:ext cx="585216" cy="585216"/>
          </a:xfrm>
          <a:prstGeom prst="ellipse">
            <a:avLst/>
          </a:prstGeom>
          <a:solidFill>
            <a:srgbClr val="1E3D63"/>
          </a:solidFill>
          <a:ln w="25400">
            <a:solidFill>
              <a:srgbClr val="FFFFFF"/>
            </a:solidFill>
            <a:prstDash val="solid"/>
          </a:ln>
        </p:spPr>
      </p:sp>
      <p:sp>
        <p:nvSpPr>
          <p:cNvPr id="20" name="Text 18"/>
          <p:cNvSpPr txBox="1"/>
          <p:nvPr/>
        </p:nvSpPr>
        <p:spPr>
          <a:xfrm>
            <a:off x="7216902" y="185623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3</a:t>
            </a:r>
            <a:endParaRPr lang="en-US" sz="2200" dirty="0"/>
          </a:p>
        </p:txBody>
      </p:sp>
      <p:sp>
        <p:nvSpPr>
          <p:cNvPr id="21" name="Text 19"/>
          <p:cNvSpPr txBox="1"/>
          <p:nvPr/>
        </p:nvSpPr>
        <p:spPr>
          <a:xfrm>
            <a:off x="6327648" y="2606040"/>
            <a:ext cx="2363724" cy="548640"/>
          </a:xfrm>
          <a:prstGeom prst="rect">
            <a:avLst/>
          </a:prstGeom>
          <a:noFill/>
          <a:ln/>
        </p:spPr>
        <p:txBody>
          <a:bodyPr wrap="square" lIns="0" tIns="0" rIns="0" bIns="0" rtlCol="0" anchor="ctr"/>
          <a:lstStyle/>
          <a:p>
            <a:pPr algn="ctr" indent="0" marL="0">
              <a:lnSpc>
                <a:spcPct val="110000"/>
              </a:lnSpc>
              <a:buNone/>
            </a:pPr>
            <a:r>
              <a:rPr lang="en-US" sz="1600" b="1" dirty="0">
                <a:solidFill>
                  <a:srgbClr val="1E3D63"/>
                </a:solidFill>
                <a:latin typeface="Microsoft YaHei" pitchFamily="34" charset="0"/>
                <a:ea typeface="Microsoft YaHei" pitchFamily="34" charset="-122"/>
                <a:cs typeface="Microsoft YaHei" pitchFamily="34" charset="-120"/>
              </a:rPr>
              <a:t>反应数量</a:t>
            </a:r>
            <a:endParaRPr lang="en-US" sz="1600" dirty="0"/>
          </a:p>
        </p:txBody>
      </p:sp>
      <p:sp>
        <p:nvSpPr>
          <p:cNvPr id="22" name="Text 20"/>
          <p:cNvSpPr txBox="1"/>
          <p:nvPr/>
        </p:nvSpPr>
        <p:spPr>
          <a:xfrm>
            <a:off x="6382512" y="3200400"/>
            <a:ext cx="2253996" cy="1188720"/>
          </a:xfrm>
          <a:prstGeom prst="rect">
            <a:avLst/>
          </a:prstGeom>
          <a:noFill/>
          <a:ln/>
        </p:spPr>
        <p:txBody>
          <a:bodyPr wrap="square" lIns="0" tIns="0" rIns="0" bIns="0" rtlCol="0" anchor="t"/>
          <a:lstStyle/>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30–60 岁：每语言 2700</a:t>
            </a:r>
            <a:endParaRPr lang="en-US" sz="1400" dirty="0"/>
          </a:p>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61–70 岁：每语言 2430</a:t>
            </a:r>
            <a:endParaRPr lang="en-US" sz="1400" dirty="0"/>
          </a:p>
        </p:txBody>
      </p:sp>
      <p:sp>
        <p:nvSpPr>
          <p:cNvPr id="23" name="Shape 21"/>
          <p:cNvSpPr/>
          <p:nvPr/>
        </p:nvSpPr>
        <p:spPr>
          <a:xfrm>
            <a:off x="8819388" y="3218688"/>
            <a:ext cx="237744" cy="237744"/>
          </a:xfrm>
          <a:prstGeom prst="rightArrow">
            <a:avLst/>
          </a:prstGeom>
          <a:solidFill>
            <a:srgbClr val="2F6093"/>
          </a:solidFill>
          <a:ln/>
        </p:spPr>
      </p:sp>
      <p:sp>
        <p:nvSpPr>
          <p:cNvPr id="24" name="Shape 22"/>
          <p:cNvSpPr/>
          <p:nvPr/>
        </p:nvSpPr>
        <p:spPr>
          <a:xfrm>
            <a:off x="9075420" y="2148840"/>
            <a:ext cx="2583180" cy="2377440"/>
          </a:xfrm>
          <a:prstGeom prst="roundRect">
            <a:avLst>
              <a:gd name="adj" fmla="val 3846"/>
            </a:avLst>
          </a:prstGeom>
          <a:solidFill>
            <a:srgbClr val="E7EDF4"/>
          </a:solidFill>
          <a:ln w="15875">
            <a:solidFill>
              <a:srgbClr val="2F6093"/>
            </a:solidFill>
            <a:prstDash val="solid"/>
          </a:ln>
          <a:effectLst>
            <a:outerShdw sx="100000" sy="100000" kx="0" ky="0" algn="bl" rotWithShape="0" blurRad="63500" dist="25400" dir="5400000">
              <a:srgbClr val="BBBBBB">
                <a:alpha val="30000"/>
              </a:srgbClr>
            </a:outerShdw>
          </a:effectLst>
        </p:spPr>
      </p:sp>
      <p:sp>
        <p:nvSpPr>
          <p:cNvPr id="25" name="Shape 23"/>
          <p:cNvSpPr/>
          <p:nvPr/>
        </p:nvSpPr>
        <p:spPr>
          <a:xfrm>
            <a:off x="10074402" y="1856232"/>
            <a:ext cx="585216" cy="585216"/>
          </a:xfrm>
          <a:prstGeom prst="ellipse">
            <a:avLst/>
          </a:prstGeom>
          <a:solidFill>
            <a:srgbClr val="1E3D63"/>
          </a:solidFill>
          <a:ln w="25400">
            <a:solidFill>
              <a:srgbClr val="FFFFFF"/>
            </a:solidFill>
            <a:prstDash val="solid"/>
          </a:ln>
        </p:spPr>
      </p:sp>
      <p:sp>
        <p:nvSpPr>
          <p:cNvPr id="26" name="Text 24"/>
          <p:cNvSpPr txBox="1"/>
          <p:nvPr/>
        </p:nvSpPr>
        <p:spPr>
          <a:xfrm>
            <a:off x="10074402" y="185623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4</a:t>
            </a:r>
            <a:endParaRPr lang="en-US" sz="2200" dirty="0"/>
          </a:p>
        </p:txBody>
      </p:sp>
      <p:sp>
        <p:nvSpPr>
          <p:cNvPr id="27" name="Text 25"/>
          <p:cNvSpPr txBox="1"/>
          <p:nvPr/>
        </p:nvSpPr>
        <p:spPr>
          <a:xfrm>
            <a:off x="9185148" y="2606040"/>
            <a:ext cx="2363724" cy="548640"/>
          </a:xfrm>
          <a:prstGeom prst="rect">
            <a:avLst/>
          </a:prstGeom>
          <a:noFill/>
          <a:ln/>
        </p:spPr>
        <p:txBody>
          <a:bodyPr wrap="square" lIns="0" tIns="0" rIns="0" bIns="0" rtlCol="0" anchor="ctr"/>
          <a:lstStyle/>
          <a:p>
            <a:pPr algn="ctr" indent="0" marL="0">
              <a:lnSpc>
                <a:spcPct val="110000"/>
              </a:lnSpc>
              <a:buNone/>
            </a:pPr>
            <a:r>
              <a:rPr lang="en-US" sz="1600" b="1" dirty="0">
                <a:solidFill>
                  <a:srgbClr val="1E3D63"/>
                </a:solidFill>
                <a:latin typeface="Microsoft YaHei" pitchFamily="34" charset="0"/>
                <a:ea typeface="Microsoft YaHei" pitchFamily="34" charset="-122"/>
                <a:cs typeface="Microsoft YaHei" pitchFamily="34" charset="-120"/>
              </a:rPr>
              <a:t>数据处理</a:t>
            </a:r>
            <a:endParaRPr lang="en-US" sz="1600" dirty="0"/>
          </a:p>
        </p:txBody>
      </p:sp>
      <p:sp>
        <p:nvSpPr>
          <p:cNvPr id="28" name="Text 26"/>
          <p:cNvSpPr txBox="1"/>
          <p:nvPr/>
        </p:nvSpPr>
        <p:spPr>
          <a:xfrm>
            <a:off x="9240012" y="3200400"/>
            <a:ext cx="2253996" cy="1188720"/>
          </a:xfrm>
          <a:prstGeom prst="rect">
            <a:avLst/>
          </a:prstGeom>
          <a:noFill/>
          <a:ln/>
        </p:spPr>
        <p:txBody>
          <a:bodyPr wrap="square" lIns="0" tIns="0" rIns="0" bIns="0" rtlCol="0" anchor="t"/>
          <a:lstStyle/>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英：美式、拼写、词形还原</a:t>
            </a:r>
            <a:endParaRPr lang="en-US" sz="1400" dirty="0"/>
          </a:p>
          <a:p>
            <a:pPr algn="ctr" indent="0" marL="0">
              <a:lnSpc>
                <a:spcPct val="125000"/>
              </a:lnSpc>
              <a:buNone/>
            </a:pPr>
            <a:r>
              <a:rPr lang="en-US" sz="1400" dirty="0">
                <a:solidFill>
                  <a:srgbClr val="20262E"/>
                </a:solidFill>
                <a:latin typeface="Microsoft YaHei" pitchFamily="34" charset="0"/>
                <a:ea typeface="Microsoft YaHei" pitchFamily="34" charset="-122"/>
                <a:cs typeface="Microsoft YaHei" pitchFamily="34" charset="-120"/>
              </a:rPr>
              <a:t>汉：按需删除形容词后的“的”</a:t>
            </a:r>
            <a:endParaRPr lang="en-US" sz="1400" dirty="0"/>
          </a:p>
        </p:txBody>
      </p:sp>
      <p:sp>
        <p:nvSpPr>
          <p:cNvPr id="29" name="Text 27"/>
          <p:cNvSpPr txBox="1"/>
          <p:nvPr/>
        </p:nvSpPr>
        <p:spPr>
          <a:xfrm>
            <a:off x="502920" y="4892040"/>
            <a:ext cx="11155680" cy="457200"/>
          </a:xfrm>
          <a:prstGeom prst="rect">
            <a:avLst/>
          </a:prstGeom>
          <a:noFill/>
          <a:ln/>
        </p:spPr>
        <p:txBody>
          <a:bodyPr wrap="square" lIns="0" tIns="0" rIns="0" bIns="0" rtlCol="0" anchor="ctr"/>
          <a:lstStyle/>
          <a:p>
            <a:pPr algn="l" indent="0" marL="0">
              <a:lnSpc>
                <a:spcPct val="120000"/>
              </a:lnSpc>
              <a:buNone/>
            </a:pPr>
            <a:r>
              <a:rPr lang="en-US" sz="1400" b="1" dirty="0">
                <a:solidFill>
                  <a:srgbClr val="2F6093"/>
                </a:solidFill>
                <a:latin typeface="Microsoft YaHei" pitchFamily="34" charset="0"/>
                <a:ea typeface="Microsoft YaHei" pitchFamily="34" charset="-122"/>
                <a:cs typeface="Microsoft YaHei" pitchFamily="34" charset="-120"/>
              </a:rPr>
              <a:t>※ </a:t>
            </a:r>
            <a:pPr algn="l" indent="0" marL="0">
              <a:lnSpc>
                <a:spcPct val="120000"/>
              </a:lnSpc>
              <a:buNone/>
            </a:pPr>
            <a:r>
              <a:rPr lang="en-US" sz="1400" dirty="0">
                <a:solidFill>
                  <a:srgbClr val="6B6B6B"/>
                </a:solidFill>
                <a:latin typeface="Microsoft YaHei" pitchFamily="34" charset="0"/>
                <a:ea typeface="Microsoft YaHei" pitchFamily="34" charset="-122"/>
                <a:cs typeface="Microsoft YaHei" pitchFamily="34" charset="-120"/>
              </a:rPr>
              <a:t>两次任务采用相同刺激词顺序与作答要求，确保母语与二语网络可比。</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数据分析</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9</a:t>
            </a:r>
            <a:endParaRPr lang="en-US" sz="950" dirty="0"/>
          </a:p>
        </p:txBody>
      </p:sp>
      <p:sp>
        <p:nvSpPr>
          <p:cNvPr id="6" name="Shape 4"/>
          <p:cNvSpPr/>
          <p:nvPr/>
        </p:nvSpPr>
        <p:spPr>
          <a:xfrm>
            <a:off x="502920" y="1417320"/>
            <a:ext cx="5440680"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77240" y="1728216"/>
            <a:ext cx="164592" cy="164592"/>
          </a:xfrm>
          <a:prstGeom prst="ellipse">
            <a:avLst/>
          </a:prstGeom>
          <a:solidFill>
            <a:srgbClr val="2F6093"/>
          </a:solidFill>
          <a:ln/>
        </p:spPr>
      </p:sp>
      <p:sp>
        <p:nvSpPr>
          <p:cNvPr id="8" name="Text 6"/>
          <p:cNvSpPr txBox="1"/>
          <p:nvPr/>
        </p:nvSpPr>
        <p:spPr>
          <a:xfrm>
            <a:off x="1051560" y="1600200"/>
            <a:ext cx="4663440"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网络构建</a:t>
            </a:r>
            <a:endParaRPr lang="en-US" sz="1900" dirty="0"/>
          </a:p>
        </p:txBody>
      </p:sp>
      <p:sp>
        <p:nvSpPr>
          <p:cNvPr id="9" name="Text 7"/>
          <p:cNvSpPr txBox="1"/>
          <p:nvPr/>
        </p:nvSpPr>
        <p:spPr>
          <a:xfrm>
            <a:off x="795528" y="2130552"/>
            <a:ext cx="4855464"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采用反应词—反应词网络。节点为独特反应词；同一刺激词下共同出现的反应词形成边；边权表示词对共同出现于不同刺激词下的次数。</a:t>
            </a:r>
            <a:endParaRPr lang="en-US" sz="1800" dirty="0"/>
          </a:p>
        </p:txBody>
      </p:sp>
      <p:sp>
        <p:nvSpPr>
          <p:cNvPr id="10" name="Shape 8"/>
          <p:cNvSpPr/>
          <p:nvPr/>
        </p:nvSpPr>
        <p:spPr>
          <a:xfrm>
            <a:off x="6217920" y="1417320"/>
            <a:ext cx="5468112"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92240" y="1728216"/>
            <a:ext cx="164592" cy="164592"/>
          </a:xfrm>
          <a:prstGeom prst="ellipse">
            <a:avLst/>
          </a:prstGeom>
          <a:solidFill>
            <a:srgbClr val="2F6093"/>
          </a:solidFill>
          <a:ln/>
        </p:spPr>
      </p:sp>
      <p:sp>
        <p:nvSpPr>
          <p:cNvPr id="12" name="Text 10"/>
          <p:cNvSpPr txBox="1"/>
          <p:nvPr/>
        </p:nvSpPr>
        <p:spPr>
          <a:xfrm>
            <a:off x="6766560" y="1600200"/>
            <a:ext cx="4690872"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指标与统计</a:t>
            </a:r>
            <a:endParaRPr lang="en-US" sz="1900" dirty="0"/>
          </a:p>
        </p:txBody>
      </p:sp>
      <p:sp>
        <p:nvSpPr>
          <p:cNvPr id="13" name="Text 11"/>
          <p:cNvSpPr txBox="1"/>
          <p:nvPr/>
        </p:nvSpPr>
        <p:spPr>
          <a:xfrm>
            <a:off x="6510528" y="2130552"/>
            <a:ext cx="4882896"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计算平均度〈k〉、平均最短路径 L、聚类系数 C 和模块度 Q。每个原始网络抽取 100 个含 1000 节点的 BFS 子图以控制网络规模；通过年龄组 × 语言分析检验主效应和交互作用。</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研究结果（RQ1）年龄效应</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10</a:t>
            </a:r>
            <a:endParaRPr lang="en-US" sz="950" dirty="0"/>
          </a:p>
        </p:txBody>
      </p:sp>
      <p:sp>
        <p:nvSpPr>
          <p:cNvPr id="6" name="Shape 4"/>
          <p:cNvSpPr/>
          <p:nvPr/>
        </p:nvSpPr>
        <p:spPr>
          <a:xfrm>
            <a:off x="502920" y="1389888"/>
            <a:ext cx="292608" cy="292608"/>
          </a:xfrm>
          <a:prstGeom prst="ellipse">
            <a:avLst/>
          </a:prstGeom>
          <a:solidFill>
            <a:srgbClr val="2F6093"/>
          </a:solidFill>
          <a:ln/>
        </p:spPr>
      </p:sp>
      <p:sp>
        <p:nvSpPr>
          <p:cNvPr id="7" name="Text 5"/>
          <p:cNvSpPr txBox="1"/>
          <p:nvPr/>
        </p:nvSpPr>
        <p:spPr>
          <a:xfrm>
            <a:off x="502920" y="13898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8" name="Text 6"/>
          <p:cNvSpPr txBox="1"/>
          <p:nvPr/>
        </p:nvSpPr>
        <p:spPr>
          <a:xfrm>
            <a:off x="960120" y="1371600"/>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四项网络指标均存在显著年龄效应（均 p &lt; .001），变化并非线性下降。</a:t>
            </a:r>
            <a:endParaRPr lang="en-US" sz="1500" dirty="0"/>
          </a:p>
        </p:txBody>
      </p:sp>
      <p:sp>
        <p:nvSpPr>
          <p:cNvPr id="9" name="Shape 7"/>
          <p:cNvSpPr/>
          <p:nvPr/>
        </p:nvSpPr>
        <p:spPr>
          <a:xfrm>
            <a:off x="502920" y="1993392"/>
            <a:ext cx="292608" cy="292608"/>
          </a:xfrm>
          <a:prstGeom prst="ellipse">
            <a:avLst/>
          </a:prstGeom>
          <a:solidFill>
            <a:srgbClr val="2F6093"/>
          </a:solidFill>
          <a:ln/>
        </p:spPr>
      </p:sp>
      <p:sp>
        <p:nvSpPr>
          <p:cNvPr id="10" name="Text 8"/>
          <p:cNvSpPr txBox="1"/>
          <p:nvPr/>
        </p:nvSpPr>
        <p:spPr>
          <a:xfrm>
            <a:off x="502920" y="19933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1" name="Text 9"/>
          <p:cNvSpPr txBox="1"/>
          <p:nvPr/>
        </p:nvSpPr>
        <p:spPr>
          <a:xfrm>
            <a:off x="960120" y="1975104"/>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平均度在 41–50 岁达到峰值；平均最短路径在中年阶段较短，随后回升。</a:t>
            </a:r>
            <a:endParaRPr lang="en-US" sz="1500" dirty="0"/>
          </a:p>
        </p:txBody>
      </p:sp>
      <p:sp>
        <p:nvSpPr>
          <p:cNvPr id="12" name="Shape 10"/>
          <p:cNvSpPr/>
          <p:nvPr/>
        </p:nvSpPr>
        <p:spPr>
          <a:xfrm>
            <a:off x="502920" y="2596896"/>
            <a:ext cx="292608" cy="292608"/>
          </a:xfrm>
          <a:prstGeom prst="ellipse">
            <a:avLst/>
          </a:prstGeom>
          <a:solidFill>
            <a:srgbClr val="2F6093"/>
          </a:solidFill>
          <a:ln/>
        </p:spPr>
      </p:sp>
      <p:sp>
        <p:nvSpPr>
          <p:cNvPr id="13" name="Text 11"/>
          <p:cNvSpPr txBox="1"/>
          <p:nvPr/>
        </p:nvSpPr>
        <p:spPr>
          <a:xfrm>
            <a:off x="502920" y="25968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4" name="Text 12"/>
          <p:cNvSpPr txBox="1"/>
          <p:nvPr/>
        </p:nvSpPr>
        <p:spPr>
          <a:xfrm>
            <a:off x="960120" y="2578608"/>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聚类系数与模块度总体呈 U 形或阶段性波动，晚年母语网络模块度明显升高。</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3456432"/>
          <a:ext cx="5760720" cy="914400"/>
        </p:xfrm>
        <a:graphic>
          <a:graphicData uri="http://schemas.openxmlformats.org/drawingml/2006/table">
            <a:tbl>
              <a:tblPr/>
              <a:tblGrid>
                <a:gridCol w="1463040"/>
                <a:gridCol w="914400"/>
                <a:gridCol w="822960"/>
                <a:gridCol w="822960"/>
                <a:gridCol w="822960"/>
                <a:gridCol w="822960"/>
              </a:tblGrid>
              <a:tr h="274320">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指标</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语言</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30–40</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41–50</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51–60</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61–70</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平均度〈k〉</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母语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59.27</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63.62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62.47</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61.94</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平均度〈k〉</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51.85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63.21</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58.78</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62.35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最短路径 L</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母语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2.565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2.421</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2.382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2.495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最短路径 L</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2.406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2.115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2.326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2.264</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聚类系数 C</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母语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.939</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.930</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.935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.945</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聚类系数 C</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.916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.897</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.917</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.912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模块度 Q</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母语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.746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.721</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.692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.767</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274320">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模块度 Q</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.686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.598</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.718</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.653</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
        <p:nvSpPr>
          <p:cNvPr id="16" name="Shape 13"/>
          <p:cNvSpPr/>
          <p:nvPr/>
        </p:nvSpPr>
        <p:spPr>
          <a:xfrm>
            <a:off x="6501384" y="1563624"/>
            <a:ext cx="2496312" cy="2496312"/>
          </a:xfrm>
          <a:prstGeom prst="roundRect">
            <a:avLst>
              <a:gd name="adj" fmla="val 2198"/>
            </a:avLst>
          </a:prstGeom>
          <a:solidFill>
            <a:srgbClr val="FFFFFF"/>
          </a:solidFill>
          <a:ln w="12700">
            <a:solidFill>
              <a:srgbClr val="2F6093"/>
            </a:solidFill>
            <a:prstDash val="solid"/>
          </a:ln>
          <a:effectLst>
            <a:outerShdw sx="100000" sy="100000" kx="0" ky="0" algn="bl" rotWithShape="0" blurRad="63500" dist="25400" dir="5400000">
              <a:srgbClr val="AAAAAA">
                <a:alpha val="35000"/>
              </a:srgbClr>
            </a:outerShdw>
          </a:effectLst>
        </p:spPr>
      </p:sp>
      <p:pic>
        <p:nvPicPr>
          <p:cNvPr id="17" name="Image 0" descr="/tmp/claude-0/-home-user-NATIONAL-SS-Funding/d399dd62-2b1c-5986-baf9-d080933e5780/scratchpad/ppt-work/assets/net-30汉语.jpg">    </p:cNvPr>
          <p:cNvPicPr>
            <a:picLocks noChangeAspect="1"/>
          </p:cNvPicPr>
          <p:nvPr/>
        </p:nvPicPr>
        <p:blipFill>
          <a:blip r:embed="rId1"/>
          <a:srcRect l="0" r="0" t="0" b="0"/>
          <a:stretch/>
        </p:blipFill>
        <p:spPr>
          <a:xfrm>
            <a:off x="6537960" y="1600200"/>
            <a:ext cx="2423160" cy="2423160"/>
          </a:xfrm>
          <a:prstGeom prst="rect">
            <a:avLst/>
          </a:prstGeom>
        </p:spPr>
      </p:pic>
      <p:sp>
        <p:nvSpPr>
          <p:cNvPr id="18" name="Text 14"/>
          <p:cNvSpPr txBox="1"/>
          <p:nvPr/>
        </p:nvSpPr>
        <p:spPr>
          <a:xfrm>
            <a:off x="6537960" y="4059936"/>
            <a:ext cx="2423160" cy="292608"/>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30–40 岁 · 汉语</a:t>
            </a:r>
            <a:endParaRPr lang="en-US" sz="1350" dirty="0"/>
          </a:p>
        </p:txBody>
      </p:sp>
      <p:sp>
        <p:nvSpPr>
          <p:cNvPr id="19" name="Shape 15"/>
          <p:cNvSpPr/>
          <p:nvPr/>
        </p:nvSpPr>
        <p:spPr>
          <a:xfrm>
            <a:off x="9198864" y="1563624"/>
            <a:ext cx="2496312" cy="2496312"/>
          </a:xfrm>
          <a:prstGeom prst="roundRect">
            <a:avLst>
              <a:gd name="adj" fmla="val 2198"/>
            </a:avLst>
          </a:prstGeom>
          <a:solidFill>
            <a:srgbClr val="FFFFFF"/>
          </a:solidFill>
          <a:ln w="12700">
            <a:solidFill>
              <a:srgbClr val="2F6093"/>
            </a:solidFill>
            <a:prstDash val="solid"/>
          </a:ln>
          <a:effectLst>
            <a:outerShdw sx="100000" sy="100000" kx="0" ky="0" algn="bl" rotWithShape="0" blurRad="63500" dist="25400" dir="5400000">
              <a:srgbClr val="AAAAAA">
                <a:alpha val="35000"/>
              </a:srgbClr>
            </a:outerShdw>
          </a:effectLst>
        </p:spPr>
      </p:sp>
      <p:pic>
        <p:nvPicPr>
          <p:cNvPr id="20" name="Image 1" descr="/tmp/claude-0/-home-user-NATIONAL-SS-Funding/d399dd62-2b1c-5986-baf9-d080933e5780/scratchpad/ppt-work/assets/net-60汉语.jpg">    </p:cNvPr>
          <p:cNvPicPr>
            <a:picLocks noChangeAspect="1"/>
          </p:cNvPicPr>
          <p:nvPr/>
        </p:nvPicPr>
        <p:blipFill>
          <a:blip r:embed="rId2"/>
          <a:srcRect l="0" r="0" t="0" b="0"/>
          <a:stretch/>
        </p:blipFill>
        <p:spPr>
          <a:xfrm>
            <a:off x="9235440" y="1600200"/>
            <a:ext cx="2423160" cy="2423160"/>
          </a:xfrm>
          <a:prstGeom prst="rect">
            <a:avLst/>
          </a:prstGeom>
        </p:spPr>
      </p:pic>
      <p:sp>
        <p:nvSpPr>
          <p:cNvPr id="21" name="Text 16"/>
          <p:cNvSpPr txBox="1"/>
          <p:nvPr/>
        </p:nvSpPr>
        <p:spPr>
          <a:xfrm>
            <a:off x="9235440" y="4059936"/>
            <a:ext cx="2423160" cy="292608"/>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61–70 岁 · 汉语</a:t>
            </a:r>
            <a:endParaRPr lang="en-US" sz="1350" dirty="0"/>
          </a:p>
        </p:txBody>
      </p:sp>
      <p:sp>
        <p:nvSpPr>
          <p:cNvPr id="22" name="Text 17"/>
          <p:cNvSpPr txBox="1"/>
          <p:nvPr/>
        </p:nvSpPr>
        <p:spPr>
          <a:xfrm>
            <a:off x="6537960" y="4480560"/>
            <a:ext cx="5120640" cy="1371600"/>
          </a:xfrm>
          <a:prstGeom prst="rect">
            <a:avLst/>
          </a:prstGeom>
          <a:noFill/>
          <a:ln/>
        </p:spPr>
        <p:txBody>
          <a:bodyPr wrap="square" lIns="0" tIns="0" rIns="0" bIns="0" rtlCol="0" anchor="t"/>
          <a:lstStyle/>
          <a:p>
            <a:pPr algn="l" indent="0" marL="0">
              <a:lnSpc>
                <a:spcPct val="130000"/>
              </a:lnSpc>
              <a:buNone/>
            </a:pPr>
            <a:r>
              <a:rPr lang="en-US" sz="1400" dirty="0">
                <a:solidFill>
                  <a:srgbClr val="20262E"/>
                </a:solidFill>
                <a:latin typeface="Microsoft YaHei" pitchFamily="34" charset="0"/>
                <a:ea typeface="Microsoft YaHei" pitchFamily="34" charset="-122"/>
                <a:cs typeface="Microsoft YaHei" pitchFamily="34" charset="-120"/>
              </a:rPr>
              <a:t>从中年到晚年，母语网络社群分块更清晰——晚年模块度回升，呈现补偿性重组。</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研究结果（RQ2）跨语言差异</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11</a:t>
            </a:r>
            <a:endParaRPr lang="en-US" sz="950" dirty="0"/>
          </a:p>
        </p:txBody>
      </p:sp>
      <p:sp>
        <p:nvSpPr>
          <p:cNvPr id="6" name="Shape 4"/>
          <p:cNvSpPr/>
          <p:nvPr/>
        </p:nvSpPr>
        <p:spPr>
          <a:xfrm>
            <a:off x="502920" y="1389888"/>
            <a:ext cx="292608" cy="292608"/>
          </a:xfrm>
          <a:prstGeom prst="ellipse">
            <a:avLst/>
          </a:prstGeom>
          <a:solidFill>
            <a:srgbClr val="2F6093"/>
          </a:solidFill>
          <a:ln/>
        </p:spPr>
      </p:sp>
      <p:sp>
        <p:nvSpPr>
          <p:cNvPr id="7" name="Text 5"/>
          <p:cNvSpPr txBox="1"/>
          <p:nvPr/>
        </p:nvSpPr>
        <p:spPr>
          <a:xfrm>
            <a:off x="502920" y="13898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8" name="Text 6"/>
          <p:cNvSpPr txBox="1"/>
          <p:nvPr/>
        </p:nvSpPr>
        <p:spPr>
          <a:xfrm>
            <a:off x="960120" y="1371600"/>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语言主效应与年龄 × 语言交互作用在四项指标上均显著（均 p &lt; .001）。</a:t>
            </a:r>
            <a:endParaRPr lang="en-US" sz="1500" dirty="0"/>
          </a:p>
        </p:txBody>
      </p:sp>
      <p:sp>
        <p:nvSpPr>
          <p:cNvPr id="9" name="Shape 7"/>
          <p:cNvSpPr/>
          <p:nvPr/>
        </p:nvSpPr>
        <p:spPr>
          <a:xfrm>
            <a:off x="502920" y="1993392"/>
            <a:ext cx="292608" cy="292608"/>
          </a:xfrm>
          <a:prstGeom prst="ellipse">
            <a:avLst/>
          </a:prstGeom>
          <a:solidFill>
            <a:srgbClr val="2F6093"/>
          </a:solidFill>
          <a:ln/>
        </p:spPr>
      </p:sp>
      <p:sp>
        <p:nvSpPr>
          <p:cNvPr id="10" name="Text 8"/>
          <p:cNvSpPr txBox="1"/>
          <p:nvPr/>
        </p:nvSpPr>
        <p:spPr>
          <a:xfrm>
            <a:off x="502920" y="19933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1" name="Text 9"/>
          <p:cNvSpPr txBox="1"/>
          <p:nvPr/>
        </p:nvSpPr>
        <p:spPr>
          <a:xfrm>
            <a:off x="960120" y="1975104"/>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母语网络整体具有更高的聚类系数和模块度，连接结构更稳定、社群分隔更清晰。</a:t>
            </a:r>
            <a:endParaRPr lang="en-US" sz="1500" dirty="0"/>
          </a:p>
        </p:txBody>
      </p:sp>
      <p:sp>
        <p:nvSpPr>
          <p:cNvPr id="12" name="Shape 10"/>
          <p:cNvSpPr/>
          <p:nvPr/>
        </p:nvSpPr>
        <p:spPr>
          <a:xfrm>
            <a:off x="502920" y="2596896"/>
            <a:ext cx="292608" cy="292608"/>
          </a:xfrm>
          <a:prstGeom prst="ellipse">
            <a:avLst/>
          </a:prstGeom>
          <a:solidFill>
            <a:srgbClr val="2F6093"/>
          </a:solidFill>
          <a:ln/>
        </p:spPr>
      </p:sp>
      <p:sp>
        <p:nvSpPr>
          <p:cNvPr id="13" name="Text 11"/>
          <p:cNvSpPr txBox="1"/>
          <p:nvPr/>
        </p:nvSpPr>
        <p:spPr>
          <a:xfrm>
            <a:off x="502920" y="25968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4" name="Text 12"/>
          <p:cNvSpPr txBox="1"/>
          <p:nvPr/>
        </p:nvSpPr>
        <p:spPr>
          <a:xfrm>
            <a:off x="960120" y="2578608"/>
            <a:ext cx="5303520" cy="603504"/>
          </a:xfrm>
          <a:prstGeom prst="rect">
            <a:avLst/>
          </a:prstGeom>
          <a:noFill/>
          <a:ln/>
        </p:spPr>
        <p:txBody>
          <a:bodyPr wrap="square" lIns="0" tIns="0" rIns="0" bIns="0" rtlCol="0" anchor="t"/>
          <a:lstStyle/>
          <a:p>
            <a:pPr algn="l" indent="0" marL="0">
              <a:lnSpc>
                <a:spcPct val="126000"/>
              </a:lnSpc>
              <a:buNone/>
            </a:pPr>
            <a:r>
              <a:rPr lang="en-US" sz="1500" dirty="0">
                <a:solidFill>
                  <a:srgbClr val="20262E"/>
                </a:solidFill>
                <a:latin typeface="Microsoft YaHei" pitchFamily="34" charset="0"/>
                <a:ea typeface="Microsoft YaHei" pitchFamily="34" charset="-122"/>
                <a:cs typeface="Microsoft YaHei" pitchFamily="34" charset="-120"/>
              </a:rPr>
              <a:t>二语网络的年龄变化幅度更大，尤其体现在平均度和模块度的阶段性波动。</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456432"/>
          <a:ext cx="5760720" cy="914400"/>
        </p:xfrm>
        <a:graphic>
          <a:graphicData uri="http://schemas.openxmlformats.org/drawingml/2006/table">
            <a:tbl>
              <a:tblPr/>
              <a:tblGrid>
                <a:gridCol w="1828800"/>
                <a:gridCol w="1188720"/>
                <a:gridCol w="1188720"/>
                <a:gridCol w="1463040"/>
              </a:tblGrid>
              <a:tr h="384048">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指标</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语言 ηp²</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交互 ηp²</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c>
                  <a:txBody>
                    <a:bodyPr/>
                    <a:lstStyle/>
                    <a:p>
                      <a:pPr algn="l" indent="0" marL="0">
                        <a:buNone/>
                      </a:pPr>
                      <a:r>
                        <a:rPr lang="en-US" sz="1350" b="1" dirty="0">
                          <a:solidFill>
                            <a:srgbClr val="FFFFFF"/>
                          </a:solidFill>
                          <a:latin typeface="Microsoft YaHei" pitchFamily="34" charset="0"/>
                          <a:ea typeface="Microsoft YaHei" pitchFamily="34" charset="-122"/>
                          <a:cs typeface="Microsoft YaHei" pitchFamily="34" charset="-120"/>
                        </a:rPr>
                        <a:t>主要跨语言差异</a:t>
                      </a:r>
                      <a:endParaRPr lang="en-US" sz="135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1E3D63"/>
                    </a:solidFill>
                  </a:tcPr>
                </a:tc>
              </a:tr>
              <a:tr h="384048">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平均度〈k〉</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.802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.821</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多数年龄组母语更高</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最短路径 L</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.796</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.814</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多数年龄组母语更长</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r h="384048">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聚类系数 C</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.973</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.702</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四组均母语 &gt; 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20262E"/>
                          </a:solidFill>
                          <a:latin typeface="Microsoft YaHei" pitchFamily="34" charset="0"/>
                          <a:ea typeface="Microsoft YaHei" pitchFamily="34" charset="-122"/>
                          <a:cs typeface="Microsoft YaHei" pitchFamily="34" charset="-120"/>
                        </a:rPr>
                        <a:t>模块度 Q</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.951</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.820</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c>
                  <a:txBody>
                    <a:bodyPr/>
                    <a:lstStyle/>
                    <a:p>
                      <a:pPr algn="l" indent="0" marL="0">
                        <a:buNone/>
                      </a:pPr>
                      <a:r>
                        <a:rPr lang="en-US" sz="1300" dirty="0">
                          <a:solidFill>
                            <a:srgbClr val="20262E"/>
                          </a:solidFill>
                          <a:latin typeface="Microsoft YaHei" pitchFamily="34" charset="0"/>
                          <a:ea typeface="Microsoft YaHei" pitchFamily="34" charset="-122"/>
                          <a:cs typeface="Microsoft YaHei" pitchFamily="34" charset="-120"/>
                        </a:rPr>
                        <a:t>四组均母语 &gt; 二语</a:t>
                      </a:r>
                      <a:endParaRPr lang="en-US" sz="1300" dirty="0">
                        <a:latin typeface="Microsoft YaHei" charset="0"/>
                        <a:ea typeface="Microsoft YaHei" charset="0"/>
                        <a:cs typeface="Microsoft YaHei" charset="0"/>
                      </a:endParaRPr>
                    </a:p>
                  </a:txBody>
                  <a:tcPr marL="63500" marR="63500" marT="38100" marB="38100" anchor="ctr">
                    <a:lnL w="9525" cap="flat" cmpd="sng" algn="ctr">
                      <a:solidFill>
                        <a:srgbClr val="D8D8D8"/>
                      </a:solidFill>
                      <a:prstDash val="solid"/>
                      <a:round/>
                      <a:headEnd type="none" w="med" len="med"/>
                      <a:tailEnd type="none" w="med" len="med"/>
                    </a:lnL>
                    <a:lnR w="9525" cap="flat" cmpd="sng" algn="ctr">
                      <a:solidFill>
                        <a:srgbClr val="D8D8D8"/>
                      </a:solidFill>
                      <a:prstDash val="solid"/>
                      <a:round/>
                      <a:headEnd type="none" w="med" len="med"/>
                      <a:tailEnd type="none" w="med" len="med"/>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E7EDF4"/>
                    </a:solidFill>
                  </a:tcPr>
                </a:tc>
              </a:tr>
            </a:tbl>
          </a:graphicData>
        </a:graphic>
      </p:graphicFrame>
      <p:sp>
        <p:nvSpPr>
          <p:cNvPr id="16" name="Shape 13"/>
          <p:cNvSpPr/>
          <p:nvPr/>
        </p:nvSpPr>
        <p:spPr>
          <a:xfrm>
            <a:off x="6501384" y="1563624"/>
            <a:ext cx="2496312" cy="2496312"/>
          </a:xfrm>
          <a:prstGeom prst="roundRect">
            <a:avLst>
              <a:gd name="adj" fmla="val 2198"/>
            </a:avLst>
          </a:prstGeom>
          <a:solidFill>
            <a:srgbClr val="FFFFFF"/>
          </a:solidFill>
          <a:ln w="12700">
            <a:solidFill>
              <a:srgbClr val="2F6093"/>
            </a:solidFill>
            <a:prstDash val="solid"/>
          </a:ln>
          <a:effectLst>
            <a:outerShdw sx="100000" sy="100000" kx="0" ky="0" algn="bl" rotWithShape="0" blurRad="63500" dist="25400" dir="5400000">
              <a:srgbClr val="AAAAAA">
                <a:alpha val="35000"/>
              </a:srgbClr>
            </a:outerShdw>
          </a:effectLst>
        </p:spPr>
      </p:sp>
      <p:pic>
        <p:nvPicPr>
          <p:cNvPr id="17" name="Image 0" descr="/tmp/claude-0/-home-user-NATIONAL-SS-Funding/d399dd62-2b1c-5986-baf9-d080933e5780/scratchpad/ppt-work/assets/net-60汉语.jpg">    </p:cNvPr>
          <p:cNvPicPr>
            <a:picLocks noChangeAspect="1"/>
          </p:cNvPicPr>
          <p:nvPr/>
        </p:nvPicPr>
        <p:blipFill>
          <a:blip r:embed="rId1"/>
          <a:srcRect l="0" r="0" t="0" b="0"/>
          <a:stretch/>
        </p:blipFill>
        <p:spPr>
          <a:xfrm>
            <a:off x="6537960" y="1600200"/>
            <a:ext cx="2423160" cy="2423160"/>
          </a:xfrm>
          <a:prstGeom prst="rect">
            <a:avLst/>
          </a:prstGeom>
        </p:spPr>
      </p:pic>
      <p:sp>
        <p:nvSpPr>
          <p:cNvPr id="18" name="Text 14"/>
          <p:cNvSpPr txBox="1"/>
          <p:nvPr/>
        </p:nvSpPr>
        <p:spPr>
          <a:xfrm>
            <a:off x="6537960" y="4059936"/>
            <a:ext cx="2423160" cy="292608"/>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61–70 岁 · 汉语</a:t>
            </a:r>
            <a:endParaRPr lang="en-US" sz="1350" dirty="0"/>
          </a:p>
        </p:txBody>
      </p:sp>
      <p:sp>
        <p:nvSpPr>
          <p:cNvPr id="19" name="Shape 15"/>
          <p:cNvSpPr/>
          <p:nvPr/>
        </p:nvSpPr>
        <p:spPr>
          <a:xfrm>
            <a:off x="9198864" y="1563624"/>
            <a:ext cx="2496312" cy="2496312"/>
          </a:xfrm>
          <a:prstGeom prst="roundRect">
            <a:avLst>
              <a:gd name="adj" fmla="val 2198"/>
            </a:avLst>
          </a:prstGeom>
          <a:solidFill>
            <a:srgbClr val="FFFFFF"/>
          </a:solidFill>
          <a:ln w="12700">
            <a:solidFill>
              <a:srgbClr val="2F6093"/>
            </a:solidFill>
            <a:prstDash val="solid"/>
          </a:ln>
          <a:effectLst>
            <a:outerShdw sx="100000" sy="100000" kx="0" ky="0" algn="bl" rotWithShape="0" blurRad="63500" dist="25400" dir="5400000">
              <a:srgbClr val="AAAAAA">
                <a:alpha val="35000"/>
              </a:srgbClr>
            </a:outerShdw>
          </a:effectLst>
        </p:spPr>
      </p:sp>
      <p:pic>
        <p:nvPicPr>
          <p:cNvPr id="20" name="Image 1" descr="/tmp/claude-0/-home-user-NATIONAL-SS-Funding/d399dd62-2b1c-5986-baf9-d080933e5780/scratchpad/ppt-work/assets/net-60英语.jpg">    </p:cNvPr>
          <p:cNvPicPr>
            <a:picLocks noChangeAspect="1"/>
          </p:cNvPicPr>
          <p:nvPr/>
        </p:nvPicPr>
        <p:blipFill>
          <a:blip r:embed="rId2"/>
          <a:srcRect l="0" r="0" t="0" b="0"/>
          <a:stretch/>
        </p:blipFill>
        <p:spPr>
          <a:xfrm>
            <a:off x="9235440" y="1600200"/>
            <a:ext cx="2423160" cy="2423160"/>
          </a:xfrm>
          <a:prstGeom prst="rect">
            <a:avLst/>
          </a:prstGeom>
        </p:spPr>
      </p:pic>
      <p:sp>
        <p:nvSpPr>
          <p:cNvPr id="21" name="Text 16"/>
          <p:cNvSpPr txBox="1"/>
          <p:nvPr/>
        </p:nvSpPr>
        <p:spPr>
          <a:xfrm>
            <a:off x="9235440" y="4059936"/>
            <a:ext cx="2423160" cy="292608"/>
          </a:xfrm>
          <a:prstGeom prst="rect">
            <a:avLst/>
          </a:prstGeom>
          <a:noFill/>
          <a:ln/>
        </p:spPr>
        <p:txBody>
          <a:bodyPr wrap="square" lIns="0" tIns="0" rIns="0" bIns="0" rtlCol="0" anchor="ctr"/>
          <a:lstStyle/>
          <a:p>
            <a:pPr algn="ctr" indent="0" marL="0">
              <a:buNone/>
            </a:pPr>
            <a:r>
              <a:rPr lang="en-US" sz="1350" b="1" dirty="0">
                <a:solidFill>
                  <a:srgbClr val="1E3D63"/>
                </a:solidFill>
                <a:latin typeface="Microsoft YaHei" pitchFamily="34" charset="0"/>
                <a:ea typeface="Microsoft YaHei" pitchFamily="34" charset="-122"/>
                <a:cs typeface="Microsoft YaHei" pitchFamily="34" charset="-120"/>
              </a:rPr>
              <a:t>61–70 岁 · 英语</a:t>
            </a:r>
            <a:endParaRPr lang="en-US" sz="1350" dirty="0"/>
          </a:p>
        </p:txBody>
      </p:sp>
      <p:sp>
        <p:nvSpPr>
          <p:cNvPr id="22" name="Text 17"/>
          <p:cNvSpPr txBox="1"/>
          <p:nvPr/>
        </p:nvSpPr>
        <p:spPr>
          <a:xfrm>
            <a:off x="6537960" y="4480560"/>
            <a:ext cx="5120640" cy="1371600"/>
          </a:xfrm>
          <a:prstGeom prst="rect">
            <a:avLst/>
          </a:prstGeom>
          <a:noFill/>
          <a:ln/>
        </p:spPr>
        <p:txBody>
          <a:bodyPr wrap="square" lIns="0" tIns="0" rIns="0" bIns="0" rtlCol="0" anchor="t"/>
          <a:lstStyle/>
          <a:p>
            <a:pPr algn="l" indent="0" marL="0">
              <a:lnSpc>
                <a:spcPct val="130000"/>
              </a:lnSpc>
              <a:buNone/>
            </a:pPr>
            <a:r>
              <a:rPr lang="en-US" sz="1400" dirty="0">
                <a:solidFill>
                  <a:srgbClr val="20262E"/>
                </a:solidFill>
                <a:latin typeface="Microsoft YaHei" pitchFamily="34" charset="0"/>
                <a:ea typeface="Microsoft YaHei" pitchFamily="34" charset="-122"/>
                <a:cs typeface="Microsoft YaHei" pitchFamily="34" charset="-120"/>
              </a:rPr>
              <a:t>同一年龄组内，母语网络社群结构更清晰、聚集更强；二语网络结构对年龄更敏感。</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讨论</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12</a:t>
            </a:r>
            <a:endParaRPr lang="en-US" sz="950" dirty="0"/>
          </a:p>
        </p:txBody>
      </p:sp>
      <p:sp>
        <p:nvSpPr>
          <p:cNvPr id="6" name="Shape 4"/>
          <p:cNvSpPr/>
          <p:nvPr/>
        </p:nvSpPr>
        <p:spPr>
          <a:xfrm>
            <a:off x="502920" y="1417320"/>
            <a:ext cx="5440680"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7" name="Shape 5"/>
          <p:cNvSpPr/>
          <p:nvPr/>
        </p:nvSpPr>
        <p:spPr>
          <a:xfrm>
            <a:off x="777240" y="1728216"/>
            <a:ext cx="164592" cy="164592"/>
          </a:xfrm>
          <a:prstGeom prst="ellipse">
            <a:avLst/>
          </a:prstGeom>
          <a:solidFill>
            <a:srgbClr val="2F6093"/>
          </a:solidFill>
          <a:ln/>
        </p:spPr>
      </p:sp>
      <p:sp>
        <p:nvSpPr>
          <p:cNvPr id="8" name="Text 6"/>
          <p:cNvSpPr txBox="1"/>
          <p:nvPr/>
        </p:nvSpPr>
        <p:spPr>
          <a:xfrm>
            <a:off x="1051560" y="1600200"/>
            <a:ext cx="4663440"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年龄轨迹</a:t>
            </a:r>
            <a:endParaRPr lang="en-US" sz="1900" dirty="0"/>
          </a:p>
        </p:txBody>
      </p:sp>
      <p:sp>
        <p:nvSpPr>
          <p:cNvPr id="9" name="Text 7"/>
          <p:cNvSpPr txBox="1"/>
          <p:nvPr/>
        </p:nvSpPr>
        <p:spPr>
          <a:xfrm>
            <a:off x="795528" y="2130552"/>
            <a:ext cx="4855464"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平均度的倒 U 形轨迹与生命周期研究的总体趋势一致，但峰值延后至 41–50 岁；样本持续使用英语且教育程度较高，可能延长网络扩展期（Dubossarsky et al., 2017；Jeong &amp; Hills, 2024）。</a:t>
            </a:r>
            <a:endParaRPr lang="en-US" sz="1800" dirty="0"/>
          </a:p>
        </p:txBody>
      </p:sp>
      <p:sp>
        <p:nvSpPr>
          <p:cNvPr id="10" name="Shape 8"/>
          <p:cNvSpPr/>
          <p:nvPr/>
        </p:nvSpPr>
        <p:spPr>
          <a:xfrm>
            <a:off x="6217920" y="1417320"/>
            <a:ext cx="5468112" cy="4663440"/>
          </a:xfrm>
          <a:prstGeom prst="roundRect">
            <a:avLst>
              <a:gd name="adj" fmla="val 1569"/>
            </a:avLst>
          </a:prstGeom>
          <a:solidFill>
            <a:srgbClr val="F1F5FA"/>
          </a:solidFill>
          <a:ln w="12700">
            <a:solidFill>
              <a:srgbClr val="E7EDF4"/>
            </a:solidFill>
            <a:prstDash val="solid"/>
          </a:ln>
          <a:effectLst>
            <a:outerShdw sx="100000" sy="100000" kx="0" ky="0" algn="bl" rotWithShape="0" blurRad="76200" dist="25400" dir="5400000">
              <a:srgbClr val="BBBBBB">
                <a:alpha val="35000"/>
              </a:srgbClr>
            </a:outerShdw>
          </a:effectLst>
        </p:spPr>
      </p:sp>
      <p:sp>
        <p:nvSpPr>
          <p:cNvPr id="11" name="Shape 9"/>
          <p:cNvSpPr/>
          <p:nvPr/>
        </p:nvSpPr>
        <p:spPr>
          <a:xfrm>
            <a:off x="6492240" y="1728216"/>
            <a:ext cx="164592" cy="164592"/>
          </a:xfrm>
          <a:prstGeom prst="ellipse">
            <a:avLst/>
          </a:prstGeom>
          <a:solidFill>
            <a:srgbClr val="2F6093"/>
          </a:solidFill>
          <a:ln/>
        </p:spPr>
      </p:sp>
      <p:sp>
        <p:nvSpPr>
          <p:cNvPr id="12" name="Text 10"/>
          <p:cNvSpPr txBox="1"/>
          <p:nvPr/>
        </p:nvSpPr>
        <p:spPr>
          <a:xfrm>
            <a:off x="6766560" y="1600200"/>
            <a:ext cx="4690872" cy="420624"/>
          </a:xfrm>
          <a:prstGeom prst="rect">
            <a:avLst/>
          </a:prstGeom>
          <a:noFill/>
          <a:ln/>
        </p:spPr>
        <p:txBody>
          <a:bodyPr wrap="square" lIns="0" tIns="0" rIns="0" bIns="0" rtlCol="0" anchor="ctr"/>
          <a:lstStyle/>
          <a:p>
            <a:pPr algn="l" indent="0" marL="0">
              <a:buNone/>
            </a:pPr>
            <a:r>
              <a:rPr lang="en-US" sz="1900" b="1" dirty="0">
                <a:solidFill>
                  <a:srgbClr val="1E3D63"/>
                </a:solidFill>
                <a:latin typeface="Microsoft YaHei" pitchFamily="34" charset="0"/>
                <a:ea typeface="Microsoft YaHei" pitchFamily="34" charset="-122"/>
                <a:cs typeface="Microsoft YaHei" pitchFamily="34" charset="-120"/>
              </a:rPr>
              <a:t>语言差异与晚年重组</a:t>
            </a:r>
            <a:endParaRPr lang="en-US" sz="1900" dirty="0"/>
          </a:p>
        </p:txBody>
      </p:sp>
      <p:sp>
        <p:nvSpPr>
          <p:cNvPr id="13" name="Text 11"/>
          <p:cNvSpPr txBox="1"/>
          <p:nvPr/>
        </p:nvSpPr>
        <p:spPr>
          <a:xfrm>
            <a:off x="6510528" y="2130552"/>
            <a:ext cx="4882896" cy="3749040"/>
          </a:xfrm>
          <a:prstGeom prst="rect">
            <a:avLst/>
          </a:prstGeom>
          <a:noFill/>
          <a:ln/>
        </p:spPr>
        <p:txBody>
          <a:bodyPr wrap="square" lIns="0" tIns="0" rIns="0" bIns="0" rtlCol="0" anchor="t"/>
          <a:lstStyle/>
          <a:p>
            <a:pPr algn="l" indent="0" marL="0">
              <a:lnSpc>
                <a:spcPct val="136000"/>
              </a:lnSpc>
              <a:buNone/>
            </a:pPr>
            <a:r>
              <a:rPr lang="en-US" sz="1800" dirty="0">
                <a:solidFill>
                  <a:srgbClr val="20262E"/>
                </a:solidFill>
                <a:latin typeface="Microsoft YaHei" pitchFamily="34" charset="0"/>
                <a:ea typeface="Microsoft YaHei" pitchFamily="34" charset="-122"/>
                <a:cs typeface="Microsoft YaHei" pitchFamily="34" charset="-120"/>
              </a:rPr>
              <a:t>母语网络表现出更高的聚集和模块化，反映更成熟的局部连接与社群结构。61–70 岁组模块度升高，可从补偿性重组视角理解，即通过更分隔的子系统维持词汇加工（Reuter-Lorenz &amp; Cappell, 2008；Cosgrove et al., 2023）。二语更明显的波动说明其结构对语言经验和年龄变化更敏感。</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研究启示</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13</a:t>
            </a:r>
            <a:endParaRPr lang="en-US" sz="950" dirty="0"/>
          </a:p>
        </p:txBody>
      </p:sp>
      <p:sp>
        <p:nvSpPr>
          <p:cNvPr id="6" name="Shape 4"/>
          <p:cNvSpPr/>
          <p:nvPr/>
        </p:nvSpPr>
        <p:spPr>
          <a:xfrm>
            <a:off x="548640" y="1417320"/>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7" name="Shape 5"/>
          <p:cNvSpPr/>
          <p:nvPr/>
        </p:nvSpPr>
        <p:spPr>
          <a:xfrm>
            <a:off x="914400" y="1862328"/>
            <a:ext cx="585216" cy="585216"/>
          </a:xfrm>
          <a:prstGeom prst="ellipse">
            <a:avLst/>
          </a:prstGeom>
          <a:solidFill>
            <a:srgbClr val="2F6093"/>
          </a:solidFill>
          <a:ln/>
        </p:spPr>
      </p:sp>
      <p:sp>
        <p:nvSpPr>
          <p:cNvPr id="8" name="Text 6"/>
          <p:cNvSpPr txBox="1"/>
          <p:nvPr/>
        </p:nvSpPr>
        <p:spPr>
          <a:xfrm>
            <a:off x="914400" y="1862328"/>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1</a:t>
            </a:r>
            <a:endParaRPr lang="en-US" sz="2500" dirty="0"/>
          </a:p>
        </p:txBody>
      </p:sp>
      <p:sp>
        <p:nvSpPr>
          <p:cNvPr id="9" name="Text 7"/>
          <p:cNvSpPr txBox="1"/>
          <p:nvPr/>
        </p:nvSpPr>
        <p:spPr>
          <a:xfrm>
            <a:off x="1847088" y="1417320"/>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双语词汇老化具有明显的阶段性，中年并非简单过渡期，而是连接度达峰、网络结构发生转折的重要阶段。</a:t>
            </a:r>
            <a:endParaRPr lang="en-US" sz="2050" dirty="0"/>
          </a:p>
        </p:txBody>
      </p:sp>
      <p:sp>
        <p:nvSpPr>
          <p:cNvPr id="10" name="Shape 8"/>
          <p:cNvSpPr/>
          <p:nvPr/>
        </p:nvSpPr>
        <p:spPr>
          <a:xfrm>
            <a:off x="548640" y="3148584"/>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1" name="Shape 9"/>
          <p:cNvSpPr/>
          <p:nvPr/>
        </p:nvSpPr>
        <p:spPr>
          <a:xfrm>
            <a:off x="914400" y="3593592"/>
            <a:ext cx="585216" cy="585216"/>
          </a:xfrm>
          <a:prstGeom prst="ellipse">
            <a:avLst/>
          </a:prstGeom>
          <a:solidFill>
            <a:srgbClr val="2F6093"/>
          </a:solidFill>
          <a:ln/>
        </p:spPr>
      </p:sp>
      <p:sp>
        <p:nvSpPr>
          <p:cNvPr id="12" name="Text 10"/>
          <p:cNvSpPr txBox="1"/>
          <p:nvPr/>
        </p:nvSpPr>
        <p:spPr>
          <a:xfrm>
            <a:off x="914400" y="3593592"/>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2</a:t>
            </a:r>
            <a:endParaRPr lang="en-US" sz="2500" dirty="0"/>
          </a:p>
        </p:txBody>
      </p:sp>
      <p:sp>
        <p:nvSpPr>
          <p:cNvPr id="13" name="Text 11"/>
          <p:cNvSpPr txBox="1"/>
          <p:nvPr/>
        </p:nvSpPr>
        <p:spPr>
          <a:xfrm>
            <a:off x="1847088" y="3148584"/>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持续的二语使用与高水平认知活动可能延缓部分网络变化，并支持晚年阶段的结构重组。</a:t>
            </a:r>
            <a:endParaRPr lang="en-US" sz="2050" dirty="0"/>
          </a:p>
        </p:txBody>
      </p:sp>
      <p:sp>
        <p:nvSpPr>
          <p:cNvPr id="14" name="Shape 12"/>
          <p:cNvSpPr/>
          <p:nvPr/>
        </p:nvSpPr>
        <p:spPr>
          <a:xfrm>
            <a:off x="548640" y="4879848"/>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5" name="Shape 13"/>
          <p:cNvSpPr/>
          <p:nvPr/>
        </p:nvSpPr>
        <p:spPr>
          <a:xfrm>
            <a:off x="914400" y="5324856"/>
            <a:ext cx="585216" cy="585216"/>
          </a:xfrm>
          <a:prstGeom prst="ellipse">
            <a:avLst/>
          </a:prstGeom>
          <a:solidFill>
            <a:srgbClr val="2F6093"/>
          </a:solidFill>
          <a:ln/>
        </p:spPr>
      </p:sp>
      <p:sp>
        <p:nvSpPr>
          <p:cNvPr id="16" name="Text 14"/>
          <p:cNvSpPr txBox="1"/>
          <p:nvPr/>
        </p:nvSpPr>
        <p:spPr>
          <a:xfrm>
            <a:off x="914400" y="5324856"/>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3</a:t>
            </a:r>
            <a:endParaRPr lang="en-US" sz="2500" dirty="0"/>
          </a:p>
        </p:txBody>
      </p:sp>
      <p:sp>
        <p:nvSpPr>
          <p:cNvPr id="17" name="Text 15"/>
          <p:cNvSpPr txBox="1"/>
          <p:nvPr/>
        </p:nvSpPr>
        <p:spPr>
          <a:xfrm>
            <a:off x="1847088" y="4879848"/>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研究双语老化需同时考察母语与二语，并区分网络规模、全局效率、局部聚集和社群结构等不同维度。</a:t>
            </a:r>
            <a:endParaRPr lang="en-US" sz="2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不足与展望</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14</a:t>
            </a:r>
            <a:endParaRPr lang="en-US" sz="950" dirty="0"/>
          </a:p>
        </p:txBody>
      </p:sp>
      <p:sp>
        <p:nvSpPr>
          <p:cNvPr id="6" name="Shape 4"/>
          <p:cNvSpPr/>
          <p:nvPr/>
        </p:nvSpPr>
        <p:spPr>
          <a:xfrm>
            <a:off x="548640" y="1417320"/>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7" name="Shape 5"/>
          <p:cNvSpPr/>
          <p:nvPr/>
        </p:nvSpPr>
        <p:spPr>
          <a:xfrm>
            <a:off x="914400" y="1862328"/>
            <a:ext cx="585216" cy="585216"/>
          </a:xfrm>
          <a:prstGeom prst="ellipse">
            <a:avLst/>
          </a:prstGeom>
          <a:solidFill>
            <a:srgbClr val="2F6093"/>
          </a:solidFill>
          <a:ln/>
        </p:spPr>
      </p:sp>
      <p:sp>
        <p:nvSpPr>
          <p:cNvPr id="8" name="Text 6"/>
          <p:cNvSpPr txBox="1"/>
          <p:nvPr/>
        </p:nvSpPr>
        <p:spPr>
          <a:xfrm>
            <a:off x="914400" y="1862328"/>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1</a:t>
            </a:r>
            <a:endParaRPr lang="en-US" sz="2500" dirty="0"/>
          </a:p>
        </p:txBody>
      </p:sp>
      <p:sp>
        <p:nvSpPr>
          <p:cNvPr id="9" name="Text 7"/>
          <p:cNvSpPr txBox="1"/>
          <p:nvPr/>
        </p:nvSpPr>
        <p:spPr>
          <a:xfrm>
            <a:off x="1847088" y="1417320"/>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采用群体层面的反应词—反应词网络，尚不能直接揭示个体内部母语与二语网络的对应关系。</a:t>
            </a:r>
            <a:endParaRPr lang="en-US" sz="2050" dirty="0"/>
          </a:p>
        </p:txBody>
      </p:sp>
      <p:sp>
        <p:nvSpPr>
          <p:cNvPr id="10" name="Shape 8"/>
          <p:cNvSpPr/>
          <p:nvPr/>
        </p:nvSpPr>
        <p:spPr>
          <a:xfrm>
            <a:off x="548640" y="3148584"/>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1" name="Shape 9"/>
          <p:cNvSpPr/>
          <p:nvPr/>
        </p:nvSpPr>
        <p:spPr>
          <a:xfrm>
            <a:off x="914400" y="3593592"/>
            <a:ext cx="585216" cy="585216"/>
          </a:xfrm>
          <a:prstGeom prst="ellipse">
            <a:avLst/>
          </a:prstGeom>
          <a:solidFill>
            <a:srgbClr val="2F6093"/>
          </a:solidFill>
          <a:ln/>
        </p:spPr>
      </p:sp>
      <p:sp>
        <p:nvSpPr>
          <p:cNvPr id="12" name="Text 10"/>
          <p:cNvSpPr txBox="1"/>
          <p:nvPr/>
        </p:nvSpPr>
        <p:spPr>
          <a:xfrm>
            <a:off x="914400" y="3593592"/>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2</a:t>
            </a:r>
            <a:endParaRPr lang="en-US" sz="2500" dirty="0"/>
          </a:p>
        </p:txBody>
      </p:sp>
      <p:sp>
        <p:nvSpPr>
          <p:cNvPr id="13" name="Text 11"/>
          <p:cNvSpPr txBox="1"/>
          <p:nvPr/>
        </p:nvSpPr>
        <p:spPr>
          <a:xfrm>
            <a:off x="1847088" y="3148584"/>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样本为高教育水平、语言活动频繁的大学英语教师，且 61–70 岁组人数较少，结论普适性仍需检验。</a:t>
            </a:r>
            <a:endParaRPr lang="en-US" sz="2050" dirty="0"/>
          </a:p>
        </p:txBody>
      </p:sp>
      <p:sp>
        <p:nvSpPr>
          <p:cNvPr id="14" name="Shape 12"/>
          <p:cNvSpPr/>
          <p:nvPr/>
        </p:nvSpPr>
        <p:spPr>
          <a:xfrm>
            <a:off x="548640" y="4879848"/>
            <a:ext cx="11091672" cy="1475232"/>
          </a:xfrm>
          <a:prstGeom prst="roundRect">
            <a:avLst>
              <a:gd name="adj" fmla="val 6198"/>
            </a:avLst>
          </a:prstGeom>
          <a:solidFill>
            <a:srgbClr val="F1F5FA"/>
          </a:solidFill>
          <a:ln w="12700">
            <a:solidFill>
              <a:srgbClr val="E7EDF4"/>
            </a:solidFill>
            <a:prstDash val="solid"/>
          </a:ln>
          <a:effectLst>
            <a:outerShdw sx="100000" sy="100000" kx="0" ky="0" algn="bl" rotWithShape="0" blurRad="76200" dist="25400" dir="5400000">
              <a:srgbClr val="BBBBBB">
                <a:alpha val="30000"/>
              </a:srgbClr>
            </a:outerShdw>
          </a:effectLst>
        </p:spPr>
      </p:sp>
      <p:sp>
        <p:nvSpPr>
          <p:cNvPr id="15" name="Shape 13"/>
          <p:cNvSpPr/>
          <p:nvPr/>
        </p:nvSpPr>
        <p:spPr>
          <a:xfrm>
            <a:off x="914400" y="5324856"/>
            <a:ext cx="585216" cy="585216"/>
          </a:xfrm>
          <a:prstGeom prst="ellipse">
            <a:avLst/>
          </a:prstGeom>
          <a:solidFill>
            <a:srgbClr val="2F6093"/>
          </a:solidFill>
          <a:ln/>
        </p:spPr>
      </p:sp>
      <p:sp>
        <p:nvSpPr>
          <p:cNvPr id="16" name="Text 14"/>
          <p:cNvSpPr txBox="1"/>
          <p:nvPr/>
        </p:nvSpPr>
        <p:spPr>
          <a:xfrm>
            <a:off x="914400" y="5324856"/>
            <a:ext cx="585216" cy="585216"/>
          </a:xfrm>
          <a:prstGeom prst="rect">
            <a:avLst/>
          </a:prstGeom>
          <a:noFill/>
          <a:ln/>
        </p:spPr>
        <p:txBody>
          <a:bodyPr wrap="square" lIns="0" tIns="0" rIns="0" bIns="0" rtlCol="0" anchor="ctr"/>
          <a:lstStyle/>
          <a:p>
            <a:pPr algn="ctr" indent="0" marL="0">
              <a:buNone/>
            </a:pPr>
            <a:r>
              <a:rPr lang="en-US" sz="2500" b="1" dirty="0">
                <a:solidFill>
                  <a:srgbClr val="FFFFFF"/>
                </a:solidFill>
                <a:latin typeface="Microsoft YaHei" pitchFamily="34" charset="0"/>
                <a:ea typeface="Microsoft YaHei" pitchFamily="34" charset="-122"/>
                <a:cs typeface="Microsoft YaHei" pitchFamily="34" charset="-120"/>
              </a:rPr>
              <a:t>3</a:t>
            </a:r>
            <a:endParaRPr lang="en-US" sz="2500" dirty="0"/>
          </a:p>
        </p:txBody>
      </p:sp>
      <p:sp>
        <p:nvSpPr>
          <p:cNvPr id="17" name="Text 15"/>
          <p:cNvSpPr txBox="1"/>
          <p:nvPr/>
        </p:nvSpPr>
        <p:spPr>
          <a:xfrm>
            <a:off x="1847088" y="4879848"/>
            <a:ext cx="9473184" cy="1475232"/>
          </a:xfrm>
          <a:prstGeom prst="rect">
            <a:avLst/>
          </a:prstGeom>
          <a:noFill/>
          <a:ln/>
        </p:spPr>
        <p:txBody>
          <a:bodyPr wrap="square" lIns="0" tIns="0" rIns="0" bIns="0" rtlCol="0" anchor="ctr"/>
          <a:lstStyle/>
          <a:p>
            <a:pPr algn="l" indent="0" marL="0">
              <a:lnSpc>
                <a:spcPct val="128000"/>
              </a:lnSpc>
              <a:buNone/>
            </a:pPr>
            <a:r>
              <a:rPr lang="en-US" sz="2050" dirty="0">
                <a:solidFill>
                  <a:srgbClr val="20262E"/>
                </a:solidFill>
                <a:latin typeface="Microsoft YaHei" pitchFamily="34" charset="0"/>
                <a:ea typeface="Microsoft YaHei" pitchFamily="34" charset="-122"/>
                <a:cs typeface="Microsoft YaHei" pitchFamily="34" charset="-120"/>
              </a:rPr>
              <a:t>认知健康主要依据自我报告；后续可结合个体网络、纵向追踪、标准化认知测评及其他网络构建方式。</a:t>
            </a:r>
            <a:endParaRPr lang="en-US" sz="2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182880" cy="420624"/>
          </a:xfrm>
          <a:prstGeom prst="roundRect">
            <a:avLst>
              <a:gd name="adj" fmla="val 25000"/>
            </a:avLst>
          </a:prstGeom>
          <a:solidFill>
            <a:srgbClr val="2F6093"/>
          </a:solidFill>
          <a:ln/>
        </p:spPr>
      </p:sp>
      <p:sp>
        <p:nvSpPr>
          <p:cNvPr id="3" name="Text 1"/>
          <p:cNvSpPr txBox="1"/>
          <p:nvPr/>
        </p:nvSpPr>
        <p:spPr>
          <a:xfrm>
            <a:off x="786384" y="365760"/>
            <a:ext cx="10881360" cy="603504"/>
          </a:xfrm>
          <a:prstGeom prst="rect">
            <a:avLst/>
          </a:prstGeom>
          <a:noFill/>
          <a:ln/>
        </p:spPr>
        <p:txBody>
          <a:bodyPr wrap="square" lIns="0" tIns="0" rIns="0" bIns="0" rtlCol="0" anchor="ctr"/>
          <a:lstStyle/>
          <a:p>
            <a:pPr algn="l" indent="0" marL="0">
              <a:buNone/>
            </a:pPr>
            <a:r>
              <a:rPr lang="en-US" sz="3000" b="1" dirty="0">
                <a:solidFill>
                  <a:srgbClr val="1E3D63"/>
                </a:solidFill>
                <a:latin typeface="Microsoft YaHei" pitchFamily="34" charset="0"/>
                <a:ea typeface="Microsoft YaHei" pitchFamily="34" charset="-122"/>
                <a:cs typeface="Microsoft YaHei" pitchFamily="34" charset="-120"/>
              </a:rPr>
              <a:t>主要参考文献</a:t>
            </a:r>
            <a:endParaRPr lang="en-US" sz="3000" dirty="0"/>
          </a:p>
        </p:txBody>
      </p:sp>
      <p:sp>
        <p:nvSpPr>
          <p:cNvPr id="4" name="Text 2"/>
          <p:cNvSpPr txBox="1"/>
          <p:nvPr/>
        </p:nvSpPr>
        <p:spPr>
          <a:xfrm>
            <a:off x="502920" y="6464808"/>
            <a:ext cx="5486400" cy="274320"/>
          </a:xfrm>
          <a:prstGeom prst="rect">
            <a:avLst/>
          </a:prstGeom>
          <a:noFill/>
          <a:ln/>
        </p:spPr>
        <p:txBody>
          <a:bodyPr wrap="square" lIns="0" tIns="0" rIns="0" bIns="0" rtlCol="0" anchor="ctr"/>
          <a:lstStyle/>
          <a:p>
            <a:pPr algn="l" indent="0" marL="0">
              <a:buNone/>
            </a:pPr>
            <a:r>
              <a:rPr lang="en-US" sz="950" dirty="0">
                <a:solidFill>
                  <a:srgbClr val="6B6B6B"/>
                </a:solidFill>
                <a:latin typeface="Microsoft YaHei" pitchFamily="34" charset="0"/>
                <a:ea typeface="Microsoft YaHei" pitchFamily="34" charset="-122"/>
                <a:cs typeface="Microsoft YaHei" pitchFamily="34" charset="-120"/>
              </a:rPr>
              <a:t>苏州大学 · 外国语学院</a:t>
            </a:r>
            <a:endParaRPr lang="en-US" sz="950" dirty="0"/>
          </a:p>
        </p:txBody>
      </p:sp>
      <p:sp>
        <p:nvSpPr>
          <p:cNvPr id="5" name="Text 3"/>
          <p:cNvSpPr txBox="1"/>
          <p:nvPr/>
        </p:nvSpPr>
        <p:spPr>
          <a:xfrm>
            <a:off x="6400800" y="6464808"/>
            <a:ext cx="5285232" cy="274320"/>
          </a:xfrm>
          <a:prstGeom prst="rect">
            <a:avLst/>
          </a:prstGeom>
          <a:noFill/>
          <a:ln/>
        </p:spPr>
        <p:txBody>
          <a:bodyPr wrap="square" lIns="0" tIns="0" rIns="0" bIns="0" rtlCol="0" anchor="ctr"/>
          <a:lstStyle/>
          <a:p>
            <a:pPr algn="r" indent="0" marL="0">
              <a:buNone/>
            </a:pPr>
            <a:r>
              <a:rPr lang="en-US" sz="950" b="1" dirty="0">
                <a:solidFill>
                  <a:srgbClr val="2F6093"/>
                </a:solidFill>
                <a:latin typeface="Microsoft YaHei" pitchFamily="34" charset="0"/>
                <a:ea typeface="Microsoft YaHei" pitchFamily="34" charset="-122"/>
                <a:cs typeface="Microsoft YaHei" pitchFamily="34" charset="-120"/>
              </a:rPr>
              <a:t>Cognitive Science (2026)   </a:t>
            </a:r>
            <a:pPr algn="r" indent="0" marL="0">
              <a:buNone/>
            </a:pPr>
            <a:r>
              <a:rPr lang="en-US" sz="950" dirty="0">
                <a:solidFill>
                  <a:srgbClr val="6B6B6B"/>
                </a:solidFill>
                <a:latin typeface="Microsoft YaHei" pitchFamily="34" charset="0"/>
                <a:ea typeface="Microsoft YaHei" pitchFamily="34" charset="-122"/>
                <a:cs typeface="Microsoft YaHei" pitchFamily="34" charset="-120"/>
              </a:rPr>
              <a:t>15</a:t>
            </a:r>
            <a:endParaRPr lang="en-US" sz="950" dirty="0"/>
          </a:p>
        </p:txBody>
      </p:sp>
      <p:sp>
        <p:nvSpPr>
          <p:cNvPr id="6" name="Text 4"/>
          <p:cNvSpPr txBox="1"/>
          <p:nvPr/>
        </p:nvSpPr>
        <p:spPr>
          <a:xfrm>
            <a:off x="731520" y="1417320"/>
            <a:ext cx="10881360" cy="4937760"/>
          </a:xfrm>
          <a:prstGeom prst="rect">
            <a:avLst/>
          </a:prstGeom>
          <a:noFill/>
          <a:ln/>
        </p:spPr>
        <p:txBody>
          <a:bodyPr wrap="square" lIns="0" tIns="0" rIns="0" bIns="0" rtlCol="0" anchor="t"/>
          <a:lstStyle/>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Agustín-Llach, M. P., &amp; Palapanidi, K. (2024). Apples, tomatoes, and health: Comparison of structural characteristics of the L1 and L2 mental lexicons. Applied Psycholinguistics, 45(5), 1–24.</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Borodkin, K., Kenett, Y. N., Faust, M., &amp; Mashal, N. (2016). When pumpkin is closer to onion than to squash: The structure of the second language lexicon. Cognition, 156, 60–70.</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Cosgrove, A. L., Kenett, Y. N., Beaty, R. E., &amp; Diaz, M. T. (2021). Quantifying flexibility in thought: The resiliency of semantic networks differs across the lifespan. Cognition, 211, 104631.</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Cosgrove, A. L., Beaty, R. E., Diaz, M. T., &amp; Kenett, Y. N. (2023). Age differences in semantic network structure. Psychology and Aging, 38(2), 87–102.</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Dubossarsky, H., De Deyne, S., &amp; Hills, T. T. (2017). Quantifying the structure of free association networks across the life span. Developmental Psychology, 53(8), 1560–1570.</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Hills, T. T. (2025). Cognitive network enrichment, not degradation, explains the aging mental lexicon. Psychological Review, 133(2), 488–506.</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Reuter-Lorenz, P. A., &amp; Cappell, K. A. (2008). Neurocognitive aging and the compensation hypothesis. Current Directions in Psychological Science, 17(3), 177–182.</a:t>
            </a:r>
            <a:endParaRPr lang="en-US" sz="1350" dirty="0"/>
          </a:p>
          <a:p>
            <a:pPr algn="l" indent="0" marL="0">
              <a:lnSpc>
                <a:spcPct val="115000"/>
              </a:lnSpc>
              <a:spcAft>
                <a:spcPts val="900"/>
              </a:spcAft>
              <a:buNone/>
            </a:pPr>
            <a:r>
              <a:rPr lang="en-US" sz="1350" dirty="0">
                <a:solidFill>
                  <a:srgbClr val="20262E"/>
                </a:solidFill>
                <a:latin typeface="Microsoft YaHei" pitchFamily="34" charset="0"/>
                <a:ea typeface="Microsoft YaHei" pitchFamily="34" charset="-122"/>
                <a:cs typeface="Microsoft YaHei" pitchFamily="34" charset="-120"/>
              </a:rPr>
              <a:t>Wulff, D., Hills, T., &amp; Mata, R. (2022). Structural differences in the semantic networks of younger and older adults. Scientific Reports, 12, 21459.</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01768" y="1234440"/>
            <a:ext cx="2194560" cy="2194560"/>
          </a:xfrm>
          <a:prstGeom prst="ellipse">
            <a:avLst/>
          </a:prstGeom>
          <a:solidFill>
            <a:srgbClr val="F1F5FA"/>
          </a:solidFill>
          <a:ln/>
        </p:spPr>
      </p:sp>
      <p:pic>
        <p:nvPicPr>
          <p:cNvPr id="3" name="Image 0" descr="/tmp/claude-0/-home-user-NATIONAL-SS-Funding/d399dd62-2b1c-5986-baf9-d080933e5780/scratchpad/ppt-work/assets/logo-suda.jpg">    </p:cNvPr>
          <p:cNvPicPr>
            <a:picLocks noChangeAspect="1"/>
          </p:cNvPicPr>
          <p:nvPr/>
        </p:nvPicPr>
        <p:blipFill>
          <a:blip r:embed="rId1"/>
          <a:stretch>
            <a:fillRect/>
          </a:stretch>
        </p:blipFill>
        <p:spPr>
          <a:xfrm>
            <a:off x="5227168" y="1463040"/>
            <a:ext cx="1737360" cy="1737360"/>
          </a:xfrm>
          <a:prstGeom prst="rect">
            <a:avLst/>
          </a:prstGeom>
        </p:spPr>
      </p:pic>
      <p:sp>
        <p:nvSpPr>
          <p:cNvPr id="4" name="Text 1"/>
          <p:cNvSpPr txBox="1"/>
          <p:nvPr/>
        </p:nvSpPr>
        <p:spPr>
          <a:xfrm>
            <a:off x="1527048" y="3520440"/>
            <a:ext cx="9144000" cy="457200"/>
          </a:xfrm>
          <a:prstGeom prst="rect">
            <a:avLst/>
          </a:prstGeom>
          <a:noFill/>
          <a:ln/>
        </p:spPr>
        <p:txBody>
          <a:bodyPr wrap="square" lIns="0" tIns="0" rIns="0" bIns="0" rtlCol="0" anchor="ctr"/>
          <a:lstStyle/>
          <a:p>
            <a:pPr algn="ctr" indent="0" marL="0">
              <a:buNone/>
            </a:pPr>
            <a:r>
              <a:rPr lang="en-US" sz="2100" b="1" dirty="0">
                <a:solidFill>
                  <a:srgbClr val="1E3D63"/>
                </a:solidFill>
                <a:latin typeface="Microsoft YaHei" pitchFamily="34" charset="0"/>
                <a:ea typeface="Microsoft YaHei" pitchFamily="34" charset="-122"/>
                <a:cs typeface="Microsoft YaHei" pitchFamily="34" charset="-120"/>
              </a:rPr>
              <a:t>苏州大学 · 外国语学院</a:t>
            </a:r>
            <a:endParaRPr lang="en-US" sz="2100" dirty="0"/>
          </a:p>
        </p:txBody>
      </p:sp>
      <p:sp>
        <p:nvSpPr>
          <p:cNvPr id="5" name="Text 2"/>
          <p:cNvSpPr txBox="1"/>
          <p:nvPr/>
        </p:nvSpPr>
        <p:spPr>
          <a:xfrm>
            <a:off x="1527048" y="3931920"/>
            <a:ext cx="9144000" cy="365760"/>
          </a:xfrm>
          <a:prstGeom prst="rect">
            <a:avLst/>
          </a:prstGeom>
          <a:noFill/>
          <a:ln/>
        </p:spPr>
        <p:txBody>
          <a:bodyPr wrap="square" lIns="0" tIns="0" rIns="0" bIns="0" rtlCol="0" anchor="ctr"/>
          <a:lstStyle/>
          <a:p>
            <a:pPr algn="ctr" indent="0" marL="0">
              <a:buNone/>
            </a:pPr>
            <a:r>
              <a:rPr lang="en-US" sz="1100" spc="100" kern="0" dirty="0">
                <a:solidFill>
                  <a:srgbClr val="6B6B6B"/>
                </a:solidFill>
                <a:latin typeface="Microsoft YaHei" pitchFamily="34" charset="0"/>
                <a:ea typeface="Microsoft YaHei" pitchFamily="34" charset="-122"/>
                <a:cs typeface="Microsoft YaHei" pitchFamily="34" charset="-120"/>
              </a:rPr>
              <a:t>SOOCHOW UNIVERSITY · School of Foreign Languages</a:t>
            </a:r>
            <a:endParaRPr lang="en-US" sz="1100" dirty="0"/>
          </a:p>
        </p:txBody>
      </p:sp>
      <p:sp>
        <p:nvSpPr>
          <p:cNvPr id="6" name="Text 3"/>
          <p:cNvSpPr txBox="1"/>
          <p:nvPr/>
        </p:nvSpPr>
        <p:spPr>
          <a:xfrm>
            <a:off x="1527048" y="4617720"/>
            <a:ext cx="9144000" cy="914400"/>
          </a:xfrm>
          <a:prstGeom prst="rect">
            <a:avLst/>
          </a:prstGeom>
          <a:noFill/>
          <a:ln/>
        </p:spPr>
        <p:txBody>
          <a:bodyPr wrap="square" lIns="0" tIns="0" rIns="0" bIns="0" rtlCol="0" anchor="ctr"/>
          <a:lstStyle/>
          <a:p>
            <a:pPr algn="ctr" indent="0" marL="0">
              <a:buNone/>
            </a:pPr>
            <a:r>
              <a:rPr lang="en-US" sz="4800" b="1" dirty="0">
                <a:solidFill>
                  <a:srgbClr val="1E3D63"/>
                </a:solidFill>
                <a:latin typeface="Microsoft YaHei" pitchFamily="34" charset="0"/>
                <a:ea typeface="Microsoft YaHei" pitchFamily="34" charset="-122"/>
                <a:cs typeface="Microsoft YaHei" pitchFamily="34" charset="-120"/>
              </a:rPr>
              <a:t>Thank You</a:t>
            </a:r>
            <a:endParaRPr lang="en-US" sz="4800" dirty="0"/>
          </a:p>
        </p:txBody>
      </p:sp>
      <p:sp>
        <p:nvSpPr>
          <p:cNvPr id="7" name="Text 4"/>
          <p:cNvSpPr txBox="1"/>
          <p:nvPr/>
        </p:nvSpPr>
        <p:spPr>
          <a:xfrm>
            <a:off x="1527048" y="5943600"/>
            <a:ext cx="9144000" cy="365760"/>
          </a:xfrm>
          <a:prstGeom prst="rect">
            <a:avLst/>
          </a:prstGeom>
          <a:noFill/>
          <a:ln/>
        </p:spPr>
        <p:txBody>
          <a:bodyPr wrap="square" lIns="0" tIns="0" rIns="0" bIns="0" rtlCol="0" anchor="ctr"/>
          <a:lstStyle/>
          <a:p>
            <a:pPr algn="ctr" indent="0" marL="0">
              <a:buNone/>
            </a:pPr>
            <a:r>
              <a:rPr lang="en-US" sz="1200" dirty="0">
                <a:solidFill>
                  <a:srgbClr val="6B6B6B"/>
                </a:solidFill>
                <a:latin typeface="Microsoft YaHei" pitchFamily="34" charset="0"/>
                <a:ea typeface="Microsoft YaHei" pitchFamily="34" charset="-122"/>
                <a:cs typeface="Microsoft YaHei" pitchFamily="34" charset="-120"/>
              </a:rPr>
              <a:t>Cognitive Science 50 (2026) e70205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2026-10-24T15:02:08Z</dcterms:created>
  <dcterms:modified xsi:type="dcterms:W3CDTF">2026-10-24T15:02:08Z</dcterms:modified>
</cp:coreProperties>
</file>