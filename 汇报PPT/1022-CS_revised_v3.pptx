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7c0d5c6f0d440e" /><Relationship Type="http://schemas.openxmlformats.org/officeDocument/2006/relationships/extended-properties" Target="/docProps/app.xml" Id="R165df429a35146f4" /><Relationship Type="http://schemas.openxmlformats.org/officeDocument/2006/relationships/officeDocument" Target="/ppt/presentation.xml" Id="Rc108bf0e033740df" /></Relationships>
</file>

<file path=ppt/presentation.xml><?xml version="1.0" encoding="utf-8"?>
<p:presentation xmlns:p="http://schemas.openxmlformats.org/presentationml/2006/main">
  <p:sldMasterIdLst>
    <p:sldMasterId xmlns:r="http://schemas.openxmlformats.org/officeDocument/2006/relationships" id="2147483648" r:id="Ref5c2239bbd8449e"/>
  </p:sldMasterIdLst>
  <p:notesMasterIdLst>
    <p:notesMasterId xmlns:r="http://schemas.openxmlformats.org/officeDocument/2006/relationships" r:id="Ra10461e941a34fd2"/>
  </p:notesMasterIdLst>
  <p:sldIdLst>
    <p:sldId xmlns:r="http://schemas.openxmlformats.org/officeDocument/2006/relationships" id="256" r:id="R1a1a92117c4b4c44"/>
    <p:sldId xmlns:r="http://schemas.openxmlformats.org/officeDocument/2006/relationships" id="257" r:id="R4f5940779d9a4e48"/>
    <p:sldId xmlns:r="http://schemas.openxmlformats.org/officeDocument/2006/relationships" id="258" r:id="R43e298bd5147459b"/>
    <p:sldId xmlns:r="http://schemas.openxmlformats.org/officeDocument/2006/relationships" id="259" r:id="R1d887b3bded54186"/>
    <p:sldId xmlns:r="http://schemas.openxmlformats.org/officeDocument/2006/relationships" id="260" r:id="Rbadfecf8a2da4545"/>
    <p:sldId xmlns:r="http://schemas.openxmlformats.org/officeDocument/2006/relationships" id="261" r:id="R90f20651dd804e3d"/>
    <p:sldId xmlns:r="http://schemas.openxmlformats.org/officeDocument/2006/relationships" id="262" r:id="Rc257eb5d98af4cf5"/>
    <p:sldId xmlns:r="http://schemas.openxmlformats.org/officeDocument/2006/relationships" id="263" r:id="Rfe7b67e1cd324d06"/>
    <p:sldId xmlns:r="http://schemas.openxmlformats.org/officeDocument/2006/relationships" id="264" r:id="R0357490eb19145ba"/>
    <p:sldId xmlns:r="http://schemas.openxmlformats.org/officeDocument/2006/relationships" id="265" r:id="R9ca04434e57c4004"/>
    <p:sldId xmlns:r="http://schemas.openxmlformats.org/officeDocument/2006/relationships" id="266" r:id="Rd9981d94960345e5"/>
    <p:sldId xmlns:r="http://schemas.openxmlformats.org/officeDocument/2006/relationships" id="267" r:id="R2c7360a9dd2149f1"/>
    <p:sldId xmlns:r="http://schemas.openxmlformats.org/officeDocument/2006/relationships" id="268" r:id="Rb2b5d585a05841eb"/>
    <p:sldId xmlns:r="http://schemas.openxmlformats.org/officeDocument/2006/relationships" id="269" r:id="R5b7fb4bb27944b2c"/>
    <p:sldId xmlns:r="http://schemas.openxmlformats.org/officeDocument/2006/relationships" id="270" r:id="Rea39f6c5324d4da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a131672f3a4c40" /><Relationship Type="http://schemas.openxmlformats.org/officeDocument/2006/relationships/slideMaster" Target="/ppt/slideMasters/slideMaster1.xml" Id="Ref5c2239bbd8449e" /><Relationship Type="http://schemas.openxmlformats.org/officeDocument/2006/relationships/notesMaster" Target="/ppt/notesMasters/notesMaster1.xml" Id="Ra10461e941a34fd2" /><Relationship Type="http://schemas.openxmlformats.org/officeDocument/2006/relationships/presProps" Target="/ppt/presProps.xml" Id="R78e77616f75c40fe" /><Relationship Type="http://schemas.openxmlformats.org/officeDocument/2006/relationships/tableStyles" Target="/ppt/tableStyles.xml" Id="R52a47b5c41fa42e9" /><Relationship Type="http://schemas.openxmlformats.org/officeDocument/2006/relationships/slide" Target="/ppt/slides/slide1.xml" Id="R1a1a92117c4b4c44" /><Relationship Type="http://schemas.openxmlformats.org/officeDocument/2006/relationships/slide" Target="/ppt/slides/slide2.xml" Id="R4f5940779d9a4e48" /><Relationship Type="http://schemas.openxmlformats.org/officeDocument/2006/relationships/slide" Target="/ppt/slides/slide3.xml" Id="R43e298bd5147459b" /><Relationship Type="http://schemas.openxmlformats.org/officeDocument/2006/relationships/slide" Target="/ppt/slides/slide4.xml" Id="R1d887b3bded54186" /><Relationship Type="http://schemas.openxmlformats.org/officeDocument/2006/relationships/slide" Target="/ppt/slides/slide5.xml" Id="Rbadfecf8a2da4545" /><Relationship Type="http://schemas.openxmlformats.org/officeDocument/2006/relationships/slide" Target="/ppt/slides/slide6.xml" Id="R90f20651dd804e3d" /><Relationship Type="http://schemas.openxmlformats.org/officeDocument/2006/relationships/slide" Target="/ppt/slides/slide7.xml" Id="Rc257eb5d98af4cf5" /><Relationship Type="http://schemas.openxmlformats.org/officeDocument/2006/relationships/slide" Target="/ppt/slides/slide8.xml" Id="Rfe7b67e1cd324d06" /><Relationship Type="http://schemas.openxmlformats.org/officeDocument/2006/relationships/slide" Target="/ppt/slides/slide9.xml" Id="R0357490eb19145ba" /><Relationship Type="http://schemas.openxmlformats.org/officeDocument/2006/relationships/slide" Target="/ppt/slides/slide10.xml" Id="R9ca04434e57c4004" /><Relationship Type="http://schemas.openxmlformats.org/officeDocument/2006/relationships/slide" Target="/ppt/slides/slide11.xml" Id="Rd9981d94960345e5" /><Relationship Type="http://schemas.openxmlformats.org/officeDocument/2006/relationships/slide" Target="/ppt/slides/slide12.xml" Id="R2c7360a9dd2149f1" /><Relationship Type="http://schemas.openxmlformats.org/officeDocument/2006/relationships/slide" Target="/ppt/slides/slide13.xml" Id="Rb2b5d585a05841eb" /><Relationship Type="http://schemas.openxmlformats.org/officeDocument/2006/relationships/slide" Target="/ppt/slides/slide14.xml" Id="R5b7fb4bb27944b2c" /><Relationship Type="http://schemas.openxmlformats.org/officeDocument/2006/relationships/slide" Target="/ppt/slides/slide15.xml" Id="Rea39f6c5324d4d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c2d885c7184f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bd2083b8d9439d" /><Relationship Type="http://schemas.openxmlformats.org/officeDocument/2006/relationships/notesMaster" Target="/ppt/notesMasters/notesMaster1.xml" Id="R42bbd33e31ff4a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cb82120cb94865" /><Relationship Type="http://schemas.openxmlformats.org/officeDocument/2006/relationships/notesMaster" Target="/ppt/notesMasters/notesMaster1.xml" Id="R02fdc097360742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015d62fa0e4208" /><Relationship Type="http://schemas.openxmlformats.org/officeDocument/2006/relationships/notesMaster" Target="/ppt/notesMasters/notesMaster1.xml" Id="R4abf991048314b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018e495df947c6" /><Relationship Type="http://schemas.openxmlformats.org/officeDocument/2006/relationships/notesMaster" Target="/ppt/notesMasters/notesMaster1.xml" Id="R151c494f1b464e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d3ed993e1440cd" /><Relationship Type="http://schemas.openxmlformats.org/officeDocument/2006/relationships/notesMaster" Target="/ppt/notesMasters/notesMaster1.xml" Id="Rd608882734534e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47ffc7be2d4b30" /><Relationship Type="http://schemas.openxmlformats.org/officeDocument/2006/relationships/notesMaster" Target="/ppt/notesMasters/notesMaster1.xml" Id="R6e9f6cafa7dc4a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1ca91eb0c54441" /><Relationship Type="http://schemas.openxmlformats.org/officeDocument/2006/relationships/notesMaster" Target="/ppt/notesMasters/notesMaster1.xml" Id="R26ca19d9fbf248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3f89ab486d43bc" /><Relationship Type="http://schemas.openxmlformats.org/officeDocument/2006/relationships/notesMaster" Target="/ppt/notesMasters/notesMaster1.xml" Id="R8389f20c1eb141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e84e7d08fe4102" /><Relationship Type="http://schemas.openxmlformats.org/officeDocument/2006/relationships/notesMaster" Target="/ppt/notesMasters/notesMaster1.xml" Id="R51b72666354644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21be6643f24274" /><Relationship Type="http://schemas.openxmlformats.org/officeDocument/2006/relationships/notesMaster" Target="/ppt/notesMasters/notesMaster1.xml" Id="Rb80d675f9c0a4d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67599802c64fa4" /><Relationship Type="http://schemas.openxmlformats.org/officeDocument/2006/relationships/notesMaster" Target="/ppt/notesMasters/notesMaster1.xml" Id="R117310ac2ca549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5a0abdb3dd4a51" /><Relationship Type="http://schemas.openxmlformats.org/officeDocument/2006/relationships/notesMaster" Target="/ppt/notesMasters/notesMaster1.xml" Id="R8a15582b7e6d45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a9dd94567e4d74" /><Relationship Type="http://schemas.openxmlformats.org/officeDocument/2006/relationships/notesMaster" Target="/ppt/notesMasters/notesMaster1.xml" Id="Re1d28d324a5f49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b5f7917ab9481a" /><Relationship Type="http://schemas.openxmlformats.org/officeDocument/2006/relationships/notesMaster" Target="/ppt/notesMasters/notesMaster1.xml" Id="R8f28d4aa9bd148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6aa5da9aca4153" /><Relationship Type="http://schemas.openxmlformats.org/officeDocument/2006/relationships/notesMaster" Target="/ppt/notesMasters/notesMaster1.xml" Id="Raa2d2c00630643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c63daced1d42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82b6a47b9342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c506ef67a34d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324f811d604a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728abd48dd4c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5c07376a9847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8BCAEE-FB79-4572-A4AF-656B19624AC7}"/>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67EDA1-0A6D-4682-80E8-E032F7ED8CCF}"/>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482D12-647D-424D-BD10-3BC91C091006}"/>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5A0C2-5514-4136-8E58-2B350A6953F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821066-6590-49FB-8EC2-6A5B95C11EA6}"/>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C145F3-2942-4ACD-BD88-DD9A797332A0}"/>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8CA988-834A-494F-B347-C49D4EB89BB1}"/>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FD8F97-B9DB-420D-AED2-0260E64400A4}"/>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920E89-330C-4172-8ECD-20CFD68D5195}"/>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E004BF-6255-45DA-A9B1-3888C2C988F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9c5f1dbc5e45cc" /><Relationship Type="http://schemas.openxmlformats.org/officeDocument/2006/relationships/slideLayout" Target="/ppt/slideLayouts/slideLayout1.xml" Id="R48d34a3f8fec4207" /><Relationship Type="http://schemas.openxmlformats.org/officeDocument/2006/relationships/slideLayout" Target="/ppt/slideLayouts/slideLayout2.xml" Id="Rceb1ff0904694ce8" /><Relationship Type="http://schemas.openxmlformats.org/officeDocument/2006/relationships/slideLayout" Target="/ppt/slideLayouts/slideLayout3.xml" Id="Rcbd14793128b41a3" /><Relationship Type="http://schemas.openxmlformats.org/officeDocument/2006/relationships/slideLayout" Target="/ppt/slideLayouts/slideLayout4.xml" Id="Rd2ca35b1d4b842a6" /><Relationship Type="http://schemas.openxmlformats.org/officeDocument/2006/relationships/slideLayout" Target="/ppt/slideLayouts/slideLayout5.xml" Id="R0af0e8e80f5a4f2c" /><Relationship Type="http://schemas.openxmlformats.org/officeDocument/2006/relationships/slideLayout" Target="/ppt/slideLayouts/slideLayout6.xml" Id="R66f42ae525cd44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d34a3f8fec4207"/>
    <p:sldLayoutId xmlns:r="http://schemas.openxmlformats.org/officeDocument/2006/relationships" id="2147483650" r:id="Rceb1ff0904694ce8"/>
    <p:sldLayoutId xmlns:r="http://schemas.openxmlformats.org/officeDocument/2006/relationships" id="2147483651" r:id="Rcbd14793128b41a3"/>
    <p:sldLayoutId xmlns:r="http://schemas.openxmlformats.org/officeDocument/2006/relationships" id="2147483652" r:id="Rd2ca35b1d4b842a6"/>
    <p:sldLayoutId xmlns:r="http://schemas.openxmlformats.org/officeDocument/2006/relationships" id="2147483653" r:id="R0af0e8e80f5a4f2c"/>
    <p:sldLayoutId xmlns:r="http://schemas.openxmlformats.org/officeDocument/2006/relationships" id="2147483654" r:id="R66f42ae525cd44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445e8888f24614" /><Relationship Type="http://schemas.openxmlformats.org/officeDocument/2006/relationships/notesSlide" Target="/ppt/notesSlides/notesSlide1.xml" Id="R562d12568b1f47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3898aa77b54c2e" /><Relationship Type="http://schemas.openxmlformats.org/officeDocument/2006/relationships/notesSlide" Target="/ppt/notesSlides/notesSlide2.xml" Id="R6439e9f1c81c49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d1188beeb9497e" /><Relationship Type="http://schemas.openxmlformats.org/officeDocument/2006/relationships/notesSlide" Target="/ppt/notesSlides/notesSlide3.xml" Id="R0738d342ac8549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9ab955d56445d6" /><Relationship Type="http://schemas.openxmlformats.org/officeDocument/2006/relationships/notesSlide" Target="/ppt/notesSlides/notesSlide4.xml" Id="Rdc67c3483d0a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8dc1aa3fc54507" /><Relationship Type="http://schemas.openxmlformats.org/officeDocument/2006/relationships/notesSlide" Target="/ppt/notesSlides/notesSlide5.xml" Id="Rfd8a2dbf6b2f4b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dc843fb0584162" /><Relationship Type="http://schemas.openxmlformats.org/officeDocument/2006/relationships/notesSlide" Target="/ppt/notesSlides/notesSlide6.xml" Id="R8c64f2d729b6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898787e0c343cc" /><Relationship Type="http://schemas.openxmlformats.org/officeDocument/2006/relationships/notesSlide" Target="/ppt/notesSlides/notesSlide7.xml" Id="R102222b7945a40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4c201413ed46c7" /><Relationship Type="http://schemas.openxmlformats.org/officeDocument/2006/relationships/notesSlide" Target="/ppt/notesSlides/notesSlide8.xml" Id="Rcf26ea227c854a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e1da3eb2e643cd" /><Relationship Type="http://schemas.openxmlformats.org/officeDocument/2006/relationships/notesSlide" Target="/ppt/notesSlides/notesSlide9.xml" Id="R81615dfdfb574a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2eb12ad19d48b0" /><Relationship Type="http://schemas.openxmlformats.org/officeDocument/2006/relationships/notesSlide" Target="/ppt/notesSlides/notesSlide10.xml" Id="Rf24c7caf17514a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f5878715db4c94" /><Relationship Type="http://schemas.openxmlformats.org/officeDocument/2006/relationships/notesSlide" Target="/ppt/notesSlides/notesSlide11.xml" Id="R3076a30cce4d47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fcaf6fcb034ceb" /><Relationship Type="http://schemas.openxmlformats.org/officeDocument/2006/relationships/notesSlide" Target="/ppt/notesSlides/notesSlide12.xml" Id="R6416a4fd399e4d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a986882dd64d97" /><Relationship Type="http://schemas.openxmlformats.org/officeDocument/2006/relationships/notesSlide" Target="/ppt/notesSlides/notesSlide13.xml" Id="R02ac9f35e15c44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fc86ad84ff346d4" /><Relationship Type="http://schemas.openxmlformats.org/officeDocument/2006/relationships/notesSlide" Target="/ppt/notesSlides/notesSlide14.xml" Id="R2ee275a0afdb44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66a30cb1444152" /><Relationship Type="http://schemas.openxmlformats.org/officeDocument/2006/relationships/notesSlide" Target="/ppt/notesSlides/notesSlide15.xml" Id="R0978466e6c68485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EED314-9724-40CB-BFE1-B340DE9C3FC1}"/>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D90468-2B38-41ED-BE70-199402B43226}"/>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C47736-00FB-4A9E-99D2-F1818ED7B79E}"/>
              </a:ext>
            </a:extLst>
          </p:cNvPr>
          <p:cNvSpPr>
            <a:spLocks xmlns:a="http://schemas.openxmlformats.org/drawingml/2006/main" noGrp="1"/>
          </p:cNvSpPr>
          <p:nvPr/>
        </p:nvSpPr>
        <p:spPr>
          <a:xfrm xmlns:a="http://schemas.openxmlformats.org/drawingml/2006/main">
            <a:off x="457200" y="762000"/>
            <a:ext cx="80581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12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Investigating the Bilingual Aging Lexicon: A Network Analysis of Word Associations in Chinese–English Bilinguals</a:t>
            </a:r>
          </a:p>
        </p:txBody>
      </p:sp>
      <p:sp>
        <p:nvSpPr>
          <p:cNvPr id="4" name="">
            <a:extLst xmlns:a="http://schemas.openxmlformats.org/drawingml/2006/main">
              <a:ext uri="{FF2B5EF4-FFF2-40B4-BE49-F238E27FC236}">
                <a16:creationId xmlns:a16="http://schemas.microsoft.com/office/drawing/2014/main" id="{83B82D7A-4E1E-4813-91B7-028E38D5EBB8}"/>
              </a:ext>
            </a:extLst>
          </p:cNvPr>
          <p:cNvSpPr>
            <a:spLocks xmlns:a="http://schemas.openxmlformats.org/drawingml/2006/main" noGrp="1"/>
          </p:cNvSpPr>
          <p:nvPr/>
        </p:nvSpPr>
        <p:spPr>
          <a:xfrm xmlns:a="http://schemas.openxmlformats.org/drawingml/2006/main">
            <a:off x="457200" y="2514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11111"/>
                </a:solidFill>
                <a:latin typeface="Calibri"/>
                <a:ea typeface="Calibri"/>
                <a:cs typeface="Calibri"/>
              </a:defRPr>
            </a:defPPr>
            <a:lvl1pPr algn="l">
              <a:defRPr sz="1575" b="1">
                <a:solidFill>
                  <a:srgbClr val="111111"/>
                </a:solidFill>
                <a:latin typeface="Calibri"/>
                <a:ea typeface="Calibri"/>
                <a:cs typeface="Calibri"/>
              </a:defRPr>
            </a:lvl1pPr>
            <a:lvl2pPr algn="l">
              <a:defRPr sz="1575" b="1">
                <a:solidFill>
                  <a:srgbClr val="111111"/>
                </a:solidFill>
                <a:latin typeface="Calibri"/>
                <a:ea typeface="Calibri"/>
                <a:cs typeface="Calibri"/>
              </a:defRPr>
            </a:lvl2pPr>
            <a:lvl3pPr algn="l">
              <a:defRPr sz="1575" b="1">
                <a:solidFill>
                  <a:srgbClr val="111111"/>
                </a:solidFill>
                <a:latin typeface="Calibri"/>
                <a:ea typeface="Calibri"/>
                <a:cs typeface="Calibri"/>
              </a:defRPr>
            </a:lvl3pPr>
            <a:lvl4pPr algn="l">
              <a:defRPr sz="1575" b="1">
                <a:solidFill>
                  <a:srgbClr val="111111"/>
                </a:solidFill>
                <a:latin typeface="Calibri"/>
                <a:ea typeface="Calibri"/>
                <a:cs typeface="Calibri"/>
              </a:defRPr>
            </a:lvl4pPr>
            <a:lvl5pPr algn="l">
              <a:defRPr sz="1575" b="1">
                <a:solidFill>
                  <a:srgbClr val="111111"/>
                </a:solidFill>
                <a:latin typeface="Calibri"/>
                <a:ea typeface="Calibri"/>
                <a:cs typeface="Calibri"/>
              </a:defRPr>
            </a:lvl5pPr>
            <a:lvl6pPr algn="l">
              <a:defRPr sz="1575" b="1">
                <a:solidFill>
                  <a:srgbClr val="111111"/>
                </a:solidFill>
                <a:latin typeface="Calibri"/>
                <a:ea typeface="Calibri"/>
                <a:cs typeface="Calibri"/>
              </a:defRPr>
            </a:lvl6pPr>
            <a:lvl7pPr algn="l">
              <a:defRPr sz="1575" b="1">
                <a:solidFill>
                  <a:srgbClr val="111111"/>
                </a:solidFill>
                <a:latin typeface="Calibri"/>
                <a:ea typeface="Calibri"/>
                <a:cs typeface="Calibri"/>
              </a:defRPr>
            </a:lvl7pPr>
            <a:lvl8pPr algn="l">
              <a:defRPr sz="1575" b="1">
                <a:solidFill>
                  <a:srgbClr val="111111"/>
                </a:solidFill>
                <a:latin typeface="Calibri"/>
                <a:ea typeface="Calibri"/>
                <a:cs typeface="Calibri"/>
              </a:defRPr>
            </a:lvl8pPr>
            <a:lvl9pPr algn="l">
              <a:defRPr sz="1575" b="1">
                <a:solidFill>
                  <a:srgbClr val="111111"/>
                </a:solidFill>
                <a:latin typeface="Calibri"/>
                <a:ea typeface="Calibri"/>
                <a:cs typeface="Calibri"/>
              </a:defRPr>
            </a:lvl9pPr>
          </a:lstStyle>
          <a:p xmlns:a="http://schemas.openxmlformats.org/drawingml/2006/main">
            <a:pPr algn="l">
              <a:lnSpc>
                <a:spcPct val="125000"/>
              </a:lnSpc>
              <a:buNone/>
              <a:defRPr sz="1575" b="1">
                <a:solidFill>
                  <a:srgbClr val="111111"/>
                </a:solidFill>
                <a:latin typeface="Calibri"/>
                <a:ea typeface="Calibri"/>
                <a:cs typeface="Calibri"/>
              </a:defRPr>
            </a:pPr>
            <a:r>
              <a:rPr sz="1575" b="1">
                <a:solidFill>
                  <a:srgbClr val="111111"/>
                </a:solidFill>
                <a:latin typeface="Calibri"/>
                <a:ea typeface="Calibri"/>
                <a:cs typeface="Calibri"/>
              </a:rPr>
              <a:t>Ping Zhang · Xin Wang</a:t>
            </a:r>
          </a:p>
        </p:txBody>
      </p:sp>
      <p:sp>
        <p:nvSpPr>
          <p:cNvPr id="5" name="">
            <a:extLst xmlns:a="http://schemas.openxmlformats.org/drawingml/2006/main">
              <a:ext uri="{FF2B5EF4-FFF2-40B4-BE49-F238E27FC236}">
                <a16:creationId xmlns:a16="http://schemas.microsoft.com/office/drawing/2014/main" id="{B23248C6-FFD5-40E5-9021-1C54A15C0DA9}"/>
              </a:ext>
            </a:extLst>
          </p:cNvPr>
          <p:cNvSpPr>
            <a:spLocks xmlns:a="http://schemas.openxmlformats.org/drawingml/2006/main" noGrp="1"/>
          </p:cNvSpPr>
          <p:nvPr/>
        </p:nvSpPr>
        <p:spPr>
          <a:xfrm xmlns:a="http://schemas.openxmlformats.org/drawingml/2006/main">
            <a:off x="457200" y="297180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111111"/>
                </a:solidFill>
                <a:latin typeface="Calibri"/>
                <a:ea typeface="Calibri"/>
                <a:cs typeface="Calibri"/>
              </a:defRPr>
            </a:defPPr>
            <a:lvl1pPr algn="l">
              <a:defRPr sz="1275" b="0">
                <a:solidFill>
                  <a:srgbClr val="111111"/>
                </a:solidFill>
                <a:latin typeface="Calibri"/>
                <a:ea typeface="Calibri"/>
                <a:cs typeface="Calibri"/>
              </a:defRPr>
            </a:lvl1pPr>
            <a:lvl2pPr algn="l">
              <a:defRPr sz="1275" b="0">
                <a:solidFill>
                  <a:srgbClr val="111111"/>
                </a:solidFill>
                <a:latin typeface="Calibri"/>
                <a:ea typeface="Calibri"/>
                <a:cs typeface="Calibri"/>
              </a:defRPr>
            </a:lvl2pPr>
            <a:lvl3pPr algn="l">
              <a:defRPr sz="1275" b="0">
                <a:solidFill>
                  <a:srgbClr val="111111"/>
                </a:solidFill>
                <a:latin typeface="Calibri"/>
                <a:ea typeface="Calibri"/>
                <a:cs typeface="Calibri"/>
              </a:defRPr>
            </a:lvl3pPr>
            <a:lvl4pPr algn="l">
              <a:defRPr sz="1275" b="0">
                <a:solidFill>
                  <a:srgbClr val="111111"/>
                </a:solidFill>
                <a:latin typeface="Calibri"/>
                <a:ea typeface="Calibri"/>
                <a:cs typeface="Calibri"/>
              </a:defRPr>
            </a:lvl4pPr>
            <a:lvl5pPr algn="l">
              <a:defRPr sz="1275" b="0">
                <a:solidFill>
                  <a:srgbClr val="111111"/>
                </a:solidFill>
                <a:latin typeface="Calibri"/>
                <a:ea typeface="Calibri"/>
                <a:cs typeface="Calibri"/>
              </a:defRPr>
            </a:lvl5pPr>
            <a:lvl6pPr algn="l">
              <a:defRPr sz="1275" b="0">
                <a:solidFill>
                  <a:srgbClr val="111111"/>
                </a:solidFill>
                <a:latin typeface="Calibri"/>
                <a:ea typeface="Calibri"/>
                <a:cs typeface="Calibri"/>
              </a:defRPr>
            </a:lvl6pPr>
            <a:lvl7pPr algn="l">
              <a:defRPr sz="1275" b="0">
                <a:solidFill>
                  <a:srgbClr val="111111"/>
                </a:solidFill>
                <a:latin typeface="Calibri"/>
                <a:ea typeface="Calibri"/>
                <a:cs typeface="Calibri"/>
              </a:defRPr>
            </a:lvl7pPr>
            <a:lvl8pPr algn="l">
              <a:defRPr sz="1275" b="0">
                <a:solidFill>
                  <a:srgbClr val="111111"/>
                </a:solidFill>
                <a:latin typeface="Calibri"/>
                <a:ea typeface="Calibri"/>
                <a:cs typeface="Calibri"/>
              </a:defRPr>
            </a:lvl8pPr>
            <a:lvl9pPr algn="l">
              <a:defRPr sz="1275" b="0">
                <a:solidFill>
                  <a:srgbClr val="111111"/>
                </a:solidFill>
                <a:latin typeface="Calibri"/>
                <a:ea typeface="Calibri"/>
                <a:cs typeface="Calibri"/>
              </a:defRPr>
            </a:lvl9pPr>
          </a:lstStyle>
          <a:p xmlns:a="http://schemas.openxmlformats.org/drawingml/2006/main">
            <a:pPr algn="l">
              <a:lnSpc>
                <a:spcPct val="125000"/>
              </a:lnSpc>
              <a:buNone/>
              <a:defRPr sz="1275" b="0">
                <a:solidFill>
                  <a:srgbClr val="111111"/>
                </a:solidFill>
                <a:latin typeface="Calibri"/>
                <a:ea typeface="Calibri"/>
                <a:cs typeface="Calibri"/>
              </a:defRPr>
            </a:pPr>
            <a:r>
              <a:rPr sz="1275" b="0">
                <a:solidFill>
                  <a:srgbClr val="111111"/>
                </a:solidFill>
                <a:latin typeface="Calibri"/>
                <a:ea typeface="Calibri"/>
                <a:cs typeface="Calibri"/>
              </a:rPr>
              <a:t>Cognitive Science 50 (2026) e70205</a:t>
            </a:r>
          </a:p>
          <a:p xmlns:a="http://schemas.openxmlformats.org/drawingml/2006/main">
            <a:pPr algn="l">
              <a:lnSpc>
                <a:spcPct val="125000"/>
              </a:lnSpc>
              <a:buNone/>
              <a:defRPr sz="1275" b="0">
                <a:solidFill>
                  <a:srgbClr val="111111"/>
                </a:solidFill>
                <a:latin typeface="Calibri"/>
                <a:ea typeface="Calibri"/>
                <a:cs typeface="Calibri"/>
              </a:defRPr>
            </a:pPr>
            <a:r>
              <a:rPr sz="1275" b="0">
                <a:solidFill>
                  <a:srgbClr val="111111"/>
                </a:solidFill>
                <a:latin typeface="Calibri"/>
                <a:ea typeface="Calibri"/>
                <a:cs typeface="Calibri"/>
              </a:rPr>
              <a:t>DOI: 10.1111/cogs.70205</a:t>
            </a:r>
          </a:p>
        </p:txBody>
      </p:sp>
      <p:sp>
        <p:nvSpPr>
          <p:cNvPr id="6" name="">
            <a:extLst xmlns:a="http://schemas.openxmlformats.org/drawingml/2006/main">
              <a:ext uri="{FF2B5EF4-FFF2-40B4-BE49-F238E27FC236}">
                <a16:creationId xmlns:a16="http://schemas.microsoft.com/office/drawing/2014/main" id="{9FB88406-01A5-42AF-8298-4A32DE5911D8}"/>
              </a:ext>
            </a:extLst>
          </p:cNvPr>
          <p:cNvSpPr>
            <a:spLocks xmlns:a="http://schemas.openxmlformats.org/drawingml/2006/main" noGrp="1"/>
          </p:cNvSpPr>
          <p:nvPr/>
        </p:nvSpPr>
        <p:spPr>
          <a:xfrm xmlns:a="http://schemas.openxmlformats.org/drawingml/2006/main">
            <a:off x="457200" y="4048125"/>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38" b="0">
                <a:solidFill>
                  <a:srgbClr val="1B3A5C"/>
                </a:solidFill>
                <a:latin typeface="Calibri"/>
                <a:ea typeface="Calibri"/>
                <a:cs typeface="Calibri"/>
              </a:defRPr>
            </a:defPPr>
            <a:lvl1pPr algn="l">
              <a:defRPr sz="1238" b="0">
                <a:solidFill>
                  <a:srgbClr val="1B3A5C"/>
                </a:solidFill>
                <a:latin typeface="Calibri"/>
                <a:ea typeface="Calibri"/>
                <a:cs typeface="Calibri"/>
              </a:defRPr>
            </a:lvl1pPr>
            <a:lvl2pPr algn="l">
              <a:defRPr sz="1238" b="0">
                <a:solidFill>
                  <a:srgbClr val="1B3A5C"/>
                </a:solidFill>
                <a:latin typeface="Calibri"/>
                <a:ea typeface="Calibri"/>
                <a:cs typeface="Calibri"/>
              </a:defRPr>
            </a:lvl2pPr>
            <a:lvl3pPr algn="l">
              <a:defRPr sz="1238" b="0">
                <a:solidFill>
                  <a:srgbClr val="1B3A5C"/>
                </a:solidFill>
                <a:latin typeface="Calibri"/>
                <a:ea typeface="Calibri"/>
                <a:cs typeface="Calibri"/>
              </a:defRPr>
            </a:lvl3pPr>
            <a:lvl4pPr algn="l">
              <a:defRPr sz="1238" b="0">
                <a:solidFill>
                  <a:srgbClr val="1B3A5C"/>
                </a:solidFill>
                <a:latin typeface="Calibri"/>
                <a:ea typeface="Calibri"/>
                <a:cs typeface="Calibri"/>
              </a:defRPr>
            </a:lvl4pPr>
            <a:lvl5pPr algn="l">
              <a:defRPr sz="1238" b="0">
                <a:solidFill>
                  <a:srgbClr val="1B3A5C"/>
                </a:solidFill>
                <a:latin typeface="Calibri"/>
                <a:ea typeface="Calibri"/>
                <a:cs typeface="Calibri"/>
              </a:defRPr>
            </a:lvl5pPr>
            <a:lvl6pPr algn="l">
              <a:defRPr sz="1238" b="0">
                <a:solidFill>
                  <a:srgbClr val="1B3A5C"/>
                </a:solidFill>
                <a:latin typeface="Calibri"/>
                <a:ea typeface="Calibri"/>
                <a:cs typeface="Calibri"/>
              </a:defRPr>
            </a:lvl6pPr>
            <a:lvl7pPr algn="l">
              <a:defRPr sz="1238" b="0">
                <a:solidFill>
                  <a:srgbClr val="1B3A5C"/>
                </a:solidFill>
                <a:latin typeface="Calibri"/>
                <a:ea typeface="Calibri"/>
                <a:cs typeface="Calibri"/>
              </a:defRPr>
            </a:lvl7pPr>
            <a:lvl8pPr algn="l">
              <a:defRPr sz="1238" b="0">
                <a:solidFill>
                  <a:srgbClr val="1B3A5C"/>
                </a:solidFill>
                <a:latin typeface="Calibri"/>
                <a:ea typeface="Calibri"/>
                <a:cs typeface="Calibri"/>
              </a:defRPr>
            </a:lvl8pPr>
            <a:lvl9pPr algn="l">
              <a:defRPr sz="1238" b="0">
                <a:solidFill>
                  <a:srgbClr val="1B3A5C"/>
                </a:solidFill>
                <a:latin typeface="Calibri"/>
                <a:ea typeface="Calibri"/>
                <a:cs typeface="Calibri"/>
              </a:defRPr>
            </a:lvl9pPr>
          </a:lstStyle>
          <a:p xmlns:a="http://schemas.openxmlformats.org/drawingml/2006/main">
            <a:pPr algn="l">
              <a:lnSpc>
                <a:spcPct val="125000"/>
              </a:lnSpc>
              <a:buNone/>
              <a:defRPr sz="1238" b="0">
                <a:solidFill>
                  <a:srgbClr val="1B3A5C"/>
                </a:solidFill>
                <a:latin typeface="Calibri"/>
                <a:ea typeface="Calibri"/>
                <a:cs typeface="Calibri"/>
              </a:defRPr>
            </a:pPr>
            <a:r>
              <a:rPr sz="1238" b="0">
                <a:solidFill>
                  <a:srgbClr val="1B3A5C"/>
                </a:solidFill>
                <a:latin typeface="Calibri"/>
                <a:ea typeface="Calibri"/>
                <a:cs typeface="Calibri"/>
              </a:rPr>
              <a:t>资助项目：国家社会科学基金（23BYY178）</a:t>
            </a:r>
          </a:p>
        </p:txBody>
      </p:sp>
    </p:spTree>
    <p:extLst>
      <p:ext uri="{BB962C8B-B14F-4D97-AF65-F5344CB8AC3E}">
        <p14:creationId xmlns:p14="http://schemas.microsoft.com/office/powerpoint/2010/main" val="1381631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2FE3EE-6E6E-4088-93F9-A2FF878A1A98}"/>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4A0E5E-3CEF-4FB3-9E29-26E810988309}"/>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CD21A3-2C3B-4094-972C-11CBF5C37FBE}"/>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研究背景</a:t>
            </a:r>
          </a:p>
        </p:txBody>
      </p:sp>
      <p:sp>
        <p:nvSpPr>
          <p:cNvPr id="4" name="">
            <a:extLst xmlns:a="http://schemas.openxmlformats.org/drawingml/2006/main">
              <a:ext uri="{FF2B5EF4-FFF2-40B4-BE49-F238E27FC236}">
                <a16:creationId xmlns:a16="http://schemas.microsoft.com/office/drawing/2014/main" id="{695FCF7E-4F95-43C0-A5FD-6BFA9CD9A024}"/>
              </a:ext>
            </a:extLst>
          </p:cNvPr>
          <p:cNvSpPr>
            <a:spLocks xmlns:a="http://schemas.openxmlformats.org/drawingml/2006/main" noGrp="1"/>
          </p:cNvSpPr>
          <p:nvPr/>
        </p:nvSpPr>
        <p:spPr>
          <a:xfrm xmlns:a="http://schemas.openxmlformats.org/drawingml/2006/main">
            <a:off x="609600" y="1104900"/>
            <a:ext cx="7924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总体背景</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双语词汇系统在成年期持续受到知识积累、语言使用和认知老化的共同影响。词汇联想网络可通过连接、路径、聚集与社群结构，呈现词汇组织随年龄发生的整体变化。</a:t>
            </a:r>
          </a:p>
        </p:txBody>
      </p:sp>
      <p:sp>
        <p:nvSpPr>
          <p:cNvPr id="5" name="">
            <a:extLst xmlns:a="http://schemas.openxmlformats.org/drawingml/2006/main">
              <a:ext uri="{FF2B5EF4-FFF2-40B4-BE49-F238E27FC236}">
                <a16:creationId xmlns:a16="http://schemas.microsoft.com/office/drawing/2014/main" id="{0647E6E9-630D-4DD5-AF48-592123B95E0E}"/>
              </a:ext>
            </a:extLst>
          </p:cNvPr>
          <p:cNvSpPr>
            <a:spLocks xmlns:a="http://schemas.openxmlformats.org/drawingml/2006/main" noGrp="1"/>
          </p:cNvSpPr>
          <p:nvPr/>
        </p:nvSpPr>
        <p:spPr>
          <a:xfrm xmlns:a="http://schemas.openxmlformats.org/drawingml/2006/main">
            <a:off x="609600" y="2705100"/>
            <a:ext cx="7924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已有发现与证据</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大规模生命周期研究发现，语义网络的连接度在成年早期达到峰值后下降，路径长度、聚类与模块化随年龄呈现阶段性变化（Dubossarsky et al., 2017；Wulff et al., 2022）。老年群体内部差异较大，持续学习和丰富语言经验可能维持或重组网络结构（Cosgrove et al., 2021；Hills, 2025）。</a:t>
            </a:r>
          </a:p>
        </p:txBody>
      </p:sp>
    </p:spTree>
    <p:extLst>
      <p:ext uri="{BB962C8B-B14F-4D97-AF65-F5344CB8AC3E}">
        <p14:creationId xmlns:p14="http://schemas.microsoft.com/office/powerpoint/2010/main" val="14725305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1CA809-484D-4982-AD41-4EFDE8B57CBB}"/>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43B5A7-C504-4975-B269-2FA216014181}"/>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87982C-70D5-43E6-A33C-341F191A4347}"/>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现有研究不足之处</a:t>
            </a:r>
          </a:p>
        </p:txBody>
      </p:sp>
      <p:sp>
        <p:nvSpPr>
          <p:cNvPr id="4" name="">
            <a:extLst xmlns:a="http://schemas.openxmlformats.org/drawingml/2006/main">
              <a:ext uri="{FF2B5EF4-FFF2-40B4-BE49-F238E27FC236}">
                <a16:creationId xmlns:a16="http://schemas.microsoft.com/office/drawing/2014/main" id="{C8DB4BB9-C7D0-467A-BC24-C630229ADE80}"/>
              </a:ext>
            </a:extLst>
          </p:cNvPr>
          <p:cNvSpPr>
            <a:spLocks xmlns:a="http://schemas.openxmlformats.org/drawingml/2006/main" noGrp="1"/>
          </p:cNvSpPr>
          <p:nvPr/>
        </p:nvSpPr>
        <p:spPr>
          <a:xfrm xmlns:a="http://schemas.openxmlformats.org/drawingml/2006/main">
            <a:off x="609600" y="1181100"/>
            <a:ext cx="79248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双语成人词汇网络的年龄变化证据有限，既有研究多聚焦年轻成人或采用单一年龄组，难以揭示中年至晚年的连续发展轨迹。</a:t>
            </a:r>
          </a:p>
          <a:p xmlns:a="http://schemas.openxmlformats.org/drawingml/2006/main">
            <a:pPr>
              <a:lnSpc>
                <a:spcPct val="135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既有双语网络研究主要基于语义流畅性任务、受限语义类别或描述性比较，关于母语与二语网络差异的结论并不一致（Borodkin et al., 2016；Agustín-Llach &amp; Palapanidi, 2024）。</a:t>
            </a:r>
          </a:p>
          <a:p xmlns:a="http://schemas.openxmlformats.org/drawingml/2006/main">
            <a:pPr>
              <a:lnSpc>
                <a:spcPct val="135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同一批双语者的母语与二语自由词汇联想网络是否呈现相同的年龄轨迹，尚缺少系统的统计检验。</a:t>
            </a:r>
          </a:p>
        </p:txBody>
      </p:sp>
    </p:spTree>
    <p:extLst>
      <p:ext uri="{BB962C8B-B14F-4D97-AF65-F5344CB8AC3E}">
        <p14:creationId xmlns:p14="http://schemas.microsoft.com/office/powerpoint/2010/main" val="11005827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E10953-6039-4981-8AAA-116A39862852}"/>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D1E019-EBD6-4E40-AA4C-EFFD07FFDE4E}"/>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71FD75-BE01-4FFC-9C98-57F080AEF223}"/>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研究问题</a:t>
            </a:r>
          </a:p>
        </p:txBody>
      </p:sp>
      <p:sp>
        <p:nvSpPr>
          <p:cNvPr id="4" name="">
            <a:extLst xmlns:a="http://schemas.openxmlformats.org/drawingml/2006/main">
              <a:ext uri="{FF2B5EF4-FFF2-40B4-BE49-F238E27FC236}">
                <a16:creationId xmlns:a16="http://schemas.microsoft.com/office/drawing/2014/main" id="{146ADB0E-7778-4997-B7A8-1E67AEA9D271}"/>
              </a:ext>
            </a:extLst>
          </p:cNvPr>
          <p:cNvSpPr>
            <a:spLocks xmlns:a="http://schemas.openxmlformats.org/drawingml/2006/main" noGrp="1"/>
          </p:cNvSpPr>
          <p:nvPr/>
        </p:nvSpPr>
        <p:spPr>
          <a:xfrm xmlns:a="http://schemas.openxmlformats.org/drawingml/2006/main">
            <a:off x="609600" y="1371600"/>
            <a:ext cx="7924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40000"/>
              </a:lnSpc>
              <a:spcAft>
                <a:spcPts val="24"/>
              </a:spcAft>
              <a:buNone/>
              <a:defRPr sz="1500">
                <a:solidFill>
                  <a:srgbClr val="111111"/>
                </a:solidFill>
                <a:latin typeface="Calibri"/>
                <a:ea typeface="Calibri"/>
                <a:cs typeface="Calibri"/>
              </a:defRPr>
            </a:pPr>
            <a:r>
              <a:rPr sz="1500">
                <a:solidFill>
                  <a:srgbClr val="111111"/>
                </a:solidFill>
                <a:latin typeface="Calibri"/>
                <a:ea typeface="Calibri"/>
                <a:cs typeface="Calibri"/>
              </a:rPr>
              <a:t>RQ1：母语汉语和二语英语词汇联想网络的平均度、平均最短路径、聚类系数和模块度如何随年龄变化？</a:t>
            </a:r>
          </a:p>
          <a:p xmlns:a="http://schemas.openxmlformats.org/drawingml/2006/main">
            <a:pPr>
              <a:lnSpc>
                <a:spcPct val="140000"/>
              </a:lnSpc>
              <a:spcAft>
                <a:spcPts val="24"/>
              </a:spcAft>
              <a:buNone/>
              <a:defRPr sz="1500">
                <a:solidFill>
                  <a:srgbClr val="111111"/>
                </a:solidFill>
                <a:latin typeface="Calibri"/>
                <a:ea typeface="Calibri"/>
                <a:cs typeface="Calibri"/>
              </a:defRPr>
            </a:pPr>
            <a:r>
              <a:rPr sz="1500">
                <a:solidFill>
                  <a:srgbClr val="111111"/>
                </a:solidFill>
                <a:latin typeface="Calibri"/>
                <a:ea typeface="Calibri"/>
                <a:cs typeface="Calibri"/>
              </a:rPr>
              <a:t>RQ2：母语与二语的年龄变化轨迹是否存在差异？</a:t>
            </a:r>
          </a:p>
        </p:txBody>
      </p:sp>
    </p:spTree>
    <p:extLst>
      <p:ext uri="{BB962C8B-B14F-4D97-AF65-F5344CB8AC3E}">
        <p14:creationId xmlns:p14="http://schemas.microsoft.com/office/powerpoint/2010/main" val="4135022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E32C97-5048-46AA-B760-8C37B3D20A36}"/>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A8D071-D330-4D76-9F5C-AAF5C8C3CC39}"/>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9AD3C8-B164-4BC2-B83A-C69C516CBC85}"/>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研究被试</a:t>
            </a:r>
          </a:p>
        </p:txBody>
      </p:sp>
      <p:sp>
        <p:nvSpPr>
          <p:cNvPr id="4" name="">
            <a:extLst xmlns:a="http://schemas.openxmlformats.org/drawingml/2006/main">
              <a:ext uri="{FF2B5EF4-FFF2-40B4-BE49-F238E27FC236}">
                <a16:creationId xmlns:a16="http://schemas.microsoft.com/office/drawing/2014/main" id="{4E18408D-8C00-46BC-8FA5-1E5C27BA64D3}"/>
              </a:ext>
            </a:extLst>
          </p:cNvPr>
          <p:cNvSpPr>
            <a:spLocks xmlns:a="http://schemas.openxmlformats.org/drawingml/2006/main" noGrp="1"/>
          </p:cNvSpPr>
          <p:nvPr/>
        </p:nvSpPr>
        <p:spPr>
          <a:xfrm xmlns:a="http://schemas.openxmlformats.org/drawingml/2006/main">
            <a:off x="609600" y="1047750"/>
            <a:ext cx="792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共117人，女性78人、男性39人；29人有海外学习经历。参与者均来自江苏高校，未报告神经或认知障碍。</a:t>
            </a:r>
          </a:p>
        </p:txBody>
      </p:sp>
      <p:graphicFrame>
        <p:nvGraphicFramePr>
          <p:cNvPr id="5" name="">
            <a:extLst xmlns:a="http://schemas.openxmlformats.org/drawingml/2006/main">
              <a:ext uri="{FF2B5EF4-FFF2-40B4-BE49-F238E27FC236}">
                <a16:creationId xmlns:a16="http://schemas.microsoft.com/office/drawing/2014/main" id="{540F09EB-7540-45BF-AAF6-52F24048CB44}"/>
              </a:ext>
            </a:extLst>
          </p:cNvPr>
          <p:cNvGraphicFramePr/>
          <p:nvPr/>
        </p:nvGraphicFramePr>
        <p:xfrm>
          <a:off xmlns:a="http://schemas.openxmlformats.org/drawingml/2006/main" x="533400" y="1638300"/>
          <a:ext xmlns:a="http://schemas.openxmlformats.org/drawingml/2006/main" cx="8077200" cy="2362200"/>
        </p:xfrm>
        <a:graphic xmlns:a="http://schemas.openxmlformats.org/drawingml/2006/main">
          <a:graphicData uri="http://schemas.openxmlformats.org/drawingml/2006/table">
            <a:tbl>
              <a:tblPr/>
              <a:tblGrid>
                <a:gridCol w="1485900"/>
                <a:gridCol w="1047750"/>
                <a:gridCol w="1381125"/>
                <a:gridCol w="1381125"/>
                <a:gridCol w="2781300"/>
              </a:tblGrid>
              <a:tr h="472440">
                <a:tc>
                  <a:txBody>
                    <a:bodyPr/>
                    <a:lstStyle/>
                    <a:p>
                      <a:pPr algn="ctr"/>
                      <a:r>
                        <a:rPr sz="1200" b="1">
                          <a:solidFill>
                            <a:srgbClr val="FFFFFF"/>
                          </a:solidFill>
                          <a:latin typeface="Calibri"/>
                          <a:ea typeface="Calibri"/>
                          <a:cs typeface="Calibri"/>
                        </a:rPr>
                        <a:t>年龄组</a:t>
                      </a:r>
                    </a:p>
                  </a:txBody>
                  <a:tcPr marL="47625" marR="47625" marT="38100" marB="38100" anchor="ctr">
                    <a:lnL w="9525">
                      <a:solidFill>
                        <a:srgbClr val="1B3A5C"/>
                      </a:solidFill>
                      <a:prstDash val="solid"/>
                    </a:lnL>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人数</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平均年龄</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年龄标准差</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样本说明</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r>
              <a:tr h="472440">
                <a:tc>
                  <a:txBody>
                    <a:bodyPr/>
                    <a:lstStyle/>
                    <a:p>
                      <a:pPr algn="ctr"/>
                      <a:r>
                        <a:rPr sz="1200">
                          <a:solidFill>
                            <a:srgbClr val="111111"/>
                          </a:solidFill>
                          <a:latin typeface="Calibri"/>
                          <a:ea typeface="Calibri"/>
                          <a:cs typeface="Calibri"/>
                        </a:rPr>
                        <a:t>30–40岁</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30</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36.23</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2.81</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在职大学英语教师</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472440">
                <a:tc>
                  <a:txBody>
                    <a:bodyPr/>
                    <a:lstStyle/>
                    <a:p>
                      <a:pPr algn="ctr"/>
                      <a:r>
                        <a:rPr sz="1200">
                          <a:solidFill>
                            <a:srgbClr val="111111"/>
                          </a:solidFill>
                          <a:latin typeface="Calibri"/>
                          <a:ea typeface="Calibri"/>
                          <a:cs typeface="Calibri"/>
                        </a:rPr>
                        <a:t>41–50岁</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30</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42.73</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2.64</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在职大学英语教师</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472440">
                <a:tc>
                  <a:txBody>
                    <a:bodyPr/>
                    <a:lstStyle/>
                    <a:p>
                      <a:pPr algn="ctr"/>
                      <a:r>
                        <a:rPr sz="1200">
                          <a:solidFill>
                            <a:srgbClr val="111111"/>
                          </a:solidFill>
                          <a:latin typeface="Calibri"/>
                          <a:ea typeface="Calibri"/>
                          <a:cs typeface="Calibri"/>
                        </a:rPr>
                        <a:t>51–60岁</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30</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54.53</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2.91</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200">
                          <a:solidFill>
                            <a:srgbClr val="111111"/>
                          </a:solidFill>
                          <a:latin typeface="Calibri"/>
                          <a:ea typeface="Calibri"/>
                          <a:cs typeface="Calibri"/>
                        </a:rPr>
                        <a:t>在职大学英语教师</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472440">
                <a:tc>
                  <a:txBody>
                    <a:bodyPr/>
                    <a:lstStyle/>
                    <a:p>
                      <a:pPr algn="ctr"/>
                      <a:r>
                        <a:rPr sz="1200">
                          <a:solidFill>
                            <a:srgbClr val="111111"/>
                          </a:solidFill>
                          <a:latin typeface="Calibri"/>
                          <a:ea typeface="Calibri"/>
                          <a:cs typeface="Calibri"/>
                        </a:rPr>
                        <a:t>61–70岁</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27</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65.04</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2.43</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200">
                          <a:solidFill>
                            <a:srgbClr val="111111"/>
                          </a:solidFill>
                          <a:latin typeface="Calibri"/>
                          <a:ea typeface="Calibri"/>
                          <a:cs typeface="Calibri"/>
                        </a:rPr>
                        <a:t>在职大学英语教师</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bl>
          </a:graphicData>
        </a:graphic>
      </p:graphicFrame>
    </p:spTree>
    <p:extLst>
      <p:ext uri="{BB962C8B-B14F-4D97-AF65-F5344CB8AC3E}">
        <p14:creationId xmlns:p14="http://schemas.microsoft.com/office/powerpoint/2010/main" val="1674657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2AA6E3-EE08-4B5C-9468-00B1EB2C94DD}"/>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FA242-9523-49CF-BA94-812981795BE2}"/>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DF452C-A505-466E-98B6-FD4CF653D0FD}"/>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实验材料</a:t>
            </a:r>
          </a:p>
        </p:txBody>
      </p:sp>
      <p:sp>
        <p:nvSpPr>
          <p:cNvPr id="4" name="">
            <a:extLst xmlns:a="http://schemas.openxmlformats.org/drawingml/2006/main">
              <a:ext uri="{FF2B5EF4-FFF2-40B4-BE49-F238E27FC236}">
                <a16:creationId xmlns:a16="http://schemas.microsoft.com/office/drawing/2014/main" id="{56FA4A1C-873E-4AF1-B09A-337E0A5F5F9F}"/>
              </a:ext>
            </a:extLst>
          </p:cNvPr>
          <p:cNvSpPr>
            <a:spLocks xmlns:a="http://schemas.openxmlformats.org/drawingml/2006/main" noGrp="1"/>
          </p:cNvSpPr>
          <p:nvPr/>
        </p:nvSpPr>
        <p:spPr>
          <a:xfrm xmlns:a="http://schemas.openxmlformats.org/drawingml/2006/main">
            <a:off x="609600" y="10668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汉英两套刺激词用于构建可比较的母语与二语词汇联想网络。</a:t>
            </a:r>
          </a:p>
        </p:txBody>
      </p:sp>
      <p:graphicFrame>
        <p:nvGraphicFramePr>
          <p:cNvPr id="5" name="">
            <a:extLst xmlns:a="http://schemas.openxmlformats.org/drawingml/2006/main">
              <a:ext uri="{FF2B5EF4-FFF2-40B4-BE49-F238E27FC236}">
                <a16:creationId xmlns:a16="http://schemas.microsoft.com/office/drawing/2014/main" id="{FF1D2E5C-4246-4D85-A542-BAA9E187ABA7}"/>
              </a:ext>
            </a:extLst>
          </p:cNvPr>
          <p:cNvGraphicFramePr/>
          <p:nvPr/>
        </p:nvGraphicFramePr>
        <p:xfrm>
          <a:off xmlns:a="http://schemas.openxmlformats.org/drawingml/2006/main" x="533400" y="1676400"/>
          <a:ext xmlns:a="http://schemas.openxmlformats.org/drawingml/2006/main" cx="8077200" cy="2000250"/>
        </p:xfrm>
        <a:graphic xmlns:a="http://schemas.openxmlformats.org/drawingml/2006/main">
          <a:graphicData uri="http://schemas.openxmlformats.org/drawingml/2006/table">
            <a:tbl>
              <a:tblPr/>
              <a:tblGrid>
                <a:gridCol w="1428750"/>
                <a:gridCol w="857250"/>
                <a:gridCol w="2381250"/>
                <a:gridCol w="3409950"/>
              </a:tblGrid>
              <a:tr h="666750">
                <a:tc>
                  <a:txBody>
                    <a:bodyPr/>
                    <a:lstStyle/>
                    <a:p>
                      <a:pPr algn="ctr"/>
                      <a:r>
                        <a:rPr sz="1200" b="1">
                          <a:solidFill>
                            <a:srgbClr val="FFFFFF"/>
                          </a:solidFill>
                          <a:latin typeface="Calibri"/>
                          <a:ea typeface="Calibri"/>
                          <a:cs typeface="Calibri"/>
                        </a:rPr>
                        <a:t>材料</a:t>
                      </a:r>
                    </a:p>
                  </a:txBody>
                  <a:tcPr marL="47625" marR="47625" marT="38100" marB="38100" anchor="ctr">
                    <a:lnL w="9525">
                      <a:solidFill>
                        <a:srgbClr val="1B3A5C"/>
                      </a:solidFill>
                      <a:prstDash val="solid"/>
                    </a:lnL>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数量</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覆盖范围</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00" b="1">
                          <a:solidFill>
                            <a:srgbClr val="FFFFFF"/>
                          </a:solidFill>
                          <a:latin typeface="Calibri"/>
                          <a:ea typeface="Calibri"/>
                          <a:cs typeface="Calibri"/>
                        </a:rPr>
                        <a:t>控制变量</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r>
              <a:tr h="666750">
                <a:tc>
                  <a:txBody>
                    <a:bodyPr/>
                    <a:lstStyle/>
                    <a:p>
                      <a:pPr algn="ctr"/>
                      <a:r>
                        <a:rPr sz="1125">
                          <a:solidFill>
                            <a:srgbClr val="111111"/>
                          </a:solidFill>
                          <a:latin typeface="Calibri"/>
                          <a:ea typeface="Calibri"/>
                          <a:cs typeface="Calibri"/>
                        </a:rPr>
                        <a:t>英语刺激词</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1125">
                          <a:solidFill>
                            <a:srgbClr val="111111"/>
                          </a:solidFill>
                          <a:latin typeface="Calibri"/>
                          <a:ea typeface="Calibri"/>
                          <a:cs typeface="Calibri"/>
                        </a:rPr>
                        <a:t>30</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125">
                          <a:solidFill>
                            <a:srgbClr val="111111"/>
                          </a:solidFill>
                          <a:latin typeface="Calibri"/>
                          <a:ea typeface="Calibri"/>
                          <a:cs typeface="Calibri"/>
                        </a:rPr>
                        <a:t>名词、动词、形容词；具体词与抽象词</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125">
                          <a:solidFill>
                            <a:srgbClr val="111111"/>
                          </a:solidFill>
                          <a:latin typeface="Calibri"/>
                          <a:ea typeface="Calibri"/>
                          <a:cs typeface="Calibri"/>
                        </a:rPr>
                        <a:t>词性、具体性、词长；多数位于高频词表前2000词</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666750">
                <a:tc>
                  <a:txBody>
                    <a:bodyPr/>
                    <a:lstStyle/>
                    <a:p>
                      <a:pPr algn="ctr"/>
                      <a:r>
                        <a:rPr sz="1125">
                          <a:solidFill>
                            <a:srgbClr val="111111"/>
                          </a:solidFill>
                          <a:latin typeface="Calibri"/>
                          <a:ea typeface="Calibri"/>
                          <a:cs typeface="Calibri"/>
                        </a:rPr>
                        <a:t>汉语对应词</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1125">
                          <a:solidFill>
                            <a:srgbClr val="111111"/>
                          </a:solidFill>
                          <a:latin typeface="Calibri"/>
                          <a:ea typeface="Calibri"/>
                          <a:cs typeface="Calibri"/>
                        </a:rPr>
                        <a:t>30</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125">
                          <a:solidFill>
                            <a:srgbClr val="111111"/>
                          </a:solidFill>
                          <a:latin typeface="Calibri"/>
                          <a:ea typeface="Calibri"/>
                          <a:cs typeface="Calibri"/>
                        </a:rPr>
                        <a:t>与英语词构成翻译对应关系</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125">
                          <a:solidFill>
                            <a:srgbClr val="111111"/>
                          </a:solidFill>
                          <a:latin typeface="Calibri"/>
                          <a:ea typeface="Calibri"/>
                          <a:cs typeface="Calibri"/>
                        </a:rPr>
                        <a:t>词性、具体性、笔画数</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bl>
          </a:graphicData>
        </a:graphic>
      </p:graphicFrame>
    </p:spTree>
    <p:extLst>
      <p:ext uri="{BB962C8B-B14F-4D97-AF65-F5344CB8AC3E}">
        <p14:creationId xmlns:p14="http://schemas.microsoft.com/office/powerpoint/2010/main" val="374325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B1E329-5986-44E0-906B-5A7C7D2F30DC}"/>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3DE712-4E3B-48D7-9DDA-FF35899F29D1}"/>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47843E-C0DA-4453-B2A0-B4E9B940FCE6}"/>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实验任务</a:t>
            </a:r>
          </a:p>
        </p:txBody>
      </p:sp>
      <p:graphicFrame>
        <p:nvGraphicFramePr>
          <p:cNvPr id="4" name="">
            <a:extLst xmlns:a="http://schemas.openxmlformats.org/drawingml/2006/main">
              <a:ext uri="{FF2B5EF4-FFF2-40B4-BE49-F238E27FC236}">
                <a16:creationId xmlns:a16="http://schemas.microsoft.com/office/drawing/2014/main" id="{D2ECD871-CEC7-48DA-A4B7-E1435CFD68B7}"/>
              </a:ext>
            </a:extLst>
          </p:cNvPr>
          <p:cNvGraphicFramePr/>
          <p:nvPr/>
        </p:nvGraphicFramePr>
        <p:xfrm>
          <a:off xmlns:a="http://schemas.openxmlformats.org/drawingml/2006/main" x="666750" y="1352550"/>
          <a:ext xmlns:a="http://schemas.openxmlformats.org/drawingml/2006/main" cx="7810500" cy="2800350"/>
        </p:xfrm>
        <a:graphic xmlns:a="http://schemas.openxmlformats.org/drawingml/2006/main">
          <a:graphicData uri="http://schemas.openxmlformats.org/drawingml/2006/table">
            <a:tbl>
              <a:tblPr/>
              <a:tblGrid>
                <a:gridCol w="1809750"/>
                <a:gridCol w="6000750"/>
              </a:tblGrid>
              <a:tr h="560070">
                <a:tc>
                  <a:txBody>
                    <a:bodyPr/>
                    <a:lstStyle/>
                    <a:p>
                      <a:pPr algn="ctr"/>
                      <a:r>
                        <a:rPr sz="1275" b="1">
                          <a:solidFill>
                            <a:srgbClr val="FFFFFF"/>
                          </a:solidFill>
                          <a:latin typeface="Calibri"/>
                          <a:ea typeface="Calibri"/>
                          <a:cs typeface="Calibri"/>
                        </a:rPr>
                        <a:t>项目</a:t>
                      </a:r>
                    </a:p>
                  </a:txBody>
                  <a:tcPr marL="47625" marR="47625" marT="38100" marB="38100" anchor="ctr">
                    <a:lnL w="9525">
                      <a:solidFill>
                        <a:srgbClr val="1B3A5C"/>
                      </a:solidFill>
                      <a:prstDash val="solid"/>
                    </a:lnL>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275" b="1">
                          <a:solidFill>
                            <a:srgbClr val="FFFFFF"/>
                          </a:solidFill>
                          <a:latin typeface="Calibri"/>
                          <a:ea typeface="Calibri"/>
                          <a:cs typeface="Calibri"/>
                        </a:rPr>
                        <a:t>任务要求</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r>
              <a:tr h="560070">
                <a:tc>
                  <a:txBody>
                    <a:bodyPr/>
                    <a:lstStyle/>
                    <a:p>
                      <a:pPr algn="l"/>
                      <a:r>
                        <a:rPr sz="1200">
                          <a:solidFill>
                            <a:srgbClr val="111111"/>
                          </a:solidFill>
                          <a:latin typeface="Calibri"/>
                          <a:ea typeface="Calibri"/>
                          <a:cs typeface="Calibri"/>
                        </a:rPr>
                        <a:t>任务类型</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l"/>
                      <a:r>
                        <a:rPr sz="1200">
                          <a:solidFill>
                            <a:srgbClr val="111111"/>
                          </a:solidFill>
                          <a:latin typeface="Calibri"/>
                          <a:ea typeface="Calibri"/>
                          <a:cs typeface="Calibri"/>
                        </a:rPr>
                        <a:t>连续词汇联想任务（continuous word association task）</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560070">
                <a:tc>
                  <a:txBody>
                    <a:bodyPr/>
                    <a:lstStyle/>
                    <a:p>
                      <a:pPr algn="l"/>
                      <a:r>
                        <a:rPr sz="1200">
                          <a:solidFill>
                            <a:srgbClr val="111111"/>
                          </a:solidFill>
                          <a:latin typeface="Calibri"/>
                          <a:ea typeface="Calibri"/>
                          <a:cs typeface="Calibri"/>
                        </a:rPr>
                        <a:t>刺激呈现</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l"/>
                      <a:r>
                        <a:rPr sz="1200">
                          <a:solidFill>
                            <a:srgbClr val="111111"/>
                          </a:solidFill>
                          <a:latin typeface="Calibri"/>
                          <a:ea typeface="Calibri"/>
                          <a:cs typeface="Calibri"/>
                        </a:rPr>
                        <a:t>在线程序逐词呈现30个刺激词</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560070">
                <a:tc>
                  <a:txBody>
                    <a:bodyPr/>
                    <a:lstStyle/>
                    <a:p>
                      <a:pPr algn="l"/>
                      <a:r>
                        <a:rPr sz="1200">
                          <a:solidFill>
                            <a:srgbClr val="111111"/>
                          </a:solidFill>
                          <a:latin typeface="Calibri"/>
                          <a:ea typeface="Calibri"/>
                          <a:cs typeface="Calibri"/>
                        </a:rPr>
                        <a:t>作答方式</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l"/>
                      <a:r>
                        <a:rPr sz="1200">
                          <a:solidFill>
                            <a:srgbClr val="111111"/>
                          </a:solidFill>
                          <a:latin typeface="Calibri"/>
                          <a:ea typeface="Calibri"/>
                          <a:cs typeface="Calibri"/>
                        </a:rPr>
                        <a:t>每个刺激词输入最先想到的3个同语种反应词</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560070">
                <a:tc>
                  <a:txBody>
                    <a:bodyPr/>
                    <a:lstStyle/>
                    <a:p>
                      <a:pPr algn="l"/>
                      <a:r>
                        <a:rPr sz="1200">
                          <a:solidFill>
                            <a:srgbClr val="111111"/>
                          </a:solidFill>
                          <a:latin typeface="Calibri"/>
                          <a:ea typeface="Calibri"/>
                          <a:cs typeface="Calibri"/>
                        </a:rPr>
                        <a:t>时间要求</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l"/>
                      <a:r>
                        <a:rPr sz="1200">
                          <a:solidFill>
                            <a:srgbClr val="111111"/>
                          </a:solidFill>
                          <a:latin typeface="Calibri"/>
                          <a:ea typeface="Calibri"/>
                          <a:cs typeface="Calibri"/>
                        </a:rPr>
                        <a:t>不设时间限制，要求自然、即时作答；支持键盘输入和语音转写</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bl>
          </a:graphicData>
        </a:graphic>
      </p:graphicFrame>
    </p:spTree>
    <p:extLst>
      <p:ext uri="{BB962C8B-B14F-4D97-AF65-F5344CB8AC3E}">
        <p14:creationId xmlns:p14="http://schemas.microsoft.com/office/powerpoint/2010/main" val="18279160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F1A407-C08F-4E4A-BF40-F1254EC658DE}"/>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328E94-673A-4C4C-8172-C67A45D8E9C7}"/>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7EE6CB-8E1D-434A-B114-D873169366F7}"/>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实验过程</a:t>
            </a:r>
          </a:p>
        </p:txBody>
      </p:sp>
      <p:sp>
        <p:nvSpPr>
          <p:cNvPr id="4" name="">
            <a:extLst xmlns:a="http://schemas.openxmlformats.org/drawingml/2006/main">
              <a:ext uri="{FF2B5EF4-FFF2-40B4-BE49-F238E27FC236}">
                <a16:creationId xmlns:a16="http://schemas.microsoft.com/office/drawing/2014/main" id="{96CD6B36-D085-471A-B929-119D4CC3BDE3}"/>
              </a:ext>
            </a:extLst>
          </p:cNvPr>
          <p:cNvSpPr>
            <a:spLocks xmlns:a="http://schemas.openxmlformats.org/drawingml/2006/main" noGrp="1"/>
          </p:cNvSpPr>
          <p:nvPr/>
        </p:nvSpPr>
        <p:spPr>
          <a:xfrm xmlns:a="http://schemas.openxmlformats.org/drawingml/2006/main">
            <a:off x="609600" y="1143000"/>
            <a:ext cx="7924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2000"/>
              </a:lnSpc>
              <a:spcAft>
                <a:spcPts val="13"/>
              </a:spcAft>
              <a:buNone/>
              <a:defRPr sz="1500">
                <a:solidFill>
                  <a:srgbClr val="111111"/>
                </a:solidFill>
                <a:latin typeface="Calibri"/>
                <a:ea typeface="Calibri"/>
                <a:cs typeface="Calibri"/>
              </a:defRPr>
            </a:pPr>
            <a:r>
              <a:rPr sz="1500">
                <a:solidFill>
                  <a:srgbClr val="111111"/>
                </a:solidFill>
                <a:latin typeface="Calibri"/>
                <a:ea typeface="Calibri"/>
                <a:cs typeface="Calibri"/>
              </a:rPr>
              <a:t>1. 2024年下半年开展数据采集，参与者先完成英语词汇联想任务。</a:t>
            </a:r>
          </a:p>
          <a:p xmlns:a="http://schemas.openxmlformats.org/drawingml/2006/main">
            <a:pPr>
              <a:lnSpc>
                <a:spcPct val="132000"/>
              </a:lnSpc>
              <a:spcAft>
                <a:spcPts val="13"/>
              </a:spcAft>
              <a:buNone/>
              <a:defRPr sz="1500">
                <a:solidFill>
                  <a:srgbClr val="111111"/>
                </a:solidFill>
                <a:latin typeface="Calibri"/>
                <a:ea typeface="Calibri"/>
                <a:cs typeface="Calibri"/>
              </a:defRPr>
            </a:pPr>
            <a:r>
              <a:rPr sz="1500">
                <a:solidFill>
                  <a:srgbClr val="111111"/>
                </a:solidFill>
                <a:latin typeface="Calibri"/>
                <a:ea typeface="Calibri"/>
                <a:cs typeface="Calibri"/>
              </a:rPr>
              <a:t>2. 约6个月后完成汉语词汇联想任务；两次任务采用相同的刺激词顺序和作答要求。</a:t>
            </a:r>
          </a:p>
          <a:p xmlns:a="http://schemas.openxmlformats.org/drawingml/2006/main">
            <a:pPr>
              <a:lnSpc>
                <a:spcPct val="132000"/>
              </a:lnSpc>
              <a:spcAft>
                <a:spcPts val="13"/>
              </a:spcAft>
              <a:buNone/>
              <a:defRPr sz="1500">
                <a:solidFill>
                  <a:srgbClr val="111111"/>
                </a:solidFill>
                <a:latin typeface="Calibri"/>
                <a:ea typeface="Calibri"/>
                <a:cs typeface="Calibri"/>
              </a:defRPr>
            </a:pPr>
            <a:r>
              <a:rPr sz="1500">
                <a:solidFill>
                  <a:srgbClr val="111111"/>
                </a:solidFill>
                <a:latin typeface="Calibri"/>
                <a:ea typeface="Calibri"/>
                <a:cs typeface="Calibri"/>
              </a:rPr>
              <a:t>3. 30–60岁三个组在每种语言中各获得2700个反应，61–70岁组各获得2430个反应。</a:t>
            </a:r>
          </a:p>
          <a:p xmlns:a="http://schemas.openxmlformats.org/drawingml/2006/main">
            <a:pPr>
              <a:lnSpc>
                <a:spcPct val="132000"/>
              </a:lnSpc>
              <a:spcAft>
                <a:spcPts val="13"/>
              </a:spcAft>
              <a:buNone/>
              <a:defRPr sz="1500">
                <a:solidFill>
                  <a:srgbClr val="111111"/>
                </a:solidFill>
                <a:latin typeface="Calibri"/>
                <a:ea typeface="Calibri"/>
                <a:cs typeface="Calibri"/>
              </a:defRPr>
            </a:pPr>
            <a:r>
              <a:rPr sz="1500">
                <a:solidFill>
                  <a:srgbClr val="111111"/>
                </a:solidFill>
                <a:latin typeface="Calibri"/>
                <a:ea typeface="Calibri"/>
                <a:cs typeface="Calibri"/>
              </a:rPr>
              <a:t>4. 英语反应统一美式拼写、校正拼写并进行词形还原；汉语反应按需要删除形容词后的“的”。</a:t>
            </a:r>
          </a:p>
        </p:txBody>
      </p:sp>
    </p:spTree>
    <p:extLst>
      <p:ext uri="{BB962C8B-B14F-4D97-AF65-F5344CB8AC3E}">
        <p14:creationId xmlns:p14="http://schemas.microsoft.com/office/powerpoint/2010/main" val="1673822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A20EE7-3932-4677-A6AE-F59C8CCC1E5A}"/>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863EC9-3535-4793-B907-4E0FFB8FA4DD}"/>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6D5550-BF04-4B00-8741-F544A98C3F74}"/>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数据分析</a:t>
            </a:r>
          </a:p>
        </p:txBody>
      </p:sp>
      <p:sp>
        <p:nvSpPr>
          <p:cNvPr id="4" name="">
            <a:extLst xmlns:a="http://schemas.openxmlformats.org/drawingml/2006/main">
              <a:ext uri="{FF2B5EF4-FFF2-40B4-BE49-F238E27FC236}">
                <a16:creationId xmlns:a16="http://schemas.microsoft.com/office/drawing/2014/main" id="{8B124A4C-ACC8-439F-A057-CC11CF6AA31E}"/>
              </a:ext>
            </a:extLst>
          </p:cNvPr>
          <p:cNvSpPr>
            <a:spLocks xmlns:a="http://schemas.openxmlformats.org/drawingml/2006/main" noGrp="1"/>
          </p:cNvSpPr>
          <p:nvPr/>
        </p:nvSpPr>
        <p:spPr>
          <a:xfrm xmlns:a="http://schemas.openxmlformats.org/drawingml/2006/main">
            <a:off x="609600" y="1047750"/>
            <a:ext cx="7924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网络构建</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采用反应词—反应词网络（response–response network）。节点为独特反应词；同一刺激词下共同出现的反应词形成边；边权表示词对共同出现于不同刺激词下的次数。</a:t>
            </a:r>
          </a:p>
        </p:txBody>
      </p:sp>
      <p:sp>
        <p:nvSpPr>
          <p:cNvPr id="5" name="">
            <a:extLst xmlns:a="http://schemas.openxmlformats.org/drawingml/2006/main">
              <a:ext uri="{FF2B5EF4-FFF2-40B4-BE49-F238E27FC236}">
                <a16:creationId xmlns:a16="http://schemas.microsoft.com/office/drawing/2014/main" id="{1D5012D4-E34D-4207-9572-0D828B4CF7EF}"/>
              </a:ext>
            </a:extLst>
          </p:cNvPr>
          <p:cNvSpPr>
            <a:spLocks xmlns:a="http://schemas.openxmlformats.org/drawingml/2006/main" noGrp="1"/>
          </p:cNvSpPr>
          <p:nvPr/>
        </p:nvSpPr>
        <p:spPr>
          <a:xfrm xmlns:a="http://schemas.openxmlformats.org/drawingml/2006/main">
            <a:off x="609600" y="2628900"/>
            <a:ext cx="792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指标与统计</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计算平均度〈k〉、平均最短路径 L、聚类系数 C 和模块度 Q。每个原始网络抽取100个含1000个节点的广度优先搜索子图，以控制网络规模；通过年龄组×语言分析检验主效应和交互作用。</a:t>
            </a:r>
          </a:p>
        </p:txBody>
      </p:sp>
    </p:spTree>
    <p:extLst>
      <p:ext uri="{BB962C8B-B14F-4D97-AF65-F5344CB8AC3E}">
        <p14:creationId xmlns:p14="http://schemas.microsoft.com/office/powerpoint/2010/main" val="11092888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29962D-732A-4952-8E47-512696460C6C}"/>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69EF57-625A-4959-B96A-0AE1D4019392}"/>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83D54A-A43B-4BC9-B441-576C339949A7}"/>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研究结果（RQ1）</a:t>
            </a:r>
          </a:p>
        </p:txBody>
      </p:sp>
      <p:sp>
        <p:nvSpPr>
          <p:cNvPr id="4" name="">
            <a:extLst xmlns:a="http://schemas.openxmlformats.org/drawingml/2006/main">
              <a:ext uri="{FF2B5EF4-FFF2-40B4-BE49-F238E27FC236}">
                <a16:creationId xmlns:a16="http://schemas.microsoft.com/office/drawing/2014/main" id="{2F319712-3AE7-4A9F-AE00-8FD7F23EAE6F}"/>
              </a:ext>
            </a:extLst>
          </p:cNvPr>
          <p:cNvSpPr>
            <a:spLocks xmlns:a="http://schemas.openxmlformats.org/drawingml/2006/main" noGrp="1"/>
          </p:cNvSpPr>
          <p:nvPr/>
        </p:nvSpPr>
        <p:spPr>
          <a:xfrm xmlns:a="http://schemas.openxmlformats.org/drawingml/2006/main">
            <a:off x="609600" y="1028700"/>
            <a:ext cx="7924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1. </a:t>
            </a:r>
            <a:r>
              <a:rPr sz="1500">
                <a:solidFill>
                  <a:srgbClr val="111111"/>
                </a:solidFill>
                <a:latin typeface="Calibri"/>
                <a:ea typeface="Calibri"/>
                <a:cs typeface="Calibri"/>
              </a:rPr>
              <a:t>四项网络指标均存在显著年龄效应（均 p &lt; .001），变化并非线性下降。</a:t>
            </a:r>
          </a:p>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2. </a:t>
            </a:r>
            <a:r>
              <a:rPr sz="1500">
                <a:solidFill>
                  <a:srgbClr val="111111"/>
                </a:solidFill>
                <a:latin typeface="Calibri"/>
                <a:ea typeface="Calibri"/>
                <a:cs typeface="Calibri"/>
              </a:rPr>
              <a:t>平均度在41–50岁达到峰值；平均最短路径在中年阶段较短，随后回升。</a:t>
            </a:r>
          </a:p>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3. </a:t>
            </a:r>
            <a:r>
              <a:rPr sz="1500">
                <a:solidFill>
                  <a:srgbClr val="111111"/>
                </a:solidFill>
                <a:latin typeface="Calibri"/>
                <a:ea typeface="Calibri"/>
                <a:cs typeface="Calibri"/>
              </a:rPr>
              <a:t>聚类系数与模块度总体呈U形或阶段性波动，晚年母语网络的模块度明显升高。</a:t>
            </a:r>
          </a:p>
        </p:txBody>
      </p:sp>
      <p:graphicFrame>
        <p:nvGraphicFramePr>
          <p:cNvPr id="5" name="">
            <a:extLst xmlns:a="http://schemas.openxmlformats.org/drawingml/2006/main">
              <a:ext uri="{FF2B5EF4-FFF2-40B4-BE49-F238E27FC236}">
                <a16:creationId xmlns:a16="http://schemas.microsoft.com/office/drawing/2014/main" id="{E0176D7D-036B-4500-9199-C02E83222132}"/>
              </a:ext>
            </a:extLst>
          </p:cNvPr>
          <p:cNvGraphicFramePr/>
          <p:nvPr/>
        </p:nvGraphicFramePr>
        <p:xfrm>
          <a:off xmlns:a="http://schemas.openxmlformats.org/drawingml/2006/main" x="495300" y="2324100"/>
          <a:ext xmlns:a="http://schemas.openxmlformats.org/drawingml/2006/main" cx="8153400" cy="2343150"/>
        </p:xfrm>
        <a:graphic xmlns:a="http://schemas.openxmlformats.org/drawingml/2006/main">
          <a:graphicData uri="http://schemas.openxmlformats.org/drawingml/2006/table">
            <a:tbl>
              <a:tblPr/>
              <a:tblGrid>
                <a:gridCol w="1476375"/>
                <a:gridCol w="762000"/>
                <a:gridCol w="1476375"/>
                <a:gridCol w="1476375"/>
                <a:gridCol w="1476375"/>
                <a:gridCol w="1485900"/>
              </a:tblGrid>
              <a:tr h="260350">
                <a:tc>
                  <a:txBody>
                    <a:bodyPr/>
                    <a:lstStyle/>
                    <a:p>
                      <a:pPr algn="ctr"/>
                      <a:r>
                        <a:rPr sz="1013" b="1">
                          <a:solidFill>
                            <a:srgbClr val="FFFFFF"/>
                          </a:solidFill>
                          <a:latin typeface="Calibri"/>
                          <a:ea typeface="Calibri"/>
                          <a:cs typeface="Calibri"/>
                        </a:rPr>
                        <a:t>指标</a:t>
                      </a:r>
                    </a:p>
                  </a:txBody>
                  <a:tcPr marL="47625" marR="47625" marT="38100" marB="38100" anchor="ctr">
                    <a:lnL w="9525">
                      <a:solidFill>
                        <a:srgbClr val="1B3A5C"/>
                      </a:solidFill>
                      <a:prstDash val="solid"/>
                    </a:lnL>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13" b="1">
                          <a:solidFill>
                            <a:srgbClr val="FFFFFF"/>
                          </a:solidFill>
                          <a:latin typeface="Calibri"/>
                          <a:ea typeface="Calibri"/>
                          <a:cs typeface="Calibri"/>
                        </a:rPr>
                        <a:t>语言</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13" b="1">
                          <a:solidFill>
                            <a:srgbClr val="FFFFFF"/>
                          </a:solidFill>
                          <a:latin typeface="Calibri"/>
                          <a:ea typeface="Calibri"/>
                          <a:cs typeface="Calibri"/>
                        </a:rPr>
                        <a:t>30–40岁</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13" b="1">
                          <a:solidFill>
                            <a:srgbClr val="FFFFFF"/>
                          </a:solidFill>
                          <a:latin typeface="Calibri"/>
                          <a:ea typeface="Calibri"/>
                          <a:cs typeface="Calibri"/>
                        </a:rPr>
                        <a:t>41–50岁</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13" b="1">
                          <a:solidFill>
                            <a:srgbClr val="FFFFFF"/>
                          </a:solidFill>
                          <a:latin typeface="Calibri"/>
                          <a:ea typeface="Calibri"/>
                          <a:cs typeface="Calibri"/>
                        </a:rPr>
                        <a:t>51–60岁</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13" b="1">
                          <a:solidFill>
                            <a:srgbClr val="FFFFFF"/>
                          </a:solidFill>
                          <a:latin typeface="Calibri"/>
                          <a:ea typeface="Calibri"/>
                          <a:cs typeface="Calibri"/>
                        </a:rPr>
                        <a:t>61–70岁</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r>
              <a:tr h="260350">
                <a:tc>
                  <a:txBody>
                    <a:bodyPr/>
                    <a:lstStyle/>
                    <a:p>
                      <a:pPr algn="ctr"/>
                      <a:r>
                        <a:rPr sz="938">
                          <a:solidFill>
                            <a:srgbClr val="111111"/>
                          </a:solidFill>
                          <a:latin typeface="Calibri"/>
                          <a:ea typeface="Calibri"/>
                          <a:cs typeface="Calibri"/>
                        </a:rPr>
                        <a:t>平均度〈k〉</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母语</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59.27</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63.62</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62.47</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61.94</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260350">
                <a:tc>
                  <a:txBody>
                    <a:bodyPr/>
                    <a:lstStyle/>
                    <a:p>
                      <a:pPr algn="ctr"/>
                      <a:r>
                        <a:rPr sz="938">
                          <a:solidFill>
                            <a:srgbClr val="111111"/>
                          </a:solidFill>
                          <a:latin typeface="Calibri"/>
                          <a:ea typeface="Calibri"/>
                          <a:cs typeface="Calibri"/>
                        </a:rPr>
                        <a:t>平均度〈k〉</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二语</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51.85</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63.21</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58.78</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62.35</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260350">
                <a:tc>
                  <a:txBody>
                    <a:bodyPr/>
                    <a:lstStyle/>
                    <a:p>
                      <a:pPr algn="ctr"/>
                      <a:r>
                        <a:rPr sz="938">
                          <a:solidFill>
                            <a:srgbClr val="111111"/>
                          </a:solidFill>
                          <a:latin typeface="Calibri"/>
                          <a:ea typeface="Calibri"/>
                          <a:cs typeface="Calibri"/>
                        </a:rPr>
                        <a:t>最短路径 L</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母语</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2.565</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2.421</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2.382</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2.495</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260350">
                <a:tc>
                  <a:txBody>
                    <a:bodyPr/>
                    <a:lstStyle/>
                    <a:p>
                      <a:pPr algn="ctr"/>
                      <a:r>
                        <a:rPr sz="938">
                          <a:solidFill>
                            <a:srgbClr val="111111"/>
                          </a:solidFill>
                          <a:latin typeface="Calibri"/>
                          <a:ea typeface="Calibri"/>
                          <a:cs typeface="Calibri"/>
                        </a:rPr>
                        <a:t>最短路径 L</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二语</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2.406</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2.115</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2.326</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2.264</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260350">
                <a:tc>
                  <a:txBody>
                    <a:bodyPr/>
                    <a:lstStyle/>
                    <a:p>
                      <a:pPr algn="ctr"/>
                      <a:r>
                        <a:rPr sz="938">
                          <a:solidFill>
                            <a:srgbClr val="111111"/>
                          </a:solidFill>
                          <a:latin typeface="Calibri"/>
                          <a:ea typeface="Calibri"/>
                          <a:cs typeface="Calibri"/>
                        </a:rPr>
                        <a:t>聚类系数 C</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母语</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.939</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.930</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.935</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.945</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260350">
                <a:tc>
                  <a:txBody>
                    <a:bodyPr/>
                    <a:lstStyle/>
                    <a:p>
                      <a:pPr algn="ctr"/>
                      <a:r>
                        <a:rPr sz="938">
                          <a:solidFill>
                            <a:srgbClr val="111111"/>
                          </a:solidFill>
                          <a:latin typeface="Calibri"/>
                          <a:ea typeface="Calibri"/>
                          <a:cs typeface="Calibri"/>
                        </a:rPr>
                        <a:t>聚类系数 C</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二语</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.916</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.897</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.917</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.912</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260350">
                <a:tc>
                  <a:txBody>
                    <a:bodyPr/>
                    <a:lstStyle/>
                    <a:p>
                      <a:pPr algn="ctr"/>
                      <a:r>
                        <a:rPr sz="938">
                          <a:solidFill>
                            <a:srgbClr val="111111"/>
                          </a:solidFill>
                          <a:latin typeface="Calibri"/>
                          <a:ea typeface="Calibri"/>
                          <a:cs typeface="Calibri"/>
                        </a:rPr>
                        <a:t>模块度 Q</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母语</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.746</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.721</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.692</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938">
                          <a:solidFill>
                            <a:srgbClr val="111111"/>
                          </a:solidFill>
                          <a:latin typeface="Calibri"/>
                          <a:ea typeface="Calibri"/>
                          <a:cs typeface="Calibri"/>
                        </a:rPr>
                        <a:t>.767</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260350">
                <a:tc>
                  <a:txBody>
                    <a:bodyPr/>
                    <a:lstStyle/>
                    <a:p>
                      <a:pPr algn="ctr"/>
                      <a:r>
                        <a:rPr sz="938">
                          <a:solidFill>
                            <a:srgbClr val="111111"/>
                          </a:solidFill>
                          <a:latin typeface="Calibri"/>
                          <a:ea typeface="Calibri"/>
                          <a:cs typeface="Calibri"/>
                        </a:rPr>
                        <a:t>模块度 Q</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二语</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.686</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.598</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.718</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938">
                          <a:solidFill>
                            <a:srgbClr val="111111"/>
                          </a:solidFill>
                          <a:latin typeface="Calibri"/>
                          <a:ea typeface="Calibri"/>
                          <a:cs typeface="Calibri"/>
                        </a:rPr>
                        <a:t>.653</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bl>
          </a:graphicData>
        </a:graphic>
      </p:graphicFrame>
    </p:spTree>
    <p:extLst>
      <p:ext uri="{BB962C8B-B14F-4D97-AF65-F5344CB8AC3E}">
        <p14:creationId xmlns:p14="http://schemas.microsoft.com/office/powerpoint/2010/main" val="4368543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F5E810-E430-404F-9B36-5E84C0A63C54}"/>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9D1E27-DE3B-4FEB-BAEC-6B8027F602CC}"/>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CD415D-3BF5-4FAF-AE18-A0A1FA83D44A}"/>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研究结果（RQ2）</a:t>
            </a:r>
          </a:p>
        </p:txBody>
      </p:sp>
      <p:sp>
        <p:nvSpPr>
          <p:cNvPr id="4" name="">
            <a:extLst xmlns:a="http://schemas.openxmlformats.org/drawingml/2006/main">
              <a:ext uri="{FF2B5EF4-FFF2-40B4-BE49-F238E27FC236}">
                <a16:creationId xmlns:a16="http://schemas.microsoft.com/office/drawing/2014/main" id="{BDB75CB9-99FF-4C6B-B815-634D6894905D}"/>
              </a:ext>
            </a:extLst>
          </p:cNvPr>
          <p:cNvSpPr>
            <a:spLocks xmlns:a="http://schemas.openxmlformats.org/drawingml/2006/main" noGrp="1"/>
          </p:cNvSpPr>
          <p:nvPr/>
        </p:nvSpPr>
        <p:spPr>
          <a:xfrm xmlns:a="http://schemas.openxmlformats.org/drawingml/2006/main">
            <a:off x="609600" y="1028700"/>
            <a:ext cx="792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1. </a:t>
            </a:r>
            <a:r>
              <a:rPr sz="1500">
                <a:solidFill>
                  <a:srgbClr val="111111"/>
                </a:solidFill>
                <a:latin typeface="Calibri"/>
                <a:ea typeface="Calibri"/>
                <a:cs typeface="Calibri"/>
              </a:rPr>
              <a:t>语言主效应与年龄×语言交互作用在四项指标上均显著（均 p &lt; .001）。</a:t>
            </a:r>
          </a:p>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2. </a:t>
            </a:r>
            <a:r>
              <a:rPr sz="1500">
                <a:solidFill>
                  <a:srgbClr val="111111"/>
                </a:solidFill>
                <a:latin typeface="Calibri"/>
                <a:ea typeface="Calibri"/>
                <a:cs typeface="Calibri"/>
              </a:rPr>
              <a:t>母语网络整体具有更高的聚类系数和模块度，连接结构更稳定、社群分隔更清晰。</a:t>
            </a:r>
          </a:p>
          <a:p xmlns:a="http://schemas.openxmlformats.org/drawingml/2006/main">
            <a:pPr>
              <a:lnSpc>
                <a:spcPct val="118000"/>
              </a:lnSpc>
              <a:spcAft>
                <a:spcPts val="5"/>
              </a:spcAft>
              <a:buNone/>
              <a:defRPr sz="1500">
                <a:solidFill>
                  <a:srgbClr val="111111"/>
                </a:solidFill>
                <a:latin typeface="Calibri"/>
                <a:ea typeface="Calibri"/>
                <a:cs typeface="Calibri"/>
              </a:defRPr>
            </a:pPr>
            <a:r>
              <a:rPr sz="1500" b="1">
                <a:solidFill>
                  <a:srgbClr val="111111"/>
                </a:solidFill>
                <a:latin typeface="Calibri"/>
                <a:ea typeface="Calibri"/>
                <a:cs typeface="Calibri"/>
              </a:rPr>
              <a:t>3. </a:t>
            </a:r>
            <a:r>
              <a:rPr sz="1500">
                <a:solidFill>
                  <a:srgbClr val="111111"/>
                </a:solidFill>
                <a:latin typeface="Calibri"/>
                <a:ea typeface="Calibri"/>
                <a:cs typeface="Calibri"/>
              </a:rPr>
              <a:t>二语网络的年龄变化幅度更大，尤其体现在平均度和模块度的阶段性波动。</a:t>
            </a:r>
          </a:p>
        </p:txBody>
      </p:sp>
      <p:graphicFrame>
        <p:nvGraphicFramePr>
          <p:cNvPr id="5" name="">
            <a:extLst xmlns:a="http://schemas.openxmlformats.org/drawingml/2006/main">
              <a:ext uri="{FF2B5EF4-FFF2-40B4-BE49-F238E27FC236}">
                <a16:creationId xmlns:a16="http://schemas.microsoft.com/office/drawing/2014/main" id="{F8FA3CF4-D8D6-4EB5-82E9-3CA9953E9012}"/>
              </a:ext>
            </a:extLst>
          </p:cNvPr>
          <p:cNvGraphicFramePr/>
          <p:nvPr/>
        </p:nvGraphicFramePr>
        <p:xfrm>
          <a:off xmlns:a="http://schemas.openxmlformats.org/drawingml/2006/main" x="495300" y="2419350"/>
          <a:ext xmlns:a="http://schemas.openxmlformats.org/drawingml/2006/main" cx="8153400" cy="2095500"/>
        </p:xfrm>
        <a:graphic xmlns:a="http://schemas.openxmlformats.org/drawingml/2006/main">
          <a:graphicData uri="http://schemas.openxmlformats.org/drawingml/2006/table">
            <a:tbl>
              <a:tblPr/>
              <a:tblGrid>
                <a:gridCol w="1476375"/>
                <a:gridCol w="1428750"/>
                <a:gridCol w="1428750"/>
                <a:gridCol w="3762375"/>
              </a:tblGrid>
              <a:tr h="419100">
                <a:tc>
                  <a:txBody>
                    <a:bodyPr/>
                    <a:lstStyle/>
                    <a:p>
                      <a:pPr algn="ctr"/>
                      <a:r>
                        <a:rPr sz="1050" b="1">
                          <a:solidFill>
                            <a:srgbClr val="FFFFFF"/>
                          </a:solidFill>
                          <a:latin typeface="Calibri"/>
                          <a:ea typeface="Calibri"/>
                          <a:cs typeface="Calibri"/>
                        </a:rPr>
                        <a:t>指标</a:t>
                      </a:r>
                    </a:p>
                  </a:txBody>
                  <a:tcPr marL="47625" marR="47625" marT="38100" marB="38100" anchor="ctr">
                    <a:lnL w="9525">
                      <a:solidFill>
                        <a:srgbClr val="1B3A5C"/>
                      </a:solidFill>
                      <a:prstDash val="solid"/>
                    </a:lnL>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50" b="1">
                          <a:solidFill>
                            <a:srgbClr val="FFFFFF"/>
                          </a:solidFill>
                          <a:latin typeface="Calibri"/>
                          <a:ea typeface="Calibri"/>
                          <a:cs typeface="Calibri"/>
                        </a:rPr>
                        <a:t>语言主效应 ηp²</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50" b="1">
                          <a:solidFill>
                            <a:srgbClr val="FFFFFF"/>
                          </a:solidFill>
                          <a:latin typeface="Calibri"/>
                          <a:ea typeface="Calibri"/>
                          <a:cs typeface="Calibri"/>
                        </a:rPr>
                        <a:t>交互作用 ηp²</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c>
                  <a:txBody>
                    <a:bodyPr/>
                    <a:lstStyle/>
                    <a:p>
                      <a:pPr algn="ctr"/>
                      <a:r>
                        <a:rPr sz="1050" b="1">
                          <a:solidFill>
                            <a:srgbClr val="FFFFFF"/>
                          </a:solidFill>
                          <a:latin typeface="Calibri"/>
                          <a:ea typeface="Calibri"/>
                          <a:cs typeface="Calibri"/>
                        </a:rPr>
                        <a:t>主要跨语言差异</a:t>
                      </a:r>
                    </a:p>
                  </a:txBody>
                  <a:tcPr marL="47625" marR="47625" marT="38100" marB="38100" anchor="ctr">
                    <a:lnR w="9525">
                      <a:solidFill>
                        <a:srgbClr val="1B3A5C"/>
                      </a:solidFill>
                      <a:prstDash val="solid"/>
                    </a:lnR>
                    <a:lnT w="9525">
                      <a:solidFill>
                        <a:srgbClr val="1B3A5C"/>
                      </a:solidFill>
                      <a:prstDash val="solid"/>
                    </a:lnT>
                    <a:lnB w="9525">
                      <a:solidFill>
                        <a:srgbClr val="1B3A5C"/>
                      </a:solidFill>
                      <a:prstDash val="solid"/>
                    </a:lnB>
                    <a:solidFill>
                      <a:srgbClr val="1B3A5C"/>
                    </a:solidFill>
                  </a:tcPr>
                </a:tc>
              </a:tr>
              <a:tr h="419100">
                <a:tc>
                  <a:txBody>
                    <a:bodyPr/>
                    <a:lstStyle/>
                    <a:p>
                      <a:pPr algn="ctr"/>
                      <a:r>
                        <a:rPr sz="1013">
                          <a:solidFill>
                            <a:srgbClr val="111111"/>
                          </a:solidFill>
                          <a:latin typeface="Calibri"/>
                          <a:ea typeface="Calibri"/>
                          <a:cs typeface="Calibri"/>
                        </a:rPr>
                        <a:t>平均度〈k〉</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.802</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.821</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多数年龄组母语更高；61–70岁二语略高</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419100">
                <a:tc>
                  <a:txBody>
                    <a:bodyPr/>
                    <a:lstStyle/>
                    <a:p>
                      <a:pPr algn="ctr"/>
                      <a:r>
                        <a:rPr sz="1013">
                          <a:solidFill>
                            <a:srgbClr val="111111"/>
                          </a:solidFill>
                          <a:latin typeface="Calibri"/>
                          <a:ea typeface="Calibri"/>
                          <a:cs typeface="Calibri"/>
                        </a:rPr>
                        <a:t>最短路径 L</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.796</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.814</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多数年龄组母语更长；51–60岁相反</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r h="419100">
                <a:tc>
                  <a:txBody>
                    <a:bodyPr/>
                    <a:lstStyle/>
                    <a:p>
                      <a:pPr algn="ctr"/>
                      <a:r>
                        <a:rPr sz="1013">
                          <a:solidFill>
                            <a:srgbClr val="111111"/>
                          </a:solidFill>
                          <a:latin typeface="Calibri"/>
                          <a:ea typeface="Calibri"/>
                          <a:cs typeface="Calibri"/>
                        </a:rPr>
                        <a:t>聚类系数 C</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.973</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.702</a:t>
                      </a:r>
                    </a:p>
                  </a:txBody>
                  <a:tcPr marL="47625" marR="47625" marT="38100" marB="38100" anchor="ctr">
                    <a:lnR w="9525">
                      <a:solidFill>
                        <a:srgbClr val="1B3A5C"/>
                      </a:solidFill>
                      <a:prstDash val="solid"/>
                    </a:lnR>
                    <a:lnB w="9525">
                      <a:solidFill>
                        <a:srgbClr val="1B3A5C"/>
                      </a:solidFill>
                      <a:prstDash val="solid"/>
                    </a:lnB>
                    <a:solidFill>
                      <a:srgbClr val="EAF2F8"/>
                    </a:solidFill>
                  </a:tcPr>
                </a:tc>
                <a:tc>
                  <a:txBody>
                    <a:bodyPr/>
                    <a:lstStyle/>
                    <a:p>
                      <a:pPr algn="ctr"/>
                      <a:r>
                        <a:rPr sz="1013">
                          <a:solidFill>
                            <a:srgbClr val="111111"/>
                          </a:solidFill>
                          <a:latin typeface="Calibri"/>
                          <a:ea typeface="Calibri"/>
                          <a:cs typeface="Calibri"/>
                        </a:rPr>
                        <a:t>四个年龄组均为母语高于二语</a:t>
                      </a:r>
                    </a:p>
                  </a:txBody>
                  <a:tcPr marL="47625" marR="47625" marT="38100" marB="38100" anchor="ctr">
                    <a:lnR w="9525">
                      <a:solidFill>
                        <a:srgbClr val="1B3A5C"/>
                      </a:solidFill>
                      <a:prstDash val="solid"/>
                    </a:lnR>
                    <a:lnB w="9525">
                      <a:solidFill>
                        <a:srgbClr val="1B3A5C"/>
                      </a:solidFill>
                      <a:prstDash val="solid"/>
                    </a:lnB>
                    <a:solidFill>
                      <a:srgbClr val="EAF2F8"/>
                    </a:solidFill>
                  </a:tcPr>
                </a:tc>
              </a:tr>
              <a:tr h="419100">
                <a:tc>
                  <a:txBody>
                    <a:bodyPr/>
                    <a:lstStyle/>
                    <a:p>
                      <a:pPr algn="ctr"/>
                      <a:r>
                        <a:rPr sz="1013">
                          <a:solidFill>
                            <a:srgbClr val="111111"/>
                          </a:solidFill>
                          <a:latin typeface="Calibri"/>
                          <a:ea typeface="Calibri"/>
                          <a:cs typeface="Calibri"/>
                        </a:rPr>
                        <a:t>模块度 Q</a:t>
                      </a:r>
                    </a:p>
                  </a:txBody>
                  <a:tcPr marL="47625" marR="47625" marT="38100" marB="38100" anchor="ctr">
                    <a:lnL w="9525">
                      <a:solidFill>
                        <a:srgbClr val="1B3A5C"/>
                      </a:solidFill>
                      <a:prstDash val="solid"/>
                    </a:lnL>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.951</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.820</a:t>
                      </a:r>
                    </a:p>
                  </a:txBody>
                  <a:tcPr marL="47625" marR="47625" marT="38100" marB="38100" anchor="ctr">
                    <a:lnR w="9525">
                      <a:solidFill>
                        <a:srgbClr val="1B3A5C"/>
                      </a:solidFill>
                      <a:prstDash val="solid"/>
                    </a:lnR>
                    <a:lnB w="9525">
                      <a:solidFill>
                        <a:srgbClr val="1B3A5C"/>
                      </a:solidFill>
                      <a:prstDash val="solid"/>
                    </a:lnB>
                    <a:solidFill>
                      <a:srgbClr val="FFFFFF"/>
                    </a:solidFill>
                  </a:tcPr>
                </a:tc>
                <a:tc>
                  <a:txBody>
                    <a:bodyPr/>
                    <a:lstStyle/>
                    <a:p>
                      <a:pPr algn="ctr"/>
                      <a:r>
                        <a:rPr sz="1013">
                          <a:solidFill>
                            <a:srgbClr val="111111"/>
                          </a:solidFill>
                          <a:latin typeface="Calibri"/>
                          <a:ea typeface="Calibri"/>
                          <a:cs typeface="Calibri"/>
                        </a:rPr>
                        <a:t>四个年龄组均为母语高于二语</a:t>
                      </a:r>
                    </a:p>
                  </a:txBody>
                  <a:tcPr marL="47625" marR="47625" marT="38100" marB="38100" anchor="ctr">
                    <a:lnR w="9525">
                      <a:solidFill>
                        <a:srgbClr val="1B3A5C"/>
                      </a:solidFill>
                      <a:prstDash val="solid"/>
                    </a:lnR>
                    <a:lnB w="9525">
                      <a:solidFill>
                        <a:srgbClr val="1B3A5C"/>
                      </a:solidFill>
                      <a:prstDash val="solid"/>
                    </a:lnB>
                    <a:solidFill>
                      <a:srgbClr val="FFFFFF"/>
                    </a:solidFill>
                  </a:tcPr>
                </a:tc>
              </a:tr>
            </a:tbl>
          </a:graphicData>
        </a:graphic>
      </p:graphicFrame>
    </p:spTree>
    <p:extLst>
      <p:ext uri="{BB962C8B-B14F-4D97-AF65-F5344CB8AC3E}">
        <p14:creationId xmlns:p14="http://schemas.microsoft.com/office/powerpoint/2010/main" val="13629332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3A5587-B51E-4018-9F04-0B54359B78AF}"/>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C8120D-D03D-4E40-B06E-385C3B896226}"/>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6B3B7F-D272-4651-81B6-9862F5A778C6}"/>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讨论</a:t>
            </a:r>
          </a:p>
        </p:txBody>
      </p:sp>
      <p:sp>
        <p:nvSpPr>
          <p:cNvPr id="4" name="">
            <a:extLst xmlns:a="http://schemas.openxmlformats.org/drawingml/2006/main">
              <a:ext uri="{FF2B5EF4-FFF2-40B4-BE49-F238E27FC236}">
                <a16:creationId xmlns:a16="http://schemas.microsoft.com/office/drawing/2014/main" id="{7E34EE09-8CD8-4673-BABD-B02C32B05F7F}"/>
              </a:ext>
            </a:extLst>
          </p:cNvPr>
          <p:cNvSpPr>
            <a:spLocks xmlns:a="http://schemas.openxmlformats.org/drawingml/2006/main" noGrp="1"/>
          </p:cNvSpPr>
          <p:nvPr/>
        </p:nvSpPr>
        <p:spPr>
          <a:xfrm xmlns:a="http://schemas.openxmlformats.org/drawingml/2006/main">
            <a:off x="609600" y="1028700"/>
            <a:ext cx="7924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年龄轨迹</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平均度的倒U形轨迹与生命周期研究的总体趋势一致，但峰值延后至41–50岁；样本持续使用英语且教育程度较高，可能延长网络扩展期（Dubossarsky et al., 2017；Jeong &amp; Hills, 2024）。</a:t>
            </a:r>
          </a:p>
        </p:txBody>
      </p:sp>
      <p:sp>
        <p:nvSpPr>
          <p:cNvPr id="5" name="">
            <a:extLst xmlns:a="http://schemas.openxmlformats.org/drawingml/2006/main">
              <a:ext uri="{FF2B5EF4-FFF2-40B4-BE49-F238E27FC236}">
                <a16:creationId xmlns:a16="http://schemas.microsoft.com/office/drawing/2014/main" id="{40843DB6-B219-49F7-AB3B-D278C3A03A13}"/>
              </a:ext>
            </a:extLst>
          </p:cNvPr>
          <p:cNvSpPr>
            <a:spLocks xmlns:a="http://schemas.openxmlformats.org/drawingml/2006/main" noGrp="1"/>
          </p:cNvSpPr>
          <p:nvPr/>
        </p:nvSpPr>
        <p:spPr>
          <a:xfrm xmlns:a="http://schemas.openxmlformats.org/drawingml/2006/main">
            <a:off x="609600" y="2647950"/>
            <a:ext cx="7924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5000"/>
              </a:lnSpc>
              <a:spcAft>
                <a:spcPts val="8"/>
              </a:spcAft>
              <a:buNone/>
              <a:defRPr sz="1500">
                <a:solidFill>
                  <a:srgbClr val="111111"/>
                </a:solidFill>
                <a:latin typeface="Calibri"/>
                <a:ea typeface="Calibri"/>
                <a:cs typeface="Calibri"/>
              </a:defRPr>
            </a:pPr>
            <a:r>
              <a:rPr sz="1500" b="1">
                <a:solidFill>
                  <a:srgbClr val="111111"/>
                </a:solidFill>
                <a:latin typeface="Calibri"/>
                <a:ea typeface="Calibri"/>
                <a:cs typeface="Calibri"/>
              </a:rPr>
              <a:t>语言差异与晚年重组</a:t>
            </a:r>
          </a:p>
          <a:p xmlns:a="http://schemas.openxmlformats.org/drawingml/2006/main">
            <a:pPr>
              <a:lnSpc>
                <a:spcPct val="135000"/>
              </a:lnSpc>
              <a:spcAft>
                <a:spcPts val="9"/>
              </a:spcAft>
              <a:buNone/>
              <a:defRPr sz="1500">
                <a:solidFill>
                  <a:srgbClr val="111111"/>
                </a:solidFill>
                <a:latin typeface="Calibri"/>
                <a:ea typeface="Calibri"/>
                <a:cs typeface="Calibri"/>
              </a:defRPr>
            </a:pPr>
            <a:r>
              <a:rPr sz="1500">
                <a:solidFill>
                  <a:srgbClr val="111111"/>
                </a:solidFill>
                <a:latin typeface="Calibri"/>
                <a:ea typeface="Calibri"/>
                <a:cs typeface="Calibri"/>
              </a:rPr>
              <a:t>母语网络表现出更高的聚集和模块化，反映更成熟的局部连接与社群结构。61–70岁组模块度升高，可从补偿性重组视角理解，即通过更分隔的子系统维持词汇加工（Reuter-Lorenz &amp; Cappell, 2008；Cosgrove et al., 2023）。二语更明显的波动说明其结构对语言经验和年龄变化更敏感。</a:t>
            </a:r>
          </a:p>
        </p:txBody>
      </p:sp>
    </p:spTree>
    <p:extLst>
      <p:ext uri="{BB962C8B-B14F-4D97-AF65-F5344CB8AC3E}">
        <p14:creationId xmlns:p14="http://schemas.microsoft.com/office/powerpoint/2010/main" val="10879165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82A366-BA24-4E36-894A-31F230674280}"/>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D583DE-0ED4-4477-9AA0-DD75C79C00E5}"/>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093870-CF5F-44CA-9D7A-9906B660D69C}"/>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研究启示</a:t>
            </a:r>
          </a:p>
        </p:txBody>
      </p:sp>
      <p:sp>
        <p:nvSpPr>
          <p:cNvPr id="4" name="">
            <a:extLst xmlns:a="http://schemas.openxmlformats.org/drawingml/2006/main">
              <a:ext uri="{FF2B5EF4-FFF2-40B4-BE49-F238E27FC236}">
                <a16:creationId xmlns:a16="http://schemas.microsoft.com/office/drawing/2014/main" id="{C275848F-C13D-4D44-B647-0D97EC7B272E}"/>
              </a:ext>
            </a:extLst>
          </p:cNvPr>
          <p:cNvSpPr>
            <a:spLocks xmlns:a="http://schemas.openxmlformats.org/drawingml/2006/main" noGrp="1"/>
          </p:cNvSpPr>
          <p:nvPr/>
        </p:nvSpPr>
        <p:spPr>
          <a:xfrm xmlns:a="http://schemas.openxmlformats.org/drawingml/2006/main">
            <a:off x="609600" y="1181100"/>
            <a:ext cx="79248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4000"/>
              </a:lnSpc>
              <a:spcAft>
                <a:spcPts val="17"/>
              </a:spcAft>
              <a:buNone/>
              <a:defRPr sz="1500">
                <a:solidFill>
                  <a:srgbClr val="111111"/>
                </a:solidFill>
                <a:latin typeface="Calibri"/>
                <a:ea typeface="Calibri"/>
                <a:cs typeface="Calibri"/>
              </a:defRPr>
            </a:pPr>
            <a:r>
              <a:rPr sz="1500">
                <a:solidFill>
                  <a:srgbClr val="111111"/>
                </a:solidFill>
                <a:latin typeface="Calibri"/>
                <a:ea typeface="Calibri"/>
                <a:cs typeface="Calibri"/>
              </a:rPr>
              <a:t>双语词汇老化具有明显的阶段性，中年并非简单的过渡期，而是连接度达到峰值、网络结构发生转折的重要阶段。</a:t>
            </a:r>
          </a:p>
          <a:p xmlns:a="http://schemas.openxmlformats.org/drawingml/2006/main">
            <a:pPr>
              <a:lnSpc>
                <a:spcPct val="134000"/>
              </a:lnSpc>
              <a:spcAft>
                <a:spcPts val="17"/>
              </a:spcAft>
              <a:buNone/>
              <a:defRPr sz="1500">
                <a:solidFill>
                  <a:srgbClr val="111111"/>
                </a:solidFill>
                <a:latin typeface="Calibri"/>
                <a:ea typeface="Calibri"/>
                <a:cs typeface="Calibri"/>
              </a:defRPr>
            </a:pPr>
            <a:r>
              <a:rPr sz="1500">
                <a:solidFill>
                  <a:srgbClr val="111111"/>
                </a:solidFill>
                <a:latin typeface="Calibri"/>
                <a:ea typeface="Calibri"/>
                <a:cs typeface="Calibri"/>
              </a:rPr>
              <a:t>持续的二语使用与高水平认知活动可能延缓部分网络变化，并支持晚年阶段的结构重组。</a:t>
            </a:r>
          </a:p>
          <a:p xmlns:a="http://schemas.openxmlformats.org/drawingml/2006/main">
            <a:pPr>
              <a:lnSpc>
                <a:spcPct val="134000"/>
              </a:lnSpc>
              <a:spcAft>
                <a:spcPts val="17"/>
              </a:spcAft>
              <a:buNone/>
              <a:defRPr sz="1500">
                <a:solidFill>
                  <a:srgbClr val="111111"/>
                </a:solidFill>
                <a:latin typeface="Calibri"/>
                <a:ea typeface="Calibri"/>
                <a:cs typeface="Calibri"/>
              </a:defRPr>
            </a:pPr>
            <a:r>
              <a:rPr sz="1500">
                <a:solidFill>
                  <a:srgbClr val="111111"/>
                </a:solidFill>
                <a:latin typeface="Calibri"/>
                <a:ea typeface="Calibri"/>
                <a:cs typeface="Calibri"/>
              </a:rPr>
              <a:t>研究双语老化需要同时考察母语与二语，并区分网络规模、全局效率、局部聚集和社群结构等不同维度。</a:t>
            </a:r>
          </a:p>
        </p:txBody>
      </p:sp>
    </p:spTree>
    <p:extLst>
      <p:ext uri="{BB962C8B-B14F-4D97-AF65-F5344CB8AC3E}">
        <p14:creationId xmlns:p14="http://schemas.microsoft.com/office/powerpoint/2010/main" val="10135061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133534-76E8-415A-AD6A-E322B9DF99C4}"/>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AAE44F-1804-48FE-88A5-203EBB11B44E}"/>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A3C15D-6285-4C11-B04F-5589711733DF}"/>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不足与展望</a:t>
            </a:r>
          </a:p>
        </p:txBody>
      </p:sp>
      <p:sp>
        <p:nvSpPr>
          <p:cNvPr id="4" name="">
            <a:extLst xmlns:a="http://schemas.openxmlformats.org/drawingml/2006/main">
              <a:ext uri="{FF2B5EF4-FFF2-40B4-BE49-F238E27FC236}">
                <a16:creationId xmlns:a16="http://schemas.microsoft.com/office/drawing/2014/main" id="{272D64EC-503E-4F5B-9447-C2A2B55C94CB}"/>
              </a:ext>
            </a:extLst>
          </p:cNvPr>
          <p:cNvSpPr>
            <a:spLocks xmlns:a="http://schemas.openxmlformats.org/drawingml/2006/main" noGrp="1"/>
          </p:cNvSpPr>
          <p:nvPr/>
        </p:nvSpPr>
        <p:spPr>
          <a:xfrm xmlns:a="http://schemas.openxmlformats.org/drawingml/2006/main">
            <a:off x="609600" y="1181100"/>
            <a:ext cx="79248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34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本研究采用群体层面的反应词—反应词网络，尚不能直接揭示个体内部母语与二语网络的对应关系。</a:t>
            </a:r>
          </a:p>
          <a:p xmlns:a="http://schemas.openxmlformats.org/drawingml/2006/main">
            <a:pPr>
              <a:lnSpc>
                <a:spcPct val="134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样本为高教育水平、语言活动频繁的大学英语教师，且61–70岁组人数较少，结论的普适性仍需在更多职业和教育背景中检验。</a:t>
            </a:r>
          </a:p>
          <a:p xmlns:a="http://schemas.openxmlformats.org/drawingml/2006/main">
            <a:pPr>
              <a:lnSpc>
                <a:spcPct val="134000"/>
              </a:lnSpc>
              <a:spcAft>
                <a:spcPts val="16"/>
              </a:spcAft>
              <a:buNone/>
              <a:defRPr sz="1500">
                <a:solidFill>
                  <a:srgbClr val="111111"/>
                </a:solidFill>
                <a:latin typeface="Calibri"/>
                <a:ea typeface="Calibri"/>
                <a:cs typeface="Calibri"/>
              </a:defRPr>
            </a:pPr>
            <a:r>
              <a:rPr sz="1500">
                <a:solidFill>
                  <a:srgbClr val="111111"/>
                </a:solidFill>
                <a:latin typeface="Calibri"/>
                <a:ea typeface="Calibri"/>
                <a:cs typeface="Calibri"/>
              </a:rPr>
              <a:t>认知健康主要依据自我报告。后续研究可结合个体网络、纵向追踪、标准化认知测评及其他网络构建方式。</a:t>
            </a:r>
          </a:p>
        </p:txBody>
      </p:sp>
    </p:spTree>
    <p:extLst>
      <p:ext uri="{BB962C8B-B14F-4D97-AF65-F5344CB8AC3E}">
        <p14:creationId xmlns:p14="http://schemas.microsoft.com/office/powerpoint/2010/main" val="6464219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0895EE-67C4-4A50-9591-4ADD74589A53}"/>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997883-6CE2-4EB3-9F7F-B9180BA85CEE}"/>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6ACBB5-30DC-463C-9406-4903EBECD04D}"/>
              </a:ext>
            </a:extLst>
          </p:cNvPr>
          <p:cNvSpPr>
            <a:spLocks xmlns:a="http://schemas.openxmlformats.org/drawingml/2006/main" noGrp="1"/>
          </p:cNvSpPr>
          <p:nvPr/>
        </p:nvSpPr>
        <p:spPr>
          <a:xfrm xmlns:a="http://schemas.openxmlformats.org/drawingml/2006/main">
            <a:off x="457200" y="4381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vl1pPr algn="l">
              <a:defRPr sz="2250" b="1">
                <a:solidFill>
                  <a:srgbClr val="1B3A5C"/>
                </a:solidFill>
                <a:latin typeface="Calibri"/>
                <a:ea typeface="Calibri"/>
                <a:cs typeface="Calibri"/>
              </a:defRPr>
            </a:lvl1pPr>
            <a:lvl2pPr algn="l">
              <a:defRPr sz="2250" b="1">
                <a:solidFill>
                  <a:srgbClr val="1B3A5C"/>
                </a:solidFill>
                <a:latin typeface="Calibri"/>
                <a:ea typeface="Calibri"/>
                <a:cs typeface="Calibri"/>
              </a:defRPr>
            </a:lvl2pPr>
            <a:lvl3pPr algn="l">
              <a:defRPr sz="2250" b="1">
                <a:solidFill>
                  <a:srgbClr val="1B3A5C"/>
                </a:solidFill>
                <a:latin typeface="Calibri"/>
                <a:ea typeface="Calibri"/>
                <a:cs typeface="Calibri"/>
              </a:defRPr>
            </a:lvl3pPr>
            <a:lvl4pPr algn="l">
              <a:defRPr sz="2250" b="1">
                <a:solidFill>
                  <a:srgbClr val="1B3A5C"/>
                </a:solidFill>
                <a:latin typeface="Calibri"/>
                <a:ea typeface="Calibri"/>
                <a:cs typeface="Calibri"/>
              </a:defRPr>
            </a:lvl4pPr>
            <a:lvl5pPr algn="l">
              <a:defRPr sz="2250" b="1">
                <a:solidFill>
                  <a:srgbClr val="1B3A5C"/>
                </a:solidFill>
                <a:latin typeface="Calibri"/>
                <a:ea typeface="Calibri"/>
                <a:cs typeface="Calibri"/>
              </a:defRPr>
            </a:lvl5pPr>
            <a:lvl6pPr algn="l">
              <a:defRPr sz="2250" b="1">
                <a:solidFill>
                  <a:srgbClr val="1B3A5C"/>
                </a:solidFill>
                <a:latin typeface="Calibri"/>
                <a:ea typeface="Calibri"/>
                <a:cs typeface="Calibri"/>
              </a:defRPr>
            </a:lvl6pPr>
            <a:lvl7pPr algn="l">
              <a:defRPr sz="2250" b="1">
                <a:solidFill>
                  <a:srgbClr val="1B3A5C"/>
                </a:solidFill>
                <a:latin typeface="Calibri"/>
                <a:ea typeface="Calibri"/>
                <a:cs typeface="Calibri"/>
              </a:defRPr>
            </a:lvl7pPr>
            <a:lvl8pPr algn="l">
              <a:defRPr sz="2250" b="1">
                <a:solidFill>
                  <a:srgbClr val="1B3A5C"/>
                </a:solidFill>
                <a:latin typeface="Calibri"/>
                <a:ea typeface="Calibri"/>
                <a:cs typeface="Calibri"/>
              </a:defRPr>
            </a:lvl8pPr>
            <a:lvl9pPr algn="l">
              <a:defRPr sz="2250" b="1">
                <a:solidFill>
                  <a:srgbClr val="1B3A5C"/>
                </a:solidFill>
                <a:latin typeface="Calibri"/>
                <a:ea typeface="Calibri"/>
                <a:cs typeface="Calibri"/>
              </a:defRPr>
            </a:lvl9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主要参考文献</a:t>
            </a:r>
          </a:p>
        </p:txBody>
      </p:sp>
      <p:sp>
        <p:nvSpPr>
          <p:cNvPr id="4" name="">
            <a:extLst xmlns:a="http://schemas.openxmlformats.org/drawingml/2006/main">
              <a:ext uri="{FF2B5EF4-FFF2-40B4-BE49-F238E27FC236}">
                <a16:creationId xmlns:a16="http://schemas.microsoft.com/office/drawing/2014/main" id="{B9FA685C-4109-44D3-A344-36CDD89C7FAE}"/>
              </a:ext>
            </a:extLst>
          </p:cNvPr>
          <p:cNvSpPr>
            <a:spLocks xmlns:a="http://schemas.openxmlformats.org/drawingml/2006/main" noGrp="1"/>
          </p:cNvSpPr>
          <p:nvPr/>
        </p:nvSpPr>
        <p:spPr>
          <a:xfrm xmlns:a="http://schemas.openxmlformats.org/drawingml/2006/main">
            <a:off x="552450" y="1066800"/>
            <a:ext cx="38100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Agustín-Llach, M. P., &amp; Palapanidi, K. (2024). Apples, tomatoes, and health: Comparison of structural characteristics of the L1 and L2 mental lexicons. Applied Psycholinguistics, 45(5), 1–24.</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Borodkin, K., Kenett, Y. N., Faust, M., &amp; Mashal, N. (2016). When pumpkin is closer to onion than to squash: The structure of the second language lexicon. Cognition, 156, 60–70.</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Cosgrove, A. L., Kenett, Y. N., Beaty, R. E., &amp; Diaz, M. T. (2021). Quantifying flexibility in thought: The resiliency of semantic networks differs across the lifespan. Cognition, 211, 104631.</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Cosgrove, A. L., Beaty, R. E., Diaz, M. T., &amp; Kenett, Y. N. (2023). Age differences in semantic network structure. Psychology and Aging, 38(2), 87–102.</a:t>
            </a:r>
          </a:p>
        </p:txBody>
      </p:sp>
      <p:sp>
        <p:nvSpPr>
          <p:cNvPr id="5" name="">
            <a:extLst xmlns:a="http://schemas.openxmlformats.org/drawingml/2006/main">
              <a:ext uri="{FF2B5EF4-FFF2-40B4-BE49-F238E27FC236}">
                <a16:creationId xmlns:a16="http://schemas.microsoft.com/office/drawing/2014/main" id="{746F659A-BE91-43B9-9F0A-65714A23EC26}"/>
              </a:ext>
            </a:extLst>
          </p:cNvPr>
          <p:cNvSpPr>
            <a:spLocks xmlns:a="http://schemas.openxmlformats.org/drawingml/2006/main" noGrp="1"/>
          </p:cNvSpPr>
          <p:nvPr/>
        </p:nvSpPr>
        <p:spPr>
          <a:xfrm xmlns:a="http://schemas.openxmlformats.org/drawingml/2006/main">
            <a:off x="4781550" y="1066800"/>
            <a:ext cx="38100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Calibri"/>
                <a:ea typeface="Calibri"/>
                <a:cs typeface="Calibri"/>
              </a:defRPr>
            </a:defPPr>
            <a:lvl1pPr>
              <a:defRPr sz="1500">
                <a:solidFill>
                  <a:srgbClr val="111111"/>
                </a:solidFill>
                <a:latin typeface="Calibri"/>
                <a:ea typeface="Calibri"/>
                <a:cs typeface="Calibri"/>
              </a:defRPr>
            </a:lvl1pPr>
            <a:lvl2pPr>
              <a:defRPr sz="1500">
                <a:solidFill>
                  <a:srgbClr val="111111"/>
                </a:solidFill>
                <a:latin typeface="Calibri"/>
                <a:ea typeface="Calibri"/>
                <a:cs typeface="Calibri"/>
              </a:defRPr>
            </a:lvl2pPr>
            <a:lvl3pPr>
              <a:defRPr sz="1500">
                <a:solidFill>
                  <a:srgbClr val="111111"/>
                </a:solidFill>
                <a:latin typeface="Calibri"/>
                <a:ea typeface="Calibri"/>
                <a:cs typeface="Calibri"/>
              </a:defRPr>
            </a:lvl3pPr>
            <a:lvl4pPr>
              <a:defRPr sz="1500">
                <a:solidFill>
                  <a:srgbClr val="111111"/>
                </a:solidFill>
                <a:latin typeface="Calibri"/>
                <a:ea typeface="Calibri"/>
                <a:cs typeface="Calibri"/>
              </a:defRPr>
            </a:lvl4pPr>
            <a:lvl5pPr>
              <a:defRPr sz="1500">
                <a:solidFill>
                  <a:srgbClr val="111111"/>
                </a:solidFill>
                <a:latin typeface="Calibri"/>
                <a:ea typeface="Calibri"/>
                <a:cs typeface="Calibri"/>
              </a:defRPr>
            </a:lvl5pPr>
            <a:lvl6pPr>
              <a:defRPr sz="1500">
                <a:solidFill>
                  <a:srgbClr val="111111"/>
                </a:solidFill>
                <a:latin typeface="Calibri"/>
                <a:ea typeface="Calibri"/>
                <a:cs typeface="Calibri"/>
              </a:defRPr>
            </a:lvl6pPr>
            <a:lvl7pPr>
              <a:defRPr sz="1500">
                <a:solidFill>
                  <a:srgbClr val="111111"/>
                </a:solidFill>
                <a:latin typeface="Calibri"/>
                <a:ea typeface="Calibri"/>
                <a:cs typeface="Calibri"/>
              </a:defRPr>
            </a:lvl7pPr>
            <a:lvl8pPr>
              <a:defRPr sz="1500">
                <a:solidFill>
                  <a:srgbClr val="111111"/>
                </a:solidFill>
                <a:latin typeface="Calibri"/>
                <a:ea typeface="Calibri"/>
                <a:cs typeface="Calibri"/>
              </a:defRPr>
            </a:lvl8pPr>
            <a:lvl9pPr>
              <a:defRPr sz="1500">
                <a:solidFill>
                  <a:srgbClr val="111111"/>
                </a:solidFill>
                <a:latin typeface="Calibri"/>
                <a:ea typeface="Calibri"/>
                <a:cs typeface="Calibri"/>
              </a:defRPr>
            </a:lvl9pPr>
          </a:lstStyle>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Dubossarsky, H., De Deyne, S., &amp; Hills, T. T. (2017). Quantifying the structure of free association networks across the life span. Developmental Psychology, 53(8), 1560–1570.</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Hills, T. T. (2025). Cognitive network enrichment, not degradation, explains the aging mental lexicon. Psychological Review, 133(2), 488–506.</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Reuter-Lorenz, P. A., &amp; Cappell, K. A. (2008). Neurocognitive aging and the compensation hypothesis. Current Directions in Psychological Science, 17(3), 177–182.</a:t>
            </a:r>
          </a:p>
          <a:p xmlns:a="http://schemas.openxmlformats.org/drawingml/2006/main">
            <a:pPr>
              <a:lnSpc>
                <a:spcPct val="106000"/>
              </a:lnSpc>
              <a:spcAft>
                <a:spcPts val="5"/>
              </a:spcAft>
              <a:buNone/>
              <a:defRPr sz="1500">
                <a:solidFill>
                  <a:srgbClr val="111111"/>
                </a:solidFill>
                <a:latin typeface="Calibri"/>
                <a:ea typeface="Calibri"/>
                <a:cs typeface="Calibri"/>
              </a:defRPr>
            </a:pPr>
            <a:r>
              <a:rPr sz="1500">
                <a:solidFill>
                  <a:srgbClr val="111111"/>
                </a:solidFill>
                <a:latin typeface="Calibri"/>
                <a:ea typeface="Calibri"/>
                <a:cs typeface="Calibri"/>
              </a:rPr>
              <a:t>Wulff, D., Hills, T., &amp; Mata, R. (2022). Structural differences in the semantic networks of younger and older adults. Scientific Reports, 12, 21459.</a:t>
            </a:r>
          </a:p>
        </p:txBody>
      </p:sp>
    </p:spTree>
    <p:extLst>
      <p:ext uri="{BB962C8B-B14F-4D97-AF65-F5344CB8AC3E}">
        <p14:creationId xmlns:p14="http://schemas.microsoft.com/office/powerpoint/2010/main" val="763296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2026-10-22T09:11:49.7070000Z</dcterms:created>
  <dcterms:modified xsi:type="dcterms:W3CDTF">2026-10-22T09:11:49.7070000Z</dcterms:modified>
</coreProperties>
</file>