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4846320" cy="4846320"/>
          </a:xfrm>
          <a:prstGeom prst="ellipse">
            <a:avLst/>
          </a:prstGeom>
          <a:ln w="177800">
            <a:solidFill>
              <a:srgbClr val="EEEA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1920240" cy="1920240"/>
          </a:xfrm>
          <a:prstGeom prst="ellipse">
            <a:avLst/>
          </a:prstGeom>
          <a:solidFill>
            <a:srgbClr val="F5F2FA"/>
          </a:solidFill>
          <a:ln/>
        </p:spPr>
      </p:sp>
      <p:pic>
        <p:nvPicPr>
          <p:cNvPr id="4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484632"/>
            <a:ext cx="47548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School of Foreign Languages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1783080"/>
            <a:ext cx="6766560" cy="0"/>
          </a:xfrm>
          <a:prstGeom prst="line">
            <a:avLst/>
          </a:prstGeom>
          <a:noFill/>
          <a:ln w="19050">
            <a:solidFill>
              <a:srgbClr val="EEEAF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2286000"/>
            <a:ext cx="9509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Lexical Development in Bilingual Adolescents: A Study of Chinese–English Word Association Networks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4434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Ping Zhang · Xin Wang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" y="495604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 (2026), 1–25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DOI: 10.1017/S0305000926100695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03504" y="6080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资助项目：国家社会科学基金（23BYY178）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成果发表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Cambridge University Press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859536" cy="420624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 w="12700">
            <a:solidFill>
              <a:srgbClr val="7E4F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57600"/>
            <a:ext cx="8595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SSCI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609344" y="3657600"/>
            <a:ext cx="1563624" cy="420624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 w="12700">
            <a:solidFill>
              <a:srgbClr val="7E4F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9344" y="3657600"/>
            <a:ext cx="1563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Access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976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2026, 1–25 · 开放获取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920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5F2FA"/>
          </a:solidFill>
          <a:ln w="15875">
            <a:solidFill>
              <a:srgbClr val="7E4FA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074920" y="1463040"/>
            <a:ext cx="283464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期刊封面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（待上传高清图）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期刊封面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49640" y="1463040"/>
            <a:ext cx="3200400" cy="44348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88900" dist="38100" dir="5400000">
              <a:srgbClr val="999999">
                <a:alpha val="40000"/>
              </a:srgbClr>
            </a:outerShdw>
          </a:effectLst>
        </p:spPr>
      </p:sp>
      <p:pic>
        <p:nvPicPr>
          <p:cNvPr id="17" name="Image 0" descr="/tmp/claude-0/-home-user-NATIONAL-SS-Funding/d399dd62-2b1c-5986-baf9-d080933e5780/scratchpad/ppt-work/assets/trim-JCL-first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7640" y="1572768"/>
            <a:ext cx="2904400" cy="421538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549640" y="595274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论文首页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总体背景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青春期的词汇发展不仅表现为词汇量增加，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也涉及词义关系、共享概念和词汇组织方式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的持续重构，是从儿童词汇系统向成人词汇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系统过渡的关键阶段（Nippold,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2002；Berman, 2007）。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已有发现与证据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网络研究表明，词汇发展伴随节点与连接的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增长以及全局、局部结构的调整（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Steyvers &amp; Tenenbaum, 2005）。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大规模母语联想网络数据显示，14–18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岁期间平均度上升、平均最短路径和聚类系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数下降，反映词汇网络趋于整合（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Dubossarsky et al., 2017）。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现有研究不足之处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青春期词汇研究多关注词汇量、词汇知识深度和联想反应类型，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对整个词汇网络结构的研究较少。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二语词汇网络研究主要集中于成人学习者和不同熟练度群体（Borodkin 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 al., 2016；Li et al., 2021），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青少年阶段的结构变化证据不足。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既有研究提示母语与二语联想差异可能随年级缩小（Henriksen, 2008；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Namei, 2004），但两种语言的整体网络是否沿相同轨迹发展尚未检验。</a:t>
            </a:r>
            <a:endParaRPr lang="en-US" sz="2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研究问题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7944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7944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母语汉语词汇联想网络的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结构如何变化？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37388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5040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5040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820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二语英语词汇联想网络的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结构如何变化？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244840" y="1737360"/>
            <a:ext cx="3413760" cy="3383280"/>
          </a:xfrm>
          <a:prstGeom prst="roundRect">
            <a:avLst>
              <a:gd name="adj" fmla="val 2703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21368" y="2057400"/>
            <a:ext cx="1060704" cy="1060704"/>
          </a:xfrm>
          <a:prstGeom prst="ellipse">
            <a:avLst/>
          </a:prstGeom>
          <a:solidFill>
            <a:srgbClr val="5B3A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21368" y="2057400"/>
            <a:ext cx="10607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RQ3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19160" y="3337560"/>
            <a:ext cx="286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在初二和高二阶段，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母语汉语与二语英语的网</a:t>
            </a:r>
            <a:endParaRPr lang="en-US" sz="17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络结构有何差异？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研究被试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最终样本共 88 人，来自江苏无锡同一所公立学校；事后效能分析 power = .913。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828800"/>
                <a:gridCol w="1645920"/>
                <a:gridCol w="448056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年龄范围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平均年龄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语言背景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13–14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13.21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母语为普通话；小学三年级开始学习英语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16–17 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16.18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母语为普通话；小学三年级开始学习英语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实验材料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</a:t>
            </a:r>
            <a:pPr algn="l"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高频刺激词保证两个年级的参与者均能理解并产生联想反应。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97280"/>
                <a:gridCol w="3931920"/>
                <a:gridCol w="3566160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材料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选词依据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匹配与控制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Nation 前 1000 词和 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2000 词表中的高频词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名词、动词、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形容词；具体性与词长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汉语刺激词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英语刺激词的翻译对应词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与英语词在词性和具体性上对应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实验任务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698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795528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任务要求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任务类型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纸笔连续词汇联想任务（continuous word association task）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作答数量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针对每个刺激词写出最先想到的 3 个词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作答限制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不得查词典，不得修改答案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测试环境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在常规课堂内集体完成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实验过程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5F2FA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19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1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实施时间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年春季学期末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在常规课堂中实施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043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0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EEAF4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94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59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作答顺序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5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先英语，两周后汉语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降低母语启动的影响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618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F5F2FA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169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169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有效反应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初二：汉 3954 / 英 3925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高二：汉 3948 / 英 3957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819388" y="3218688"/>
            <a:ext cx="237744" cy="237744"/>
          </a:xfrm>
          <a:prstGeom prst="rightArrow">
            <a:avLst/>
          </a:prstGeom>
          <a:solidFill>
            <a:srgbClr val="7E4FA6"/>
          </a:solidFill>
          <a:ln/>
        </p:spPr>
      </p:sp>
      <p:sp>
        <p:nvSpPr>
          <p:cNvPr id="24" name="Shape 22"/>
          <p:cNvSpPr/>
          <p:nvPr/>
        </p:nvSpPr>
        <p:spPr>
          <a:xfrm>
            <a:off x="9075420" y="2148840"/>
            <a:ext cx="2583180" cy="2377440"/>
          </a:xfrm>
          <a:prstGeom prst="roundRect">
            <a:avLst>
              <a:gd name="adj" fmla="val 3846"/>
            </a:avLst>
          </a:prstGeom>
          <a:solidFill>
            <a:srgbClr val="EEEAF4"/>
          </a:solidFill>
          <a:ln w="15875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BBBBBB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74402" y="1856232"/>
            <a:ext cx="585216" cy="585216"/>
          </a:xfrm>
          <a:prstGeom prst="ellipse">
            <a:avLst/>
          </a:prstGeom>
          <a:solidFill>
            <a:srgbClr val="5B3A7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074402" y="1856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185148" y="2606040"/>
            <a:ext cx="23637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40012" y="3200400"/>
            <a:ext cx="22539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汉：同源词、形容词统一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英：拼写、美式、复数还原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8920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</a:t>
            </a:r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两种语言采用相同刺激词与作答要求，确保跨语言网络可比。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网络构建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构建反应词—反应词网络。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同一刺激词下共同出现的反应词形成边；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同一刺激词内重复词型去重，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仅由一名参与者产生的反应被剔除。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指标与统计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计算节点数 n、边数 m、平均度〈k〉、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 D、平均最短路径 ASPL、聚类系数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CC、模块度 Q 和小世界性 S。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每个网络生成 100 个 200 节点的 BFS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子图；组内比较用独立样本 t 检验，年级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语言比较用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Scheirer–Ray–Hare 检验。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研究结果（RQ1）母语汉语网络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母语汉语网络从初二到高二节点数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和边数略降，但平均度与密度上升。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高二组的聚类系数和模块度显著降低，反应更趋共享、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网络整合程度提高（均 p = .017）。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平均最短路径的年级差异不显著（p 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.642），整体传递距离保持稳定。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汉语网络指标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年级差异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 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470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5240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5220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略降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21.833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22.213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上升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.046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.047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2.842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2.892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不显著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.917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.750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.731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初二更高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9" name="Image 0" descr="/tmp/claude-0/-home-user-NATIONAL-SS-Funding/d399dd62-2b1c-5986-baf9-d080933e5780/scratchpad/ppt-work/assets/net-初二汉语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 · 汉语网络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12" name="Image 1" descr="/tmp/claude-0/-home-user-NATIONAL-SS-Funding/d399dd62-2b1c-5986-baf9-d080933e5780/scratchpad/ppt-work/assets/net-高二汉语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 · 汉语网络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社群数与模块度下降，颜色分块趋于融合—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—高二母语网络连接更密、反应更趋共享。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研究结果（RQ2）二语英语网络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二语英语网络从初二到高二明显扩展：节点数与边数增加。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密度和平均度下降、平均最短路径增长，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反映网络规模扩张带来的路径延伸。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聚类系数与模块度显著升高，新增词汇逐步形成更清晰的局部</a:t>
            </a:r>
            <a:endParaRPr lang="en-US" sz="15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连接与社群结构（均 p &lt; .001）。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785616"/>
          <a:ext cx="5760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英语网络指标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年级变化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节点数 n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429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边数 m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4401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4809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平均度〈k〉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23.918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22.420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.065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.052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显著下降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2.331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2.656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显著增长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.906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显著升高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.545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.693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显著升高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0138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9" name="Image 0" descr="/tmp/claude-0/-home-user-NATIONAL-SS-Funding/d399dd62-2b1c-5986-baf9-d080933e5780/scratchpad/ppt-work/assets/net-初二英语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37960" y="1600200"/>
            <a:ext cx="2423160" cy="24231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 · 英语网络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9198864" y="1563624"/>
            <a:ext cx="2496312" cy="2496312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7E4FA6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35000"/>
              </a:srgbClr>
            </a:outerShdw>
          </a:effectLst>
        </p:spPr>
      </p:sp>
      <p:pic>
        <p:nvPicPr>
          <p:cNvPr id="12" name="Image 1" descr="/tmp/claude-0/-home-user-NATIONAL-SS-Funding/d399dd62-2b1c-5986-baf9-d080933e5780/scratchpad/ppt-work/assets/net-高二英语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35440" y="1600200"/>
            <a:ext cx="2423160" cy="24231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235440" y="405993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 · 英语网络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6537960" y="44805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高二英语网络节点更多、社群边界更清晰——词汇量扩展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伴随局部组织与语义社群的形成。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研究结果（RQ3）跨语言比较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17320"/>
            <a:ext cx="11155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初二阶段四项核心结构指标均存在显著母语—二语差异。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到高二，密度与平均最短路径的跨语言差异不再显著，两种语言全局结构趋近。</a:t>
            </a:r>
            <a:endParaRPr lang="en-US" sz="1800" dirty="0"/>
          </a:p>
          <a:p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高二阶段汉语的聚类系数与模块度仍高于英语，母语在局部聚集和社群结构上保持优势。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83864"/>
          <a:ext cx="10698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指标（子图均值）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初二汉语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初二英语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高二汉语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高二英语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A7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密度 D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.116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.107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最短路径 ASPL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2.308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2.063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2.317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2.297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聚类系数 CC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.849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.921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.906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模块度 Q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.692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.517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.685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622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.654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A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160020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母语网络：趋于整合与共享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130552"/>
            <a:ext cx="48554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汉语网络平均度上升、聚类与模块度下降，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14–18 岁母语网络连接增加、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结构整合的趋势一致（Dubossarsky et 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al., 2017；Jeong &amp; Hills, 2024）。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学校教育与共享知识可能推动反应趋同。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1417320"/>
            <a:ext cx="5468112" cy="4663440"/>
          </a:xfrm>
          <a:prstGeom prst="roundRect">
            <a:avLst>
              <a:gd name="adj" fmla="val 1569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28216"/>
            <a:ext cx="164592" cy="164592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1600200"/>
            <a:ext cx="4690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二语网络：扩展与重组同步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10528" y="2130552"/>
            <a:ext cx="4882896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英语网络节点和边增加，同时聚类与模块度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升高，说明词汇量扩展伴随局部组织和语义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社群的形成（Meara &amp; Wolter, 2004）。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跨语言差异在高二阶段缩小，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与青少年双语词汇逐步趋近的发现一致（</a:t>
            </a:r>
            <a:endParaRPr lang="en-US" sz="18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0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Henriksen, 2008；Namei, 2004）。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研究启示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青春期母语和二语词汇网络沿不同路径发展：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母语进一步整合，二语持续扩展并形成更清晰的局部结构。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判断二语词汇发展不能只看词汇量，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还应同时考察连接效率、聚类和模块化等组织指标。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从初二到高二，母语与二语的全局网络差异明显缩小，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学校阶段的持续输入和使用可能促进双语词汇系统趋近。</a:t>
            </a:r>
            <a:endParaRPr lang="en-US" sz="2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不足与展望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62328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8623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1847088" y="1417320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未进一步分析联想反应类型与反应趋同程度，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网络变化所对应的具体语义关系仍需检验。</a:t>
            </a:r>
            <a:endParaRPr lang="en-US" sz="2050" dirty="0"/>
          </a:p>
        </p:txBody>
      </p:sp>
      <p:sp>
        <p:nvSpPr>
          <p:cNvPr id="10" name="Shape 8"/>
          <p:cNvSpPr/>
          <p:nvPr/>
        </p:nvSpPr>
        <p:spPr>
          <a:xfrm>
            <a:off x="548640" y="3148584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593592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593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847088" y="3148584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反应词—反应词网络反映群体层面的共现结构，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后续可结合刺激词—反应词网络与个体网络进行比较。</a:t>
            </a:r>
            <a:endParaRPr lang="en-US" sz="2050" dirty="0"/>
          </a:p>
        </p:txBody>
      </p:sp>
      <p:sp>
        <p:nvSpPr>
          <p:cNvPr id="14" name="Shape 12"/>
          <p:cNvSpPr/>
          <p:nvPr/>
        </p:nvSpPr>
        <p:spPr>
          <a:xfrm>
            <a:off x="548640" y="4879848"/>
            <a:ext cx="11091672" cy="1475232"/>
          </a:xfrm>
          <a:prstGeom prst="roundRect">
            <a:avLst>
              <a:gd name="adj" fmla="val 6198"/>
            </a:avLst>
          </a:prstGeom>
          <a:solidFill>
            <a:srgbClr val="F5F2FA"/>
          </a:solidFill>
          <a:ln w="12700">
            <a:solidFill>
              <a:srgbClr val="EEEAF4"/>
            </a:solidFill>
            <a:prstDash val="solid"/>
          </a:ln>
          <a:effectLst>
            <a:outerShdw sx="100000" sy="100000" kx="0" ky="0" algn="bl" rotWithShape="0" blurRad="76200" dist="25400" dir="5400000">
              <a:srgbClr val="BBBBB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324856"/>
            <a:ext cx="585216" cy="585216"/>
          </a:xfrm>
          <a:prstGeom prst="ellipse">
            <a:avLst/>
          </a:prstGeom>
          <a:solidFill>
            <a:srgbClr val="7E4F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3248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500" dirty="0"/>
          </a:p>
        </p:txBody>
      </p:sp>
      <p:sp>
        <p:nvSpPr>
          <p:cNvPr id="17" name="Text 15"/>
          <p:cNvSpPr txBox="1"/>
          <p:nvPr/>
        </p:nvSpPr>
        <p:spPr>
          <a:xfrm>
            <a:off x="1847088" y="4879848"/>
            <a:ext cx="9473184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采用横断面设计且只进行一轮任务；</a:t>
            </a:r>
            <a:endParaRPr lang="en-US" sz="2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未来可通过纵向追踪观察同一批青少年的母语和二语网络变化。</a:t>
            </a:r>
            <a:endParaRPr lang="en-US" sz="2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82880" cy="420624"/>
          </a:xfrm>
          <a:prstGeom prst="roundRect">
            <a:avLst>
              <a:gd name="adj" fmla="val 25000"/>
            </a:avLst>
          </a:prstGeom>
          <a:solidFill>
            <a:srgbClr val="7E4FA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86384" y="365760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主要参考文献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4648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0" y="6464808"/>
            <a:ext cx="5285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7E4FA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J. Child Language (2026)   </a:t>
            </a:r>
            <a:pPr algn="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41732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Berman, R. A. (2007). Developing linguistic knowledge and language use across adolescence. In Blackwell handbook of language development (pp. 347–367).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Borodkin, K., Kenett, Y. N., Faust, M., &amp; Mashal, N. (2016). When pumpkin is closer to onion than to squash. Cognition, 156, 60–70.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Dubossarsky, H., De Deyne, S., &amp; Hills, T. T. (2017). Quantifying the structure of free association networks across the life span. Developmental Psychology, 53(8), 1560–1570.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Henriksen, B. (2008). Declarative lexical knowledge. In Vocabulary and writing in a first and second language (pp. 22–66).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Jeong, D., &amp; Hills, T. T. (2024). Age-related diversification and specialization in the mental lexicon. Cognitive Science, 48(11), e70008.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Meara, P., &amp; Wolter, B. (2004). V_Links: Beyond vocabulary depth. Angles on the English Speaking World, 4, 85–96.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Namei, S. (2004). Bilingual lexical development: A Persian–Swedish word association study. International Journal of Applied Linguistics, 14(3), 363–388.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Nippold, M. A. (2002). Lexical learning in school-age children, adolescents, and adults. Journal of Child Language, 29(2), 449–488.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2622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Steyvers, M., &amp; Tenenbaum, J. B. (2005). The large-scale structure of semantic networks. Cognitive Science, 29(1), 41–78.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1768" y="1234440"/>
            <a:ext cx="2194560" cy="2194560"/>
          </a:xfrm>
          <a:prstGeom prst="ellipse">
            <a:avLst/>
          </a:prstGeom>
          <a:solidFill>
            <a:srgbClr val="F5F2FA"/>
          </a:solidFill>
          <a:ln/>
        </p:spPr>
      </p:sp>
      <p:pic>
        <p:nvPicPr>
          <p:cNvPr id="3" name="Image 0" descr="/tmp/claude-0/-home-user-NATIONAL-SS-Funding/d399dd62-2b1c-5986-baf9-d080933e5780/scratchpad/ppt-work/assets/logo-su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1463040"/>
            <a:ext cx="1737360" cy="17373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27048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苏州大学 · 外国语学院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1527048" y="3931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SOOCHOW UNIVERSITY · School of Foreign Languages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527048" y="4617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5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   Thank You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1527048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Journal of Child Language (2026), 1–25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2026-10-24T07:25:25Z</dcterms:created>
  <dcterms:modified xsi:type="dcterms:W3CDTF">2026-10-24T07:25:25Z</dcterms:modified>
</cp:coreProperties>
</file>