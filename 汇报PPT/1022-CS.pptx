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9252b68786492b" /><Relationship Type="http://schemas.openxmlformats.org/officeDocument/2006/relationships/extended-properties" Target="/docProps/app.xml" Id="R8742c16c6cd04499" /><Relationship Type="http://schemas.openxmlformats.org/officeDocument/2006/relationships/officeDocument" Target="/ppt/presentation.xml" Id="Rdf27d93a07a54de8" /></Relationships>
</file>

<file path=ppt/presentation.xml><?xml version="1.0" encoding="utf-8"?>
<p:presentation xmlns:p="http://schemas.openxmlformats.org/presentationml/2006/main">
  <p:sldMasterIdLst>
    <p:sldMasterId xmlns:r="http://schemas.openxmlformats.org/officeDocument/2006/relationships" id="2147483648" r:id="R657eda19ca274c5a"/>
  </p:sldMasterIdLst>
  <p:notesMasterIdLst>
    <p:notesMasterId xmlns:r="http://schemas.openxmlformats.org/officeDocument/2006/relationships" r:id="R32c44851971a48e0"/>
  </p:notesMasterIdLst>
  <p:sldIdLst>
    <p:sldId xmlns:r="http://schemas.openxmlformats.org/officeDocument/2006/relationships" id="256" r:id="R494aac6e72684a14"/>
    <p:sldId xmlns:r="http://schemas.openxmlformats.org/officeDocument/2006/relationships" id="257" r:id="R737bd1ad98644cc7"/>
    <p:sldId xmlns:r="http://schemas.openxmlformats.org/officeDocument/2006/relationships" id="258" r:id="R8d1b9260865a4cff"/>
    <p:sldId xmlns:r="http://schemas.openxmlformats.org/officeDocument/2006/relationships" id="259" r:id="Rfe9cd51064154854"/>
    <p:sldId xmlns:r="http://schemas.openxmlformats.org/officeDocument/2006/relationships" id="260" r:id="R1648e3e688634dbb"/>
    <p:sldId xmlns:r="http://schemas.openxmlformats.org/officeDocument/2006/relationships" id="261" r:id="R9534cb15636a4b69"/>
    <p:sldId xmlns:r="http://schemas.openxmlformats.org/officeDocument/2006/relationships" id="262" r:id="Rb0cb4a97e9dc4a6c"/>
    <p:sldId xmlns:r="http://schemas.openxmlformats.org/officeDocument/2006/relationships" id="263" r:id="R467370b43e474eaf"/>
    <p:sldId xmlns:r="http://schemas.openxmlformats.org/officeDocument/2006/relationships" id="264" r:id="R547b0dd22bc34f7f"/>
    <p:sldId xmlns:r="http://schemas.openxmlformats.org/officeDocument/2006/relationships" id="265" r:id="Rcc0052edcb04423e"/>
    <p:sldId xmlns:r="http://schemas.openxmlformats.org/officeDocument/2006/relationships" id="266" r:id="Rf934a3da72fc43c8"/>
    <p:sldId xmlns:r="http://schemas.openxmlformats.org/officeDocument/2006/relationships" id="267" r:id="R67d8ded1725e4a39"/>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d276c6899b4df1" /><Relationship Type="http://schemas.openxmlformats.org/officeDocument/2006/relationships/slideMaster" Target="/ppt/slideMasters/slideMaster1.xml" Id="R657eda19ca274c5a" /><Relationship Type="http://schemas.openxmlformats.org/officeDocument/2006/relationships/notesMaster" Target="/ppt/notesMasters/notesMaster1.xml" Id="R32c44851971a48e0" /><Relationship Type="http://schemas.openxmlformats.org/officeDocument/2006/relationships/presProps" Target="/ppt/presProps.xml" Id="R03bac4e2601042ad" /><Relationship Type="http://schemas.openxmlformats.org/officeDocument/2006/relationships/tableStyles" Target="/ppt/tableStyles.xml" Id="R5826a9de58eb4556" /><Relationship Type="http://schemas.openxmlformats.org/officeDocument/2006/relationships/slide" Target="/ppt/slides/slide1.xml" Id="R494aac6e72684a14" /><Relationship Type="http://schemas.openxmlformats.org/officeDocument/2006/relationships/slide" Target="/ppt/slides/slide2.xml" Id="R737bd1ad98644cc7" /><Relationship Type="http://schemas.openxmlformats.org/officeDocument/2006/relationships/slide" Target="/ppt/slides/slide3.xml" Id="R8d1b9260865a4cff" /><Relationship Type="http://schemas.openxmlformats.org/officeDocument/2006/relationships/slide" Target="/ppt/slides/slide4.xml" Id="Rfe9cd51064154854" /><Relationship Type="http://schemas.openxmlformats.org/officeDocument/2006/relationships/slide" Target="/ppt/slides/slide5.xml" Id="R1648e3e688634dbb" /><Relationship Type="http://schemas.openxmlformats.org/officeDocument/2006/relationships/slide" Target="/ppt/slides/slide6.xml" Id="R9534cb15636a4b69" /><Relationship Type="http://schemas.openxmlformats.org/officeDocument/2006/relationships/slide" Target="/ppt/slides/slide7.xml" Id="Rb0cb4a97e9dc4a6c" /><Relationship Type="http://schemas.openxmlformats.org/officeDocument/2006/relationships/slide" Target="/ppt/slides/slide8.xml" Id="R467370b43e474eaf" /><Relationship Type="http://schemas.openxmlformats.org/officeDocument/2006/relationships/slide" Target="/ppt/slides/slide9.xml" Id="R547b0dd22bc34f7f" /><Relationship Type="http://schemas.openxmlformats.org/officeDocument/2006/relationships/slide" Target="/ppt/slides/slide10.xml" Id="Rcc0052edcb04423e" /><Relationship Type="http://schemas.openxmlformats.org/officeDocument/2006/relationships/slide" Target="/ppt/slides/slide11.xml" Id="Rf934a3da72fc43c8" /><Relationship Type="http://schemas.openxmlformats.org/officeDocument/2006/relationships/slide" Target="/ppt/slides/slide12.xml" Id="R67d8ded1725e4a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367a6147d47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5e827c71404c29" /><Relationship Type="http://schemas.openxmlformats.org/officeDocument/2006/relationships/notesMaster" Target="/ppt/notesMasters/notesMaster1.xml" Id="R8ac318a97a2346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44b15fabd04675" /><Relationship Type="http://schemas.openxmlformats.org/officeDocument/2006/relationships/notesMaster" Target="/ppt/notesMasters/notesMaster1.xml" Id="Re793526c26a743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d52c6615574a8f" /><Relationship Type="http://schemas.openxmlformats.org/officeDocument/2006/relationships/notesMaster" Target="/ppt/notesMasters/notesMaster1.xml" Id="R260c406766fe4f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4160c7d1ed4b8b" /><Relationship Type="http://schemas.openxmlformats.org/officeDocument/2006/relationships/notesMaster" Target="/ppt/notesMasters/notesMaster1.xml" Id="Ra63a9168980e4c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6cfe2ccbbc40d2" /><Relationship Type="http://schemas.openxmlformats.org/officeDocument/2006/relationships/notesMaster" Target="/ppt/notesMasters/notesMaster1.xml" Id="Re0d0aaac0a6a47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59637b074d4cd6" /><Relationship Type="http://schemas.openxmlformats.org/officeDocument/2006/relationships/notesMaster" Target="/ppt/notesMasters/notesMaster1.xml" Id="R6a5999434f5b4e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720ab6e6574341" /><Relationship Type="http://schemas.openxmlformats.org/officeDocument/2006/relationships/notesMaster" Target="/ppt/notesMasters/notesMaster1.xml" Id="Rdd0578a6e2ff44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24d2067b6f487d" /><Relationship Type="http://schemas.openxmlformats.org/officeDocument/2006/relationships/notesMaster" Target="/ppt/notesMasters/notesMaster1.xml" Id="Rbc003d6fce174b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3ecc828cee4d15" /><Relationship Type="http://schemas.openxmlformats.org/officeDocument/2006/relationships/notesMaster" Target="/ppt/notesMasters/notesMaster1.xml" Id="Rc7eaa82aca0e4d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00f17d24a64d3d" /><Relationship Type="http://schemas.openxmlformats.org/officeDocument/2006/relationships/notesMaster" Target="/ppt/notesMasters/notesMaster1.xml" Id="R7b587af719f64f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5e48d72b6b45e7" /><Relationship Type="http://schemas.openxmlformats.org/officeDocument/2006/relationships/notesMaster" Target="/ppt/notesMasters/notesMaster1.xml" Id="R6c6a8777dd8e4a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b6fb5fe1d14504" /><Relationship Type="http://schemas.openxmlformats.org/officeDocument/2006/relationships/notesMaster" Target="/ppt/notesMasters/notesMaster1.xml" Id="R58ae86e046694d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0a8e49769146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faf8d75cc443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96eac4d5f245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31fa6bbc4a4a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a3b0dd404b4d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c83e9258f046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17E15D-D353-469C-B6D8-7132726AE90F}"/>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45627F-0D12-4363-A98B-610951A2BAF0}"/>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B55BA8-C3BF-46D0-B71F-485CCDC0CCD3}"/>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2905DB-A29A-4FED-AB12-AE3505B65FE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EA05E6-B62D-4640-9D74-052F22C8BB5B}"/>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ACE63F-C66F-44DC-85B6-DBF1360D5D5E}"/>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C99D53-2A3B-4428-9DBC-D7FA6C49B9E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A7D218-6335-4B40-81AA-13F61BCB9C5D}"/>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6CA8F3-D817-4957-91C4-53095D6DCED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7A60A7-94BC-4397-9E11-FEB42BD6BA8F}"/>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5d7f236b7e4da1" /><Relationship Type="http://schemas.openxmlformats.org/officeDocument/2006/relationships/slideLayout" Target="/ppt/slideLayouts/slideLayout1.xml" Id="Rc6b3a584405d46ae" /><Relationship Type="http://schemas.openxmlformats.org/officeDocument/2006/relationships/slideLayout" Target="/ppt/slideLayouts/slideLayout2.xml" Id="Re271624d711a4098" /><Relationship Type="http://schemas.openxmlformats.org/officeDocument/2006/relationships/slideLayout" Target="/ppt/slideLayouts/slideLayout3.xml" Id="Rc03d9c9957c54f1b" /><Relationship Type="http://schemas.openxmlformats.org/officeDocument/2006/relationships/slideLayout" Target="/ppt/slideLayouts/slideLayout4.xml" Id="R58da3cb60f0640b5" /><Relationship Type="http://schemas.openxmlformats.org/officeDocument/2006/relationships/slideLayout" Target="/ppt/slideLayouts/slideLayout5.xml" Id="Rd9fd077e8cb14903" /><Relationship Type="http://schemas.openxmlformats.org/officeDocument/2006/relationships/slideLayout" Target="/ppt/slideLayouts/slideLayout6.xml" Id="R52e0536e8b9d4f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b3a584405d46ae"/>
    <p:sldLayoutId xmlns:r="http://schemas.openxmlformats.org/officeDocument/2006/relationships" id="2147483650" r:id="Re271624d711a4098"/>
    <p:sldLayoutId xmlns:r="http://schemas.openxmlformats.org/officeDocument/2006/relationships" id="2147483651" r:id="Rc03d9c9957c54f1b"/>
    <p:sldLayoutId xmlns:r="http://schemas.openxmlformats.org/officeDocument/2006/relationships" id="2147483652" r:id="R58da3cb60f0640b5"/>
    <p:sldLayoutId xmlns:r="http://schemas.openxmlformats.org/officeDocument/2006/relationships" id="2147483653" r:id="Rd9fd077e8cb14903"/>
    <p:sldLayoutId xmlns:r="http://schemas.openxmlformats.org/officeDocument/2006/relationships" id="2147483654" r:id="R52e0536e8b9d4f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db2feb06794739" /><Relationship Type="http://schemas.openxmlformats.org/officeDocument/2006/relationships/notesSlide" Target="/ppt/notesSlides/notesSlide1.xml" Id="R2847e9a31e4744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460d15a4d04674" /><Relationship Type="http://schemas.openxmlformats.org/officeDocument/2006/relationships/notesSlide" Target="/ppt/notesSlides/notesSlide2.xml" Id="Rc2eda7bb8a9f46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19c8b0387e4dda" /><Relationship Type="http://schemas.openxmlformats.org/officeDocument/2006/relationships/notesSlide" Target="/ppt/notesSlides/notesSlide3.xml" Id="R307e5b35cdef4a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adfb4c79bf4ec4" /><Relationship Type="http://schemas.openxmlformats.org/officeDocument/2006/relationships/notesSlide" Target="/ppt/notesSlides/notesSlide4.xml" Id="Rd846cff89cf04e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c7d4ad61b54c71" /><Relationship Type="http://schemas.openxmlformats.org/officeDocument/2006/relationships/notesSlide" Target="/ppt/notesSlides/notesSlide5.xml" Id="Rdd4a57912ade49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b7e7b8e3574bf2" /><Relationship Type="http://schemas.openxmlformats.org/officeDocument/2006/relationships/notesSlide" Target="/ppt/notesSlides/notesSlide6.xml" Id="R67f66aaf3fd542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9c40851c9b48d9" /><Relationship Type="http://schemas.openxmlformats.org/officeDocument/2006/relationships/notesSlide" Target="/ppt/notesSlides/notesSlide7.xml" Id="R513d04ffb8ae4f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11c13720744436" /><Relationship Type="http://schemas.openxmlformats.org/officeDocument/2006/relationships/notesSlide" Target="/ppt/notesSlides/notesSlide8.xml" Id="Ra7e072733d1744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a38185fbe5458d" /><Relationship Type="http://schemas.openxmlformats.org/officeDocument/2006/relationships/notesSlide" Target="/ppt/notesSlides/notesSlide9.xml" Id="Rccaf920679e548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6b5d14601847f3" /><Relationship Type="http://schemas.openxmlformats.org/officeDocument/2006/relationships/notesSlide" Target="/ppt/notesSlides/notesSlide10.xml" Id="R2869862a970540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039a5efd104066" /><Relationship Type="http://schemas.openxmlformats.org/officeDocument/2006/relationships/notesSlide" Target="/ppt/notesSlides/notesSlide11.xml" Id="R448b760bfcca46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b672b9f12bc4675" /><Relationship Type="http://schemas.openxmlformats.org/officeDocument/2006/relationships/notesSlide" Target="/ppt/notesSlides/notesSlide12.xml" Id="R7ec2633edb3849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68F657-38F5-449C-A16D-345BB4D65ABC}"/>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B81B8-C83C-46E4-A10E-46D4C968994A}"/>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8FEC74-F669-4AA7-A8BA-3E71804558E2}"/>
              </a:ext>
            </a:extLst>
          </p:cNvPr>
          <p:cNvSpPr>
            <a:spLocks xmlns:a="http://schemas.openxmlformats.org/drawingml/2006/main" noGrp="1"/>
          </p:cNvSpPr>
          <p:nvPr/>
        </p:nvSpPr>
        <p:spPr>
          <a:xfrm xmlns:a="http://schemas.openxmlformats.org/drawingml/2006/main">
            <a:off x="457200" y="876300"/>
            <a:ext cx="790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B3A5C"/>
                </a:solidFill>
                <a:latin typeface="Calibri"/>
                <a:ea typeface="Calibri"/>
                <a:cs typeface="Calibri"/>
              </a:defRPr>
            </a:defPPr>
          </a:lstStyle>
          <a:p xmlns:a="http://schemas.openxmlformats.org/drawingml/2006/main">
            <a:pPr algn="l">
              <a:lnSpc>
                <a:spcPct val="112000"/>
              </a:lnSpc>
              <a:buNone/>
              <a:defRPr sz="2325" b="1">
                <a:solidFill>
                  <a:srgbClr val="1B3A5C"/>
                </a:solidFill>
                <a:latin typeface="Calibri"/>
                <a:ea typeface="Calibri"/>
                <a:cs typeface="Calibri"/>
              </a:defRPr>
            </a:pPr>
            <a:r>
              <a:rPr sz="2325" b="1">
                <a:solidFill>
                  <a:srgbClr val="1B3A5C"/>
                </a:solidFill>
                <a:latin typeface="Calibri"/>
                <a:ea typeface="Calibri"/>
                <a:cs typeface="Calibri"/>
              </a:rPr>
              <a:t>Investigating the Bilingual Aging Lexicon: A Network Analysis of Word Associations in Chinese–English Bilinguals</a:t>
            </a:r>
          </a:p>
        </p:txBody>
      </p:sp>
      <p:sp>
        <p:nvSpPr>
          <p:cNvPr id="4" name="">
            <a:extLst xmlns:a="http://schemas.openxmlformats.org/drawingml/2006/main">
              <a:ext uri="{FF2B5EF4-FFF2-40B4-BE49-F238E27FC236}">
                <a16:creationId xmlns:a16="http://schemas.microsoft.com/office/drawing/2014/main" id="{01B494D3-2D9C-4B52-AEDB-C9F0FE4AA739}"/>
              </a:ext>
            </a:extLst>
          </p:cNvPr>
          <p:cNvSpPr>
            <a:spLocks xmlns:a="http://schemas.openxmlformats.org/drawingml/2006/main" noGrp="1"/>
          </p:cNvSpPr>
          <p:nvPr/>
        </p:nvSpPr>
        <p:spPr>
          <a:xfrm xmlns:a="http://schemas.openxmlformats.org/drawingml/2006/main">
            <a:off x="457200" y="257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111111"/>
                </a:solidFill>
                <a:latin typeface="Calibri"/>
                <a:ea typeface="Calibri"/>
                <a:cs typeface="Calibri"/>
              </a:defRPr>
            </a:defPPr>
          </a:lstStyle>
          <a:p xmlns:a="http://schemas.openxmlformats.org/drawingml/2006/main">
            <a:pPr algn="l">
              <a:lnSpc>
                <a:spcPct val="128000"/>
              </a:lnSpc>
              <a:buNone/>
              <a:defRPr sz="1575" b="1">
                <a:solidFill>
                  <a:srgbClr val="111111"/>
                </a:solidFill>
                <a:latin typeface="Calibri"/>
                <a:ea typeface="Calibri"/>
                <a:cs typeface="Calibri"/>
              </a:defRPr>
            </a:pPr>
            <a:r>
              <a:rPr sz="1575" b="1">
                <a:solidFill>
                  <a:srgbClr val="111111"/>
                </a:solidFill>
                <a:latin typeface="Calibri"/>
                <a:ea typeface="Calibri"/>
                <a:cs typeface="Calibri"/>
              </a:rPr>
              <a:t>Ping Zhang · Xin Wang</a:t>
            </a:r>
          </a:p>
        </p:txBody>
      </p:sp>
      <p:sp>
        <p:nvSpPr>
          <p:cNvPr id="5" name="">
            <a:extLst xmlns:a="http://schemas.openxmlformats.org/drawingml/2006/main">
              <a:ext uri="{FF2B5EF4-FFF2-40B4-BE49-F238E27FC236}">
                <a16:creationId xmlns:a16="http://schemas.microsoft.com/office/drawing/2014/main" id="{504B4EBC-059C-4556-A977-15DAD96AD729}"/>
              </a:ext>
            </a:extLst>
          </p:cNvPr>
          <p:cNvSpPr>
            <a:spLocks xmlns:a="http://schemas.openxmlformats.org/drawingml/2006/main" noGrp="1"/>
          </p:cNvSpPr>
          <p:nvPr/>
        </p:nvSpPr>
        <p:spPr>
          <a:xfrm xmlns:a="http://schemas.openxmlformats.org/drawingml/2006/main">
            <a:off x="457200" y="3009900"/>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111111"/>
                </a:solidFill>
                <a:latin typeface="Calibri"/>
                <a:ea typeface="Calibri"/>
                <a:cs typeface="Calibri"/>
              </a:defRPr>
            </a:defPPr>
          </a:lstStyle>
          <a:p xmlns:a="http://schemas.openxmlformats.org/drawingml/2006/main">
            <a:pPr algn="l">
              <a:lnSpc>
                <a:spcPct val="125000"/>
              </a:lnSpc>
              <a:buNone/>
              <a:defRPr sz="1275" b="0">
                <a:solidFill>
                  <a:srgbClr val="111111"/>
                </a:solidFill>
                <a:latin typeface="Calibri"/>
                <a:ea typeface="Calibri"/>
                <a:cs typeface="Calibri"/>
              </a:defRPr>
            </a:pPr>
            <a:r>
              <a:rPr sz="1275" b="0">
                <a:solidFill>
                  <a:srgbClr val="111111"/>
                </a:solidFill>
                <a:latin typeface="Calibri"/>
                <a:ea typeface="Calibri"/>
                <a:cs typeface="Calibri"/>
              </a:rPr>
              <a:t>Cognitive Science 50 (2026) e70205</a:t>
            </a:r>
          </a:p>
          <a:p xmlns:a="http://schemas.openxmlformats.org/drawingml/2006/main">
            <a:pPr algn="l">
              <a:lnSpc>
                <a:spcPct val="125000"/>
              </a:lnSpc>
              <a:buNone/>
              <a:defRPr sz="1275" b="0">
                <a:solidFill>
                  <a:srgbClr val="111111"/>
                </a:solidFill>
                <a:latin typeface="Calibri"/>
                <a:ea typeface="Calibri"/>
                <a:cs typeface="Calibri"/>
              </a:defRPr>
            </a:pPr>
            <a:r>
              <a:rPr sz="1275" b="0">
                <a:solidFill>
                  <a:srgbClr val="111111"/>
                </a:solidFill>
                <a:latin typeface="Calibri"/>
                <a:ea typeface="Calibri"/>
                <a:cs typeface="Calibri"/>
              </a:rPr>
              <a:t>DOI: 10.1111/cogs.70205</a:t>
            </a:r>
          </a:p>
        </p:txBody>
      </p:sp>
      <p:sp>
        <p:nvSpPr>
          <p:cNvPr id="6" name="">
            <a:extLst xmlns:a="http://schemas.openxmlformats.org/drawingml/2006/main">
              <a:ext uri="{FF2B5EF4-FFF2-40B4-BE49-F238E27FC236}">
                <a16:creationId xmlns:a16="http://schemas.microsoft.com/office/drawing/2014/main" id="{4759172D-6C62-4F25-BE89-C313800A161D}"/>
              </a:ext>
            </a:extLst>
          </p:cNvPr>
          <p:cNvSpPr>
            <a:spLocks xmlns:a="http://schemas.openxmlformats.org/drawingml/2006/main" noGrp="1"/>
          </p:cNvSpPr>
          <p:nvPr/>
        </p:nvSpPr>
        <p:spPr>
          <a:xfrm xmlns:a="http://schemas.openxmlformats.org/drawingml/2006/main">
            <a:off x="457200" y="40957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1B3A5C"/>
                </a:solidFill>
                <a:latin typeface="Calibri"/>
                <a:ea typeface="Calibri"/>
                <a:cs typeface="Calibri"/>
              </a:defRPr>
            </a:defPPr>
          </a:lstStyle>
          <a:p xmlns:a="http://schemas.openxmlformats.org/drawingml/2006/main">
            <a:pPr algn="l">
              <a:lnSpc>
                <a:spcPct val="125000"/>
              </a:lnSpc>
              <a:buNone/>
              <a:defRPr sz="1275" b="0">
                <a:solidFill>
                  <a:srgbClr val="1B3A5C"/>
                </a:solidFill>
                <a:latin typeface="Calibri"/>
                <a:ea typeface="Calibri"/>
                <a:cs typeface="Calibri"/>
              </a:defRPr>
            </a:pPr>
            <a:r>
              <a:rPr sz="1275" b="0">
                <a:solidFill>
                  <a:srgbClr val="1B3A5C"/>
                </a:solidFill>
                <a:latin typeface="Calibri"/>
                <a:ea typeface="Calibri"/>
                <a:cs typeface="Calibri"/>
              </a:rPr>
              <a:t>资助项目：国家社会科学基金（23BYY178）</a:t>
            </a:r>
          </a:p>
        </p:txBody>
      </p:sp>
    </p:spTree>
    <p:extLst>
      <p:ext uri="{BB962C8B-B14F-4D97-AF65-F5344CB8AC3E}">
        <p14:creationId xmlns:p14="http://schemas.microsoft.com/office/powerpoint/2010/main" val="4786365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FA189D-EA61-4B14-9D69-A1498FB1E156}"/>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039AC-5B18-487B-B848-AF195B6430FA}"/>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6A5D3F-7A7F-4E19-A4D8-0582642B80C8}"/>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研究背景与研究空白</a:t>
            </a:r>
          </a:p>
        </p:txBody>
      </p:sp>
      <p:sp>
        <p:nvSpPr>
          <p:cNvPr id="4" name="">
            <a:extLst xmlns:a="http://schemas.openxmlformats.org/drawingml/2006/main">
              <a:ext uri="{FF2B5EF4-FFF2-40B4-BE49-F238E27FC236}">
                <a16:creationId xmlns:a16="http://schemas.microsoft.com/office/drawing/2014/main" id="{60E6B5FD-EC58-49CC-98EE-973A6A4113DF}"/>
              </a:ext>
            </a:extLst>
          </p:cNvPr>
          <p:cNvSpPr>
            <a:spLocks xmlns:a="http://schemas.openxmlformats.org/drawingml/2006/main" noGrp="1"/>
          </p:cNvSpPr>
          <p:nvPr/>
        </p:nvSpPr>
        <p:spPr>
          <a:xfrm xmlns:a="http://schemas.openxmlformats.org/drawingml/2006/main">
            <a:off x="609600" y="1123950"/>
            <a:ext cx="792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研究背景</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词汇联想任务可以生成语义网络，以节点表示词汇或概念，以边表示联想关系。</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既有老化研究常发现老年组网络连接减少、路径增长和模块化增强；网络丰富化观点则将部分变化归因于终身学习带来的知识扩展和提取竞争。</a:t>
            </a:r>
          </a:p>
        </p:txBody>
      </p:sp>
      <p:sp>
        <p:nvSpPr>
          <p:cNvPr id="5" name="">
            <a:extLst xmlns:a="http://schemas.openxmlformats.org/drawingml/2006/main">
              <a:ext uri="{FF2B5EF4-FFF2-40B4-BE49-F238E27FC236}">
                <a16:creationId xmlns:a16="http://schemas.microsoft.com/office/drawing/2014/main" id="{3C88DF77-08E4-40AF-96BC-FEBAA05E32EF}"/>
              </a:ext>
            </a:extLst>
          </p:cNvPr>
          <p:cNvSpPr>
            <a:spLocks xmlns:a="http://schemas.openxmlformats.org/drawingml/2006/main" noGrp="1"/>
          </p:cNvSpPr>
          <p:nvPr/>
        </p:nvSpPr>
        <p:spPr>
          <a:xfrm xmlns:a="http://schemas.openxmlformats.org/drawingml/2006/main">
            <a:off x="609600" y="2686050"/>
            <a:ext cx="79248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研究空白</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双语成人的词汇网络如何随年龄变化，尤其是同一群体内母语与二语结构的差异，证据仍然有限。</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既有双语网络研究多采用语义流畅性任务、受限语义类别或描述性比较，结果不能直接推广到自由词汇联想网络。</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中年至晚年阶段的连续变化，以及母语与二语的年龄轨迹是否一致，尚缺少系统检验。</a:t>
            </a:r>
          </a:p>
        </p:txBody>
      </p:sp>
    </p:spTree>
    <p:extLst>
      <p:ext uri="{BB962C8B-B14F-4D97-AF65-F5344CB8AC3E}">
        <p14:creationId xmlns:p14="http://schemas.microsoft.com/office/powerpoint/2010/main" val="5676625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CA0AC5-CA3D-4827-AC50-B401211F8B77}"/>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850F7-C4CE-4730-8130-DCFE4D43B67A}"/>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EC17EF-2CE7-4A03-88FE-5D7588BF21F6}"/>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研究问题与研究假设</a:t>
            </a:r>
          </a:p>
        </p:txBody>
      </p:sp>
      <p:sp>
        <p:nvSpPr>
          <p:cNvPr id="4" name="">
            <a:extLst xmlns:a="http://schemas.openxmlformats.org/drawingml/2006/main">
              <a:ext uri="{FF2B5EF4-FFF2-40B4-BE49-F238E27FC236}">
                <a16:creationId xmlns:a16="http://schemas.microsoft.com/office/drawing/2014/main" id="{FDEB2D2A-D2AB-4045-9681-ACF0DCAFF29D}"/>
              </a:ext>
            </a:extLst>
          </p:cNvPr>
          <p:cNvSpPr>
            <a:spLocks xmlns:a="http://schemas.openxmlformats.org/drawingml/2006/main" noGrp="1"/>
          </p:cNvSpPr>
          <p:nvPr/>
        </p:nvSpPr>
        <p:spPr>
          <a:xfrm xmlns:a="http://schemas.openxmlformats.org/drawingml/2006/main">
            <a:off x="609600" y="1123950"/>
            <a:ext cx="7924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研究问题</a:t>
            </a:r>
          </a:p>
          <a:p xmlns:a="http://schemas.openxmlformats.org/drawingml/2006/main">
            <a:pPr>
              <a:lnSpc>
                <a:spcPct val="135000"/>
              </a:lnSpc>
              <a:spcAft>
                <a:spcPts val="8"/>
              </a:spcAft>
              <a:buNone/>
              <a:defRPr sz="1575">
                <a:solidFill>
                  <a:srgbClr val="111111"/>
                </a:solidFill>
                <a:latin typeface="Calibri"/>
                <a:ea typeface="Calibri"/>
                <a:cs typeface="Calibri"/>
              </a:defRPr>
            </a:pPr>
            <a:r>
              <a:rPr sz="1575">
                <a:solidFill>
                  <a:srgbClr val="111111"/>
                </a:solidFill>
                <a:latin typeface="Calibri"/>
                <a:ea typeface="Calibri"/>
                <a:cs typeface="Calibri"/>
              </a:rPr>
              <a:t>问题一：母语汉语和二语英语词汇联想网络的平均度、平均最短路径、聚类系数和模块度如何随年龄变化？</a:t>
            </a:r>
          </a:p>
          <a:p xmlns:a="http://schemas.openxmlformats.org/drawingml/2006/main">
            <a:pPr>
              <a:lnSpc>
                <a:spcPct val="135000"/>
              </a:lnSpc>
              <a:spcAft>
                <a:spcPts val="8"/>
              </a:spcAft>
              <a:buNone/>
              <a:defRPr sz="1575">
                <a:solidFill>
                  <a:srgbClr val="111111"/>
                </a:solidFill>
                <a:latin typeface="Calibri"/>
                <a:ea typeface="Calibri"/>
                <a:cs typeface="Calibri"/>
              </a:defRPr>
            </a:pPr>
            <a:r>
              <a:rPr sz="1575">
                <a:solidFill>
                  <a:srgbClr val="111111"/>
                </a:solidFill>
                <a:latin typeface="Calibri"/>
                <a:ea typeface="Calibri"/>
                <a:cs typeface="Calibri"/>
              </a:rPr>
              <a:t>问题二：母语与二语的年龄变化轨迹是否存在差异？</a:t>
            </a:r>
          </a:p>
        </p:txBody>
      </p:sp>
      <p:sp>
        <p:nvSpPr>
          <p:cNvPr id="5" name="">
            <a:extLst xmlns:a="http://schemas.openxmlformats.org/drawingml/2006/main">
              <a:ext uri="{FF2B5EF4-FFF2-40B4-BE49-F238E27FC236}">
                <a16:creationId xmlns:a16="http://schemas.microsoft.com/office/drawing/2014/main" id="{5EB54E5E-7249-4E3F-AF07-0F81B0FBD15B}"/>
              </a:ext>
            </a:extLst>
          </p:cNvPr>
          <p:cNvSpPr>
            <a:spLocks xmlns:a="http://schemas.openxmlformats.org/drawingml/2006/main" noGrp="1"/>
          </p:cNvSpPr>
          <p:nvPr/>
        </p:nvSpPr>
        <p:spPr>
          <a:xfrm xmlns:a="http://schemas.openxmlformats.org/drawingml/2006/main">
            <a:off x="609600" y="2914650"/>
            <a:ext cx="7924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研究假设</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年龄效应：随年龄增长，网络平均度降低、平均最短路径增长、聚类系数降低、模块度升高。</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语言效应：依据既有研究，暂时预测二语具有更高的聚类系数和更低的模块度；平均度与最短路径不设方向性假设。</a:t>
            </a:r>
          </a:p>
        </p:txBody>
      </p:sp>
    </p:spTree>
    <p:extLst>
      <p:ext uri="{BB962C8B-B14F-4D97-AF65-F5344CB8AC3E}">
        <p14:creationId xmlns:p14="http://schemas.microsoft.com/office/powerpoint/2010/main" val="19180427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0F01A7-D48F-4733-AE63-9A8EF316FDCB}"/>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F60C2F-447D-435A-81C8-5C47C7AD29DF}"/>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3637E1-2A05-4C4A-B508-B1850A62722B}"/>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参与者与实验材料</a:t>
            </a:r>
          </a:p>
        </p:txBody>
      </p:sp>
      <p:sp>
        <p:nvSpPr>
          <p:cNvPr id="4" name="">
            <a:extLst xmlns:a="http://schemas.openxmlformats.org/drawingml/2006/main">
              <a:ext uri="{FF2B5EF4-FFF2-40B4-BE49-F238E27FC236}">
                <a16:creationId xmlns:a16="http://schemas.microsoft.com/office/drawing/2014/main" id="{8B41890E-507A-4DAA-924F-743A39EC66CB}"/>
              </a:ext>
            </a:extLst>
          </p:cNvPr>
          <p:cNvSpPr>
            <a:spLocks xmlns:a="http://schemas.openxmlformats.org/drawingml/2006/main" noGrp="1"/>
          </p:cNvSpPr>
          <p:nvPr/>
        </p:nvSpPr>
        <p:spPr>
          <a:xfrm xmlns:a="http://schemas.openxmlformats.org/drawingml/2006/main">
            <a:off x="609600" y="1123950"/>
            <a:ext cx="79248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参与者</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117名在职大学英语教师，均来自江苏省高校，其中女性78名、男性39名，29人具有海外学习经历。按年龄分为30–40岁（n = 30，M = 36.23）、41–50岁（n = 30，M = 42.73）、51–60岁（n = 30，M = 54.53）和61–70岁（n = 27，M = 65.04）四组。参与者均未报告神经或认知障碍。</a:t>
            </a:r>
          </a:p>
        </p:txBody>
      </p:sp>
      <p:sp>
        <p:nvSpPr>
          <p:cNvPr id="5" name="">
            <a:extLst xmlns:a="http://schemas.openxmlformats.org/drawingml/2006/main">
              <a:ext uri="{FF2B5EF4-FFF2-40B4-BE49-F238E27FC236}">
                <a16:creationId xmlns:a16="http://schemas.microsoft.com/office/drawing/2014/main" id="{D778FE38-180D-48E1-9D1C-F3CEB1503890}"/>
              </a:ext>
            </a:extLst>
          </p:cNvPr>
          <p:cNvSpPr>
            <a:spLocks xmlns:a="http://schemas.openxmlformats.org/drawingml/2006/main" noGrp="1"/>
          </p:cNvSpPr>
          <p:nvPr/>
        </p:nvSpPr>
        <p:spPr>
          <a:xfrm xmlns:a="http://schemas.openxmlformats.org/drawingml/2006/main">
            <a:off x="609600" y="3181350"/>
            <a:ext cx="7924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实验材料</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采用30个英语刺激词及其30个汉语对应词，覆盖名词、动词和形容词，并控制词性、具体性和词长或笔画数。英语词多数位于高频词表前2000词，imply、essential和complex位于约3000词频段。</a:t>
            </a:r>
          </a:p>
        </p:txBody>
      </p:sp>
    </p:spTree>
    <p:extLst>
      <p:ext uri="{BB962C8B-B14F-4D97-AF65-F5344CB8AC3E}">
        <p14:creationId xmlns:p14="http://schemas.microsoft.com/office/powerpoint/2010/main" val="5597736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BD63DE-DFD2-49F7-892C-8B3F9E89CE05}"/>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4A0189-613E-4434-8A49-0EEB59F672E4}"/>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790A84-9415-47BB-95EE-2937E1166763}"/>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实验任务与过程</a:t>
            </a:r>
          </a:p>
        </p:txBody>
      </p:sp>
      <p:sp>
        <p:nvSpPr>
          <p:cNvPr id="4" name="">
            <a:extLst xmlns:a="http://schemas.openxmlformats.org/drawingml/2006/main">
              <a:ext uri="{FF2B5EF4-FFF2-40B4-BE49-F238E27FC236}">
                <a16:creationId xmlns:a16="http://schemas.microsoft.com/office/drawing/2014/main" id="{80056D3B-B65D-4933-99DE-892871604A48}"/>
              </a:ext>
            </a:extLst>
          </p:cNvPr>
          <p:cNvSpPr>
            <a:spLocks xmlns:a="http://schemas.openxmlformats.org/drawingml/2006/main" noGrp="1"/>
          </p:cNvSpPr>
          <p:nvPr/>
        </p:nvSpPr>
        <p:spPr>
          <a:xfrm xmlns:a="http://schemas.openxmlformats.org/drawingml/2006/main">
            <a:off x="609600" y="1123950"/>
            <a:ext cx="7924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连续词汇联想任务</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在线程序逐个呈现刺激词。参与者针对每个刺激词输入3个最先想到的同语种反应词，任务不设时间限制，并要求自然、即时作答。程序支持键盘输入和语音转写。</a:t>
            </a:r>
          </a:p>
        </p:txBody>
      </p:sp>
      <p:sp>
        <p:nvSpPr>
          <p:cNvPr id="5" name="">
            <a:extLst xmlns:a="http://schemas.openxmlformats.org/drawingml/2006/main">
              <a:ext uri="{FF2B5EF4-FFF2-40B4-BE49-F238E27FC236}">
                <a16:creationId xmlns:a16="http://schemas.microsoft.com/office/drawing/2014/main" id="{847EFDCE-6F36-411D-9E45-2F2522BAD60E}"/>
              </a:ext>
            </a:extLst>
          </p:cNvPr>
          <p:cNvSpPr>
            <a:spLocks xmlns:a="http://schemas.openxmlformats.org/drawingml/2006/main" noGrp="1"/>
          </p:cNvSpPr>
          <p:nvPr/>
        </p:nvSpPr>
        <p:spPr>
          <a:xfrm xmlns:a="http://schemas.openxmlformats.org/drawingml/2006/main">
            <a:off x="609600" y="2781300"/>
            <a:ext cx="79248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测试安排</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数据采集于2024年下半年完成。参与者先完成英语任务，约6个月后完成汉语任务；两次任务均使用相同的刺激词顺序和作答要求。</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30–40岁、41–50岁和51–60岁组在每种语言中各获得2700个联想反应，61–70岁组各获得2430个联想反应。英语数据统一为美式拼写、校正拼写错误并进行词形还原；汉语数据按需要删除形容词后的“的”。</a:t>
            </a:r>
          </a:p>
        </p:txBody>
      </p:sp>
    </p:spTree>
    <p:extLst>
      <p:ext uri="{BB962C8B-B14F-4D97-AF65-F5344CB8AC3E}">
        <p14:creationId xmlns:p14="http://schemas.microsoft.com/office/powerpoint/2010/main" val="19415301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996A56-93D3-4844-BD33-EFE826987A4A}"/>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1DC8D7-0D2A-4EEC-95A8-DB5B7E8522DF}"/>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741517-F0A3-4880-BA17-969DEE48AD00}"/>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网络构建与数据分析</a:t>
            </a:r>
          </a:p>
        </p:txBody>
      </p:sp>
      <p:sp>
        <p:nvSpPr>
          <p:cNvPr id="4" name="">
            <a:extLst xmlns:a="http://schemas.openxmlformats.org/drawingml/2006/main">
              <a:ext uri="{FF2B5EF4-FFF2-40B4-BE49-F238E27FC236}">
                <a16:creationId xmlns:a16="http://schemas.microsoft.com/office/drawing/2014/main" id="{D58855FB-8F69-4F79-98F1-8E00EE712DF5}"/>
              </a:ext>
            </a:extLst>
          </p:cNvPr>
          <p:cNvSpPr>
            <a:spLocks xmlns:a="http://schemas.openxmlformats.org/drawingml/2006/main" noGrp="1"/>
          </p:cNvSpPr>
          <p:nvPr/>
        </p:nvSpPr>
        <p:spPr>
          <a:xfrm xmlns:a="http://schemas.openxmlformats.org/drawingml/2006/main">
            <a:off x="609600" y="1066800"/>
            <a:ext cx="79248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网络构建</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采用反应词—反应词网络（response–response network）。节点为独特反应词；同一刺激词下共同出现的两个反应词形成边。边权记录词对共同出现于多少个不同刺激词下；同一刺激词内的重复反应按词型去重。</a:t>
            </a:r>
          </a:p>
        </p:txBody>
      </p:sp>
      <p:sp>
        <p:nvSpPr>
          <p:cNvPr id="5" name="">
            <a:extLst xmlns:a="http://schemas.openxmlformats.org/drawingml/2006/main">
              <a:ext uri="{FF2B5EF4-FFF2-40B4-BE49-F238E27FC236}">
                <a16:creationId xmlns:a16="http://schemas.microsoft.com/office/drawing/2014/main" id="{C0D00816-3BB5-40D7-90D7-F8808FFA3CFA}"/>
              </a:ext>
            </a:extLst>
          </p:cNvPr>
          <p:cNvSpPr>
            <a:spLocks xmlns:a="http://schemas.openxmlformats.org/drawingml/2006/main" noGrp="1"/>
          </p:cNvSpPr>
          <p:nvPr/>
        </p:nvSpPr>
        <p:spPr>
          <a:xfrm xmlns:a="http://schemas.openxmlformats.org/drawingml/2006/main">
            <a:off x="609600" y="2800350"/>
            <a:ext cx="79248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网络指标与统计分析</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平均度〈k〉衡量整体连接；平均最短路径 L 衡量全局传递效率；聚类系数 C 衡量局部聚集；模块度 Q 衡量社群分隔。网络使用 NetworkX 构建，模块度采用 Louvain 方法计算。</a:t>
            </a:r>
          </a:p>
          <a:p xmlns:a="http://schemas.openxmlformats.org/drawingml/2006/main">
            <a:pPr>
              <a:lnSpc>
                <a:spcPct val="135000"/>
              </a:lnSpc>
              <a:spcAft>
                <a:spcPts val="5"/>
              </a:spcAft>
              <a:buNone/>
              <a:defRPr sz="1575">
                <a:solidFill>
                  <a:srgbClr val="111111"/>
                </a:solidFill>
                <a:latin typeface="Calibri"/>
                <a:ea typeface="Calibri"/>
                <a:cs typeface="Calibri"/>
              </a:defRPr>
            </a:pPr>
            <a:r>
              <a:rPr sz="1575">
                <a:solidFill>
                  <a:srgbClr val="111111"/>
                </a:solidFill>
                <a:latin typeface="Calibri"/>
                <a:ea typeface="Calibri"/>
                <a:cs typeface="Calibri"/>
              </a:rPr>
              <a:t>为控制原始网络规模差异，每个网络抽取100个、包含1000个节点的广度优先搜索子图。年龄组与语言差异的统计检验基于这些子图。</a:t>
            </a:r>
          </a:p>
        </p:txBody>
      </p:sp>
    </p:spTree>
    <p:extLst>
      <p:ext uri="{BB962C8B-B14F-4D97-AF65-F5344CB8AC3E}">
        <p14:creationId xmlns:p14="http://schemas.microsoft.com/office/powerpoint/2010/main" val="20906453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3252D0-73B5-47F2-8EDE-FD9A2AB0EE38}"/>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B4C98A-7BC1-4C65-A9E0-47BEA6FF7953}"/>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6C9AA4-6C86-44A7-80C9-9F59F74537E0}"/>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主要结果：平均度与最短路径</a:t>
            </a:r>
          </a:p>
        </p:txBody>
      </p:sp>
      <p:graphicFrame>
        <p:nvGraphicFramePr>
          <p:cNvPr id="4" name="">
            <a:extLst xmlns:a="http://schemas.openxmlformats.org/drawingml/2006/main">
              <a:ext uri="{FF2B5EF4-FFF2-40B4-BE49-F238E27FC236}">
                <a16:creationId xmlns:a16="http://schemas.microsoft.com/office/drawing/2014/main" id="{C6FB672A-E6C3-4DD2-9970-3F4E52A3A045}"/>
              </a:ext>
            </a:extLst>
          </p:cNvPr>
          <p:cNvGraphicFramePr/>
          <p:nvPr/>
        </p:nvGraphicFramePr>
        <p:xfrm>
          <a:off xmlns:a="http://schemas.openxmlformats.org/drawingml/2006/main" x="514350" y="1123950"/>
          <a:ext xmlns:a="http://schemas.openxmlformats.org/drawingml/2006/main" cx="8115300" cy="2095500"/>
        </p:xfrm>
        <a:graphic xmlns:a="http://schemas.openxmlformats.org/drawingml/2006/main">
          <a:graphicData uri="http://schemas.openxmlformats.org/drawingml/2006/table">
            <a:tbl>
              <a:tblPr/>
              <a:tblGrid>
                <a:gridCol w="1466850"/>
                <a:gridCol w="914400"/>
                <a:gridCol w="1428750"/>
                <a:gridCol w="1428750"/>
                <a:gridCol w="1428750"/>
                <a:gridCol w="1447800"/>
              </a:tblGrid>
              <a:tr h="419100">
                <a:tc>
                  <a:txBody>
                    <a:bodyPr/>
                    <a:lstStyle/>
                    <a:p>
                      <a:pPr algn="ctr"/>
                      <a:r>
                        <a:rPr sz="1200" b="1">
                          <a:solidFill>
                            <a:srgbClr val="FFFFFF"/>
                          </a:solidFill>
                          <a:latin typeface="Calibri"/>
                          <a:ea typeface="Calibri"/>
                          <a:cs typeface="Calibri"/>
                        </a:rPr>
                        <a:t>指标</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语言</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30–40岁</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41–50岁</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51–60岁</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61–70岁</a:t>
                      </a:r>
                    </a:p>
                  </a:txBody>
                  <a:tcPr marL="57150" marR="57150" marT="47625" marB="47625" anchor="ctr">
                    <a:solidFill>
                      <a:srgbClr val="1B3A5C"/>
                    </a:solidFill>
                  </a:tcPr>
                </a:tc>
              </a:tr>
              <a:tr h="419100">
                <a:tc>
                  <a:txBody>
                    <a:bodyPr/>
                    <a:lstStyle/>
                    <a:p>
                      <a:pPr algn="ctr"/>
                      <a:r>
                        <a:rPr sz="1200">
                          <a:solidFill>
                            <a:srgbClr val="111111"/>
                          </a:solidFill>
                          <a:latin typeface="Calibri"/>
                          <a:ea typeface="Calibri"/>
                          <a:cs typeface="Calibri"/>
                        </a:rPr>
                        <a:t>平均度〈k〉</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母语</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58.943</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63.105</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62.293</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61.152</a:t>
                      </a:r>
                    </a:p>
                  </a:txBody>
                  <a:tcPr marL="57150" marR="57150" marT="47625" marB="47625" anchor="ctr">
                    <a:solidFill>
                      <a:srgbClr val="EAF2F8"/>
                    </a:solidFill>
                  </a:tcPr>
                </a:tc>
              </a:tr>
              <a:tr h="419100">
                <a:tc>
                  <a:txBody>
                    <a:bodyPr/>
                    <a:lstStyle/>
                    <a:p>
                      <a:pPr algn="ctr"/>
                      <a:r>
                        <a:rPr sz="1200">
                          <a:solidFill>
                            <a:srgbClr val="111111"/>
                          </a:solidFill>
                          <a:latin typeface="Calibri"/>
                          <a:ea typeface="Calibri"/>
                          <a:cs typeface="Calibri"/>
                        </a:rPr>
                        <a:t>平均度〈k〉</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二语</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51.591</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62.827</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57.746</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61.481</a:t>
                      </a:r>
                    </a:p>
                  </a:txBody>
                  <a:tcPr marL="57150" marR="57150" marT="47625" marB="47625" anchor="ctr">
                    <a:solidFill>
                      <a:srgbClr val="FFFFFF"/>
                    </a:solidFill>
                  </a:tcPr>
                </a:tc>
              </a:tr>
              <a:tr h="419100">
                <a:tc>
                  <a:txBody>
                    <a:bodyPr/>
                    <a:lstStyle/>
                    <a:p>
                      <a:pPr algn="ctr"/>
                      <a:r>
                        <a:rPr sz="1200">
                          <a:solidFill>
                            <a:srgbClr val="111111"/>
                          </a:solidFill>
                          <a:latin typeface="Calibri"/>
                          <a:ea typeface="Calibri"/>
                          <a:cs typeface="Calibri"/>
                        </a:rPr>
                        <a:t>最短路径 L</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母语</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2.410</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2.312</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2.259</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2.362</a:t>
                      </a:r>
                    </a:p>
                  </a:txBody>
                  <a:tcPr marL="57150" marR="57150" marT="47625" marB="47625" anchor="ctr">
                    <a:solidFill>
                      <a:srgbClr val="EAF2F8"/>
                    </a:solidFill>
                  </a:tcPr>
                </a:tc>
              </a:tr>
              <a:tr h="419100">
                <a:tc>
                  <a:txBody>
                    <a:bodyPr/>
                    <a:lstStyle/>
                    <a:p>
                      <a:pPr algn="ctr"/>
                      <a:r>
                        <a:rPr sz="1200">
                          <a:solidFill>
                            <a:srgbClr val="111111"/>
                          </a:solidFill>
                          <a:latin typeface="Calibri"/>
                          <a:ea typeface="Calibri"/>
                          <a:cs typeface="Calibri"/>
                        </a:rPr>
                        <a:t>最短路径 L</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二语</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2.388</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2.081</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2.281</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2.208</a:t>
                      </a:r>
                    </a:p>
                  </a:txBody>
                  <a:tcPr marL="57150" marR="571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333CE99-EC48-4DF6-AF3E-39B82E83C588}"/>
              </a:ext>
            </a:extLst>
          </p:cNvPr>
          <p:cNvSpPr>
            <a:spLocks xmlns:a="http://schemas.openxmlformats.org/drawingml/2006/main" noGrp="1"/>
          </p:cNvSpPr>
          <p:nvPr/>
        </p:nvSpPr>
        <p:spPr>
          <a:xfrm xmlns:a="http://schemas.openxmlformats.org/drawingml/2006/main">
            <a:off x="609600" y="3486150"/>
            <a:ext cx="7924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13" b="1">
                <a:solidFill>
                  <a:srgbClr val="1B3A5C"/>
                </a:solidFill>
                <a:latin typeface="Calibri"/>
                <a:ea typeface="Calibri"/>
                <a:cs typeface="Calibri"/>
              </a:defRPr>
            </a:defPPr>
          </a:lstStyle>
          <a:p xmlns:a="http://schemas.openxmlformats.org/drawingml/2006/main">
            <a:pPr algn="l">
              <a:lnSpc>
                <a:spcPct val="125000"/>
              </a:lnSpc>
              <a:buNone/>
              <a:defRPr sz="1313" b="1">
                <a:solidFill>
                  <a:srgbClr val="1B3A5C"/>
                </a:solidFill>
                <a:latin typeface="Calibri"/>
                <a:ea typeface="Calibri"/>
                <a:cs typeface="Calibri"/>
              </a:defRPr>
            </a:pPr>
            <a:r>
              <a:rPr sz="1313" b="1">
                <a:solidFill>
                  <a:srgbClr val="1B3A5C"/>
                </a:solidFill>
                <a:latin typeface="Calibri"/>
                <a:ea typeface="Calibri"/>
                <a:cs typeface="Calibri"/>
              </a:rPr>
              <a:t>两种语言的平均度均在41–50岁达到峰值。母语随后逐步下降；二语先下降，61–70岁回升。</a:t>
            </a:r>
          </a:p>
        </p:txBody>
      </p:sp>
      <p:sp>
        <p:nvSpPr>
          <p:cNvPr id="6" name="">
            <a:extLst xmlns:a="http://schemas.openxmlformats.org/drawingml/2006/main">
              <a:ext uri="{FF2B5EF4-FFF2-40B4-BE49-F238E27FC236}">
                <a16:creationId xmlns:a16="http://schemas.microsoft.com/office/drawing/2014/main" id="{B74F7A71-2957-4B5C-9C44-BFE273227763}"/>
              </a:ext>
            </a:extLst>
          </p:cNvPr>
          <p:cNvSpPr>
            <a:spLocks xmlns:a="http://schemas.openxmlformats.org/drawingml/2006/main" noGrp="1"/>
          </p:cNvSpPr>
          <p:nvPr/>
        </p:nvSpPr>
        <p:spPr>
          <a:xfrm xmlns:a="http://schemas.openxmlformats.org/drawingml/2006/main">
            <a:off x="609600" y="4114800"/>
            <a:ext cx="7924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1B3A5C"/>
                </a:solidFill>
                <a:latin typeface="Calibri"/>
                <a:ea typeface="Calibri"/>
                <a:cs typeface="Calibri"/>
              </a:defRPr>
            </a:defPPr>
          </a:lstStyle>
          <a:p xmlns:a="http://schemas.openxmlformats.org/drawingml/2006/main">
            <a:pPr algn="l">
              <a:lnSpc>
                <a:spcPct val="125000"/>
              </a:lnSpc>
              <a:buNone/>
              <a:defRPr sz="1350" b="1">
                <a:solidFill>
                  <a:srgbClr val="1B3A5C"/>
                </a:solidFill>
                <a:latin typeface="Calibri"/>
                <a:ea typeface="Calibri"/>
                <a:cs typeface="Calibri"/>
              </a:defRPr>
            </a:pPr>
            <a:r>
              <a:rPr sz="1350" b="1">
                <a:solidFill>
                  <a:srgbClr val="1B3A5C"/>
                </a:solidFill>
                <a:latin typeface="Calibri"/>
                <a:ea typeface="Calibri"/>
                <a:cs typeface="Calibri"/>
              </a:rPr>
              <a:t>平均最短路径：母语在51–60岁最低，二语在41–50岁最低。年龄、语言及交互作用均显著（p &lt; .001）。</a:t>
            </a:r>
          </a:p>
        </p:txBody>
      </p:sp>
    </p:spTree>
    <p:extLst>
      <p:ext uri="{BB962C8B-B14F-4D97-AF65-F5344CB8AC3E}">
        <p14:creationId xmlns:p14="http://schemas.microsoft.com/office/powerpoint/2010/main" val="6898363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F4AB41-8824-441F-9196-2A8911E0D86E}"/>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7D0B08-1AED-4B80-A335-703C5C75CD37}"/>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18CAB6-D4B4-41AB-B229-0350F3366BD3}"/>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主要结果：聚类系数与模块度</a:t>
            </a:r>
          </a:p>
        </p:txBody>
      </p:sp>
      <p:graphicFrame>
        <p:nvGraphicFramePr>
          <p:cNvPr id="4" name="">
            <a:extLst xmlns:a="http://schemas.openxmlformats.org/drawingml/2006/main">
              <a:ext uri="{FF2B5EF4-FFF2-40B4-BE49-F238E27FC236}">
                <a16:creationId xmlns:a16="http://schemas.microsoft.com/office/drawing/2014/main" id="{981CA871-CD07-4A6F-BE41-FD920B9DE103}"/>
              </a:ext>
            </a:extLst>
          </p:cNvPr>
          <p:cNvGraphicFramePr/>
          <p:nvPr/>
        </p:nvGraphicFramePr>
        <p:xfrm>
          <a:off xmlns:a="http://schemas.openxmlformats.org/drawingml/2006/main" x="419100" y="1085850"/>
          <a:ext xmlns:a="http://schemas.openxmlformats.org/drawingml/2006/main" cx="8305800" cy="2133600"/>
        </p:xfrm>
        <a:graphic xmlns:a="http://schemas.openxmlformats.org/drawingml/2006/main">
          <a:graphicData uri="http://schemas.openxmlformats.org/drawingml/2006/table">
            <a:tbl>
              <a:tblPr/>
              <a:tblGrid>
                <a:gridCol w="1847850"/>
                <a:gridCol w="838200"/>
                <a:gridCol w="1400175"/>
                <a:gridCol w="1400175"/>
                <a:gridCol w="1400175"/>
                <a:gridCol w="1419225"/>
              </a:tblGrid>
              <a:tr h="426720">
                <a:tc>
                  <a:txBody>
                    <a:bodyPr/>
                    <a:lstStyle/>
                    <a:p>
                      <a:pPr algn="ctr"/>
                      <a:r>
                        <a:rPr sz="1125" b="1">
                          <a:solidFill>
                            <a:srgbClr val="FFFFFF"/>
                          </a:solidFill>
                          <a:latin typeface="Calibri"/>
                          <a:ea typeface="Calibri"/>
                          <a:cs typeface="Calibri"/>
                        </a:rPr>
                        <a:t>指标</a:t>
                      </a:r>
                    </a:p>
                  </a:txBody>
                  <a:tcPr marL="57150" marR="57150" marT="47625" marB="47625" anchor="ctr">
                    <a:solidFill>
                      <a:srgbClr val="1B3A5C"/>
                    </a:solidFill>
                  </a:tcPr>
                </a:tc>
                <a:tc>
                  <a:txBody>
                    <a:bodyPr/>
                    <a:lstStyle/>
                    <a:p>
                      <a:pPr algn="ctr"/>
                      <a:r>
                        <a:rPr sz="1125" b="1">
                          <a:solidFill>
                            <a:srgbClr val="FFFFFF"/>
                          </a:solidFill>
                          <a:latin typeface="Calibri"/>
                          <a:ea typeface="Calibri"/>
                          <a:cs typeface="Calibri"/>
                        </a:rPr>
                        <a:t>语言</a:t>
                      </a:r>
                    </a:p>
                  </a:txBody>
                  <a:tcPr marL="57150" marR="57150" marT="47625" marB="47625" anchor="ctr">
                    <a:solidFill>
                      <a:srgbClr val="1B3A5C"/>
                    </a:solidFill>
                  </a:tcPr>
                </a:tc>
                <a:tc>
                  <a:txBody>
                    <a:bodyPr/>
                    <a:lstStyle/>
                    <a:p>
                      <a:pPr algn="ctr"/>
                      <a:r>
                        <a:rPr sz="1125" b="1">
                          <a:solidFill>
                            <a:srgbClr val="FFFFFF"/>
                          </a:solidFill>
                          <a:latin typeface="Calibri"/>
                          <a:ea typeface="Calibri"/>
                          <a:cs typeface="Calibri"/>
                        </a:rPr>
                        <a:t>30–40岁</a:t>
                      </a:r>
                    </a:p>
                  </a:txBody>
                  <a:tcPr marL="57150" marR="57150" marT="47625" marB="47625" anchor="ctr">
                    <a:solidFill>
                      <a:srgbClr val="1B3A5C"/>
                    </a:solidFill>
                  </a:tcPr>
                </a:tc>
                <a:tc>
                  <a:txBody>
                    <a:bodyPr/>
                    <a:lstStyle/>
                    <a:p>
                      <a:pPr algn="ctr"/>
                      <a:r>
                        <a:rPr sz="1125" b="1">
                          <a:solidFill>
                            <a:srgbClr val="FFFFFF"/>
                          </a:solidFill>
                          <a:latin typeface="Calibri"/>
                          <a:ea typeface="Calibri"/>
                          <a:cs typeface="Calibri"/>
                        </a:rPr>
                        <a:t>41–50岁</a:t>
                      </a:r>
                    </a:p>
                  </a:txBody>
                  <a:tcPr marL="57150" marR="57150" marT="47625" marB="47625" anchor="ctr">
                    <a:solidFill>
                      <a:srgbClr val="1B3A5C"/>
                    </a:solidFill>
                  </a:tcPr>
                </a:tc>
                <a:tc>
                  <a:txBody>
                    <a:bodyPr/>
                    <a:lstStyle/>
                    <a:p>
                      <a:pPr algn="ctr"/>
                      <a:r>
                        <a:rPr sz="1125" b="1">
                          <a:solidFill>
                            <a:srgbClr val="FFFFFF"/>
                          </a:solidFill>
                          <a:latin typeface="Calibri"/>
                          <a:ea typeface="Calibri"/>
                          <a:cs typeface="Calibri"/>
                        </a:rPr>
                        <a:t>51–60岁</a:t>
                      </a:r>
                    </a:p>
                  </a:txBody>
                  <a:tcPr marL="57150" marR="57150" marT="47625" marB="47625" anchor="ctr">
                    <a:solidFill>
                      <a:srgbClr val="1B3A5C"/>
                    </a:solidFill>
                  </a:tcPr>
                </a:tc>
                <a:tc>
                  <a:txBody>
                    <a:bodyPr/>
                    <a:lstStyle/>
                    <a:p>
                      <a:pPr algn="ctr"/>
                      <a:r>
                        <a:rPr sz="1125" b="1">
                          <a:solidFill>
                            <a:srgbClr val="FFFFFF"/>
                          </a:solidFill>
                          <a:latin typeface="Calibri"/>
                          <a:ea typeface="Calibri"/>
                          <a:cs typeface="Calibri"/>
                        </a:rPr>
                        <a:t>61–70岁</a:t>
                      </a:r>
                    </a:p>
                  </a:txBody>
                  <a:tcPr marL="57150" marR="57150" marT="47625" marB="47625" anchor="ctr">
                    <a:solidFill>
                      <a:srgbClr val="1B3A5C"/>
                    </a:solidFill>
                  </a:tcPr>
                </a:tc>
              </a:tr>
              <a:tr h="426720">
                <a:tc>
                  <a:txBody>
                    <a:bodyPr/>
                    <a:lstStyle/>
                    <a:p>
                      <a:pPr algn="ctr"/>
                      <a:r>
                        <a:rPr sz="1125">
                          <a:solidFill>
                            <a:srgbClr val="111111"/>
                          </a:solidFill>
                          <a:latin typeface="Calibri"/>
                          <a:ea typeface="Calibri"/>
                          <a:cs typeface="Calibri"/>
                        </a:rPr>
                        <a:t>聚类系数 C</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母语</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.937</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.927</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.932</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.942</a:t>
                      </a:r>
                    </a:p>
                  </a:txBody>
                  <a:tcPr marL="57150" marR="57150" marT="47625" marB="47625" anchor="ctr">
                    <a:solidFill>
                      <a:srgbClr val="EAF2F8"/>
                    </a:solidFill>
                  </a:tcPr>
                </a:tc>
              </a:tr>
              <a:tr h="426720">
                <a:tc>
                  <a:txBody>
                    <a:bodyPr/>
                    <a:lstStyle/>
                    <a:p>
                      <a:pPr algn="ctr"/>
                      <a:r>
                        <a:rPr sz="1125">
                          <a:solidFill>
                            <a:srgbClr val="111111"/>
                          </a:solidFill>
                          <a:latin typeface="Calibri"/>
                          <a:ea typeface="Calibri"/>
                          <a:cs typeface="Calibri"/>
                        </a:rPr>
                        <a:t>聚类系数 C</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二语</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.914</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.892</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.913</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.906</a:t>
                      </a:r>
                    </a:p>
                  </a:txBody>
                  <a:tcPr marL="57150" marR="57150" marT="47625" marB="47625" anchor="ctr">
                    <a:solidFill>
                      <a:srgbClr val="FFFFFF"/>
                    </a:solidFill>
                  </a:tcPr>
                </a:tc>
              </a:tr>
              <a:tr h="426720">
                <a:tc>
                  <a:txBody>
                    <a:bodyPr/>
                    <a:lstStyle/>
                    <a:p>
                      <a:pPr algn="ctr"/>
                      <a:r>
                        <a:rPr sz="1125">
                          <a:solidFill>
                            <a:srgbClr val="111111"/>
                          </a:solidFill>
                          <a:latin typeface="Calibri"/>
                          <a:ea typeface="Calibri"/>
                          <a:cs typeface="Calibri"/>
                        </a:rPr>
                        <a:t>模块度 Q（原始网络）</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母语</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.746</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.721</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.692</a:t>
                      </a:r>
                    </a:p>
                  </a:txBody>
                  <a:tcPr marL="57150" marR="57150" marT="47625" marB="47625" anchor="ctr">
                    <a:solidFill>
                      <a:srgbClr val="EAF2F8"/>
                    </a:solidFill>
                  </a:tcPr>
                </a:tc>
                <a:tc>
                  <a:txBody>
                    <a:bodyPr/>
                    <a:lstStyle/>
                    <a:p>
                      <a:pPr algn="ctr"/>
                      <a:r>
                        <a:rPr sz="1125">
                          <a:solidFill>
                            <a:srgbClr val="111111"/>
                          </a:solidFill>
                          <a:latin typeface="Calibri"/>
                          <a:ea typeface="Calibri"/>
                          <a:cs typeface="Calibri"/>
                        </a:rPr>
                        <a:t>.767</a:t>
                      </a:r>
                    </a:p>
                  </a:txBody>
                  <a:tcPr marL="57150" marR="57150" marT="47625" marB="47625" anchor="ctr">
                    <a:solidFill>
                      <a:srgbClr val="EAF2F8"/>
                    </a:solidFill>
                  </a:tcPr>
                </a:tc>
              </a:tr>
              <a:tr h="426720">
                <a:tc>
                  <a:txBody>
                    <a:bodyPr/>
                    <a:lstStyle/>
                    <a:p>
                      <a:pPr algn="ctr"/>
                      <a:r>
                        <a:rPr sz="1125">
                          <a:solidFill>
                            <a:srgbClr val="111111"/>
                          </a:solidFill>
                          <a:latin typeface="Calibri"/>
                          <a:ea typeface="Calibri"/>
                          <a:cs typeface="Calibri"/>
                        </a:rPr>
                        <a:t>模块度 Q（原始网络）</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二语</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.686</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.598</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.718</a:t>
                      </a:r>
                    </a:p>
                  </a:txBody>
                  <a:tcPr marL="57150" marR="57150" marT="47625" marB="47625" anchor="ctr">
                    <a:solidFill>
                      <a:srgbClr val="FFFFFF"/>
                    </a:solidFill>
                  </a:tcPr>
                </a:tc>
                <a:tc>
                  <a:txBody>
                    <a:bodyPr/>
                    <a:lstStyle/>
                    <a:p>
                      <a:pPr algn="ctr"/>
                      <a:r>
                        <a:rPr sz="1125">
                          <a:solidFill>
                            <a:srgbClr val="111111"/>
                          </a:solidFill>
                          <a:latin typeface="Calibri"/>
                          <a:ea typeface="Calibri"/>
                          <a:cs typeface="Calibri"/>
                        </a:rPr>
                        <a:t>.653</a:t>
                      </a:r>
                    </a:p>
                  </a:txBody>
                  <a:tcPr marL="57150" marR="571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889E7F4-CA5F-472C-89F0-6C737BF722F8}"/>
              </a:ext>
            </a:extLst>
          </p:cNvPr>
          <p:cNvSpPr>
            <a:spLocks xmlns:a="http://schemas.openxmlformats.org/drawingml/2006/main" noGrp="1"/>
          </p:cNvSpPr>
          <p:nvPr/>
        </p:nvSpPr>
        <p:spPr>
          <a:xfrm xmlns:a="http://schemas.openxmlformats.org/drawingml/2006/main">
            <a:off x="609600" y="3371850"/>
            <a:ext cx="792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13" b="1">
                <a:solidFill>
                  <a:srgbClr val="1B3A5C"/>
                </a:solidFill>
                <a:latin typeface="Calibri"/>
                <a:ea typeface="Calibri"/>
                <a:cs typeface="Calibri"/>
              </a:defRPr>
            </a:defPPr>
          </a:lstStyle>
          <a:p xmlns:a="http://schemas.openxmlformats.org/drawingml/2006/main">
            <a:pPr algn="l">
              <a:lnSpc>
                <a:spcPct val="125000"/>
              </a:lnSpc>
              <a:buNone/>
              <a:defRPr sz="1313" b="1">
                <a:solidFill>
                  <a:srgbClr val="1B3A5C"/>
                </a:solidFill>
                <a:latin typeface="Calibri"/>
                <a:ea typeface="Calibri"/>
                <a:cs typeface="Calibri"/>
              </a:defRPr>
            </a:pPr>
            <a:r>
              <a:rPr sz="1313" b="1">
                <a:solidFill>
                  <a:srgbClr val="1B3A5C"/>
                </a:solidFill>
                <a:latin typeface="Calibri"/>
                <a:ea typeface="Calibri"/>
                <a:cs typeface="Calibri"/>
              </a:rPr>
              <a:t>聚类系数：母语在各年龄组均高于二语；两种语言均在41–50岁最低，之后轨迹分化。</a:t>
            </a:r>
          </a:p>
        </p:txBody>
      </p:sp>
      <p:sp>
        <p:nvSpPr>
          <p:cNvPr id="6" name="">
            <a:extLst xmlns:a="http://schemas.openxmlformats.org/drawingml/2006/main">
              <a:ext uri="{FF2B5EF4-FFF2-40B4-BE49-F238E27FC236}">
                <a16:creationId xmlns:a16="http://schemas.microsoft.com/office/drawing/2014/main" id="{B470DDBE-7D8F-46D8-8E30-633BED3BF383}"/>
              </a:ext>
            </a:extLst>
          </p:cNvPr>
          <p:cNvSpPr>
            <a:spLocks xmlns:a="http://schemas.openxmlformats.org/drawingml/2006/main" noGrp="1"/>
          </p:cNvSpPr>
          <p:nvPr/>
        </p:nvSpPr>
        <p:spPr>
          <a:xfrm xmlns:a="http://schemas.openxmlformats.org/drawingml/2006/main">
            <a:off x="609600" y="3943350"/>
            <a:ext cx="7924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13" b="1">
                <a:solidFill>
                  <a:srgbClr val="1B3A5C"/>
                </a:solidFill>
                <a:latin typeface="Calibri"/>
                <a:ea typeface="Calibri"/>
                <a:cs typeface="Calibri"/>
              </a:defRPr>
            </a:defPPr>
          </a:lstStyle>
          <a:p xmlns:a="http://schemas.openxmlformats.org/drawingml/2006/main">
            <a:pPr algn="l">
              <a:lnSpc>
                <a:spcPct val="125000"/>
              </a:lnSpc>
              <a:buNone/>
              <a:defRPr sz="1313" b="1">
                <a:solidFill>
                  <a:srgbClr val="1B3A5C"/>
                </a:solidFill>
                <a:latin typeface="Calibri"/>
                <a:ea typeface="Calibri"/>
                <a:cs typeface="Calibri"/>
              </a:defRPr>
            </a:pPr>
            <a:r>
              <a:rPr sz="1313" b="1">
                <a:solidFill>
                  <a:srgbClr val="1B3A5C"/>
                </a:solidFill>
                <a:latin typeface="Calibri"/>
                <a:ea typeface="Calibri"/>
                <a:cs typeface="Calibri"/>
              </a:rPr>
              <a:t>模块度：母语在晚年明显上升；二语在51–60岁反弹后下降。Q表中列示原始网络值，显著性检验基于1000节点子图。</a:t>
            </a:r>
          </a:p>
        </p:txBody>
      </p:sp>
    </p:spTree>
    <p:extLst>
      <p:ext uri="{BB962C8B-B14F-4D97-AF65-F5344CB8AC3E}">
        <p14:creationId xmlns:p14="http://schemas.microsoft.com/office/powerpoint/2010/main" val="20314891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A62DB8-2D64-4743-9BE9-EBD80D632BC8}"/>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77A874-D64E-4121-9619-BA4880C9A2D7}"/>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873B74-B08D-422A-9AB3-6730FB60D001}"/>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主要结果：母语与二语差异</a:t>
            </a:r>
          </a:p>
        </p:txBody>
      </p:sp>
      <p:graphicFrame>
        <p:nvGraphicFramePr>
          <p:cNvPr id="4" name="">
            <a:extLst xmlns:a="http://schemas.openxmlformats.org/drawingml/2006/main">
              <a:ext uri="{FF2B5EF4-FFF2-40B4-BE49-F238E27FC236}">
                <a16:creationId xmlns:a16="http://schemas.microsoft.com/office/drawing/2014/main" id="{2A600608-D635-4556-949E-1A49ED37E4A3}"/>
              </a:ext>
            </a:extLst>
          </p:cNvPr>
          <p:cNvGraphicFramePr/>
          <p:nvPr/>
        </p:nvGraphicFramePr>
        <p:xfrm>
          <a:off xmlns:a="http://schemas.openxmlformats.org/drawingml/2006/main" x="571500" y="1181100"/>
          <a:ext xmlns:a="http://schemas.openxmlformats.org/drawingml/2006/main" cx="8001000" cy="2305050"/>
        </p:xfrm>
        <a:graphic xmlns:a="http://schemas.openxmlformats.org/drawingml/2006/main">
          <a:graphicData uri="http://schemas.openxmlformats.org/drawingml/2006/table">
            <a:tbl>
              <a:tblPr/>
              <a:tblGrid>
                <a:gridCol w="1619250"/>
                <a:gridCol w="4524375"/>
                <a:gridCol w="1857375"/>
              </a:tblGrid>
              <a:tr h="461010">
                <a:tc>
                  <a:txBody>
                    <a:bodyPr/>
                    <a:lstStyle/>
                    <a:p>
                      <a:pPr algn="ctr"/>
                      <a:r>
                        <a:rPr sz="1200" b="1">
                          <a:solidFill>
                            <a:srgbClr val="FFFFFF"/>
                          </a:solidFill>
                          <a:latin typeface="Calibri"/>
                          <a:ea typeface="Calibri"/>
                          <a:cs typeface="Calibri"/>
                        </a:rPr>
                        <a:t>指标</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主要语言差异</a:t>
                      </a:r>
                    </a:p>
                  </a:txBody>
                  <a:tcPr marL="57150" marR="57150" marT="47625" marB="47625" anchor="ctr">
                    <a:solidFill>
                      <a:srgbClr val="1B3A5C"/>
                    </a:solidFill>
                  </a:tcPr>
                </a:tc>
                <a:tc>
                  <a:txBody>
                    <a:bodyPr/>
                    <a:lstStyle/>
                    <a:p>
                      <a:pPr algn="ctr"/>
                      <a:r>
                        <a:rPr sz="1200" b="1">
                          <a:solidFill>
                            <a:srgbClr val="FFFFFF"/>
                          </a:solidFill>
                          <a:latin typeface="Calibri"/>
                          <a:ea typeface="Calibri"/>
                          <a:cs typeface="Calibri"/>
                        </a:rPr>
                        <a:t>语言主效应 ηp²</a:t>
                      </a:r>
                    </a:p>
                  </a:txBody>
                  <a:tcPr marL="57150" marR="57150" marT="47625" marB="47625" anchor="ctr">
                    <a:solidFill>
                      <a:srgbClr val="1B3A5C"/>
                    </a:solidFill>
                  </a:tcPr>
                </a:tc>
              </a:tr>
              <a:tr h="461010">
                <a:tc>
                  <a:txBody>
                    <a:bodyPr/>
                    <a:lstStyle/>
                    <a:p>
                      <a:pPr algn="ctr"/>
                      <a:r>
                        <a:rPr sz="1200">
                          <a:solidFill>
                            <a:srgbClr val="111111"/>
                          </a:solidFill>
                          <a:latin typeface="Calibri"/>
                          <a:ea typeface="Calibri"/>
                          <a:cs typeface="Calibri"/>
                        </a:rPr>
                        <a:t>平均度〈k〉</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母语较高：30–40、41–50、51–60岁；61–70岁二语略高</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.802</a:t>
                      </a:r>
                    </a:p>
                  </a:txBody>
                  <a:tcPr marL="57150" marR="57150" marT="47625" marB="47625" anchor="ctr">
                    <a:solidFill>
                      <a:srgbClr val="EAF2F8"/>
                    </a:solidFill>
                  </a:tcPr>
                </a:tc>
              </a:tr>
              <a:tr h="461010">
                <a:tc>
                  <a:txBody>
                    <a:bodyPr/>
                    <a:lstStyle/>
                    <a:p>
                      <a:pPr algn="ctr"/>
                      <a:r>
                        <a:rPr sz="1200">
                          <a:solidFill>
                            <a:srgbClr val="111111"/>
                          </a:solidFill>
                          <a:latin typeface="Calibri"/>
                          <a:ea typeface="Calibri"/>
                          <a:cs typeface="Calibri"/>
                        </a:rPr>
                        <a:t>最短路径 L</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母语较高：30–40、41–50、61–70岁；51–60岁相反</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.796</a:t>
                      </a:r>
                    </a:p>
                  </a:txBody>
                  <a:tcPr marL="57150" marR="57150" marT="47625" marB="47625" anchor="ctr">
                    <a:solidFill>
                      <a:srgbClr val="FFFFFF"/>
                    </a:solidFill>
                  </a:tcPr>
                </a:tc>
              </a:tr>
              <a:tr h="461010">
                <a:tc>
                  <a:txBody>
                    <a:bodyPr/>
                    <a:lstStyle/>
                    <a:p>
                      <a:pPr algn="ctr"/>
                      <a:r>
                        <a:rPr sz="1200">
                          <a:solidFill>
                            <a:srgbClr val="111111"/>
                          </a:solidFill>
                          <a:latin typeface="Calibri"/>
                          <a:ea typeface="Calibri"/>
                          <a:cs typeface="Calibri"/>
                        </a:rPr>
                        <a:t>聚类系数 C</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母语高于二语（四个年龄组）</a:t>
                      </a:r>
                    </a:p>
                  </a:txBody>
                  <a:tcPr marL="57150" marR="57150" marT="47625" marB="47625" anchor="ctr">
                    <a:solidFill>
                      <a:srgbClr val="EAF2F8"/>
                    </a:solidFill>
                  </a:tcPr>
                </a:tc>
                <a:tc>
                  <a:txBody>
                    <a:bodyPr/>
                    <a:lstStyle/>
                    <a:p>
                      <a:pPr algn="ctr"/>
                      <a:r>
                        <a:rPr sz="1200">
                          <a:solidFill>
                            <a:srgbClr val="111111"/>
                          </a:solidFill>
                          <a:latin typeface="Calibri"/>
                          <a:ea typeface="Calibri"/>
                          <a:cs typeface="Calibri"/>
                        </a:rPr>
                        <a:t>.973</a:t>
                      </a:r>
                    </a:p>
                  </a:txBody>
                  <a:tcPr marL="57150" marR="57150" marT="47625" marB="47625" anchor="ctr">
                    <a:solidFill>
                      <a:srgbClr val="EAF2F8"/>
                    </a:solidFill>
                  </a:tcPr>
                </a:tc>
              </a:tr>
              <a:tr h="461010">
                <a:tc>
                  <a:txBody>
                    <a:bodyPr/>
                    <a:lstStyle/>
                    <a:p>
                      <a:pPr algn="ctr"/>
                      <a:r>
                        <a:rPr sz="1200">
                          <a:solidFill>
                            <a:srgbClr val="111111"/>
                          </a:solidFill>
                          <a:latin typeface="Calibri"/>
                          <a:ea typeface="Calibri"/>
                          <a:cs typeface="Calibri"/>
                        </a:rPr>
                        <a:t>模块度 Q</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母语高于二语（四个年龄组）</a:t>
                      </a:r>
                    </a:p>
                  </a:txBody>
                  <a:tcPr marL="57150" marR="57150" marT="47625" marB="47625" anchor="ctr">
                    <a:solidFill>
                      <a:srgbClr val="FFFFFF"/>
                    </a:solidFill>
                  </a:tcPr>
                </a:tc>
                <a:tc>
                  <a:txBody>
                    <a:bodyPr/>
                    <a:lstStyle/>
                    <a:p>
                      <a:pPr algn="ctr"/>
                      <a:r>
                        <a:rPr sz="1200">
                          <a:solidFill>
                            <a:srgbClr val="111111"/>
                          </a:solidFill>
                          <a:latin typeface="Calibri"/>
                          <a:ea typeface="Calibri"/>
                          <a:cs typeface="Calibri"/>
                        </a:rPr>
                        <a:t>.951</a:t>
                      </a:r>
                    </a:p>
                  </a:txBody>
                  <a:tcPr marL="57150" marR="57150" marT="47625" marB="476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46DCD6-13E9-42E8-AD4D-9F63D0FBEFBF}"/>
              </a:ext>
            </a:extLst>
          </p:cNvPr>
          <p:cNvSpPr>
            <a:spLocks xmlns:a="http://schemas.openxmlformats.org/drawingml/2006/main" noGrp="1"/>
          </p:cNvSpPr>
          <p:nvPr/>
        </p:nvSpPr>
        <p:spPr>
          <a:xfrm xmlns:a="http://schemas.openxmlformats.org/drawingml/2006/main">
            <a:off x="609600" y="3848100"/>
            <a:ext cx="7924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1B3A5C"/>
                </a:solidFill>
                <a:latin typeface="Calibri"/>
                <a:ea typeface="Calibri"/>
                <a:cs typeface="Calibri"/>
              </a:defRPr>
            </a:defPPr>
          </a:lstStyle>
          <a:p xmlns:a="http://schemas.openxmlformats.org/drawingml/2006/main">
            <a:pPr algn="l">
              <a:lnSpc>
                <a:spcPct val="125000"/>
              </a:lnSpc>
              <a:buNone/>
              <a:defRPr sz="1350" b="1">
                <a:solidFill>
                  <a:srgbClr val="1B3A5C"/>
                </a:solidFill>
                <a:latin typeface="Calibri"/>
                <a:ea typeface="Calibri"/>
                <a:cs typeface="Calibri"/>
              </a:defRPr>
            </a:pPr>
            <a:r>
              <a:rPr sz="1350" b="1">
                <a:solidFill>
                  <a:srgbClr val="1B3A5C"/>
                </a:solidFill>
                <a:latin typeface="Calibri"/>
                <a:ea typeface="Calibri"/>
                <a:cs typeface="Calibri"/>
              </a:rPr>
              <a:t>整体上，母语的连接、局部聚集和模块化均高于二语；二语的年龄变化幅度更大。语言主效应均显著。</a:t>
            </a:r>
          </a:p>
        </p:txBody>
      </p:sp>
    </p:spTree>
    <p:extLst>
      <p:ext uri="{BB962C8B-B14F-4D97-AF65-F5344CB8AC3E}">
        <p14:creationId xmlns:p14="http://schemas.microsoft.com/office/powerpoint/2010/main" val="4812112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F0732D-C686-42D0-BFC2-186658A3E55F}"/>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B4EDD1-9643-48CC-B1D9-7C7D66BEA316}"/>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6710F0-ED6B-4E52-A5B2-D5B686A642B1}"/>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结果解释</a:t>
            </a:r>
          </a:p>
        </p:txBody>
      </p:sp>
      <p:sp>
        <p:nvSpPr>
          <p:cNvPr id="4" name="">
            <a:extLst xmlns:a="http://schemas.openxmlformats.org/drawingml/2006/main">
              <a:ext uri="{FF2B5EF4-FFF2-40B4-BE49-F238E27FC236}">
                <a16:creationId xmlns:a16="http://schemas.microsoft.com/office/drawing/2014/main" id="{5443F0DA-FD21-497C-BB7E-5D22AC40BD0C}"/>
              </a:ext>
            </a:extLst>
          </p:cNvPr>
          <p:cNvSpPr>
            <a:spLocks xmlns:a="http://schemas.openxmlformats.org/drawingml/2006/main" noGrp="1"/>
          </p:cNvSpPr>
          <p:nvPr/>
        </p:nvSpPr>
        <p:spPr>
          <a:xfrm xmlns:a="http://schemas.openxmlformats.org/drawingml/2006/main">
            <a:off x="609600" y="1123950"/>
            <a:ext cx="79248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非线性发展轨迹</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四项指标均呈非线性变化。平均度整体呈倒U形，41–50岁达到峰值；平均最短路径、聚类系数和模块度总体呈U形，中年阶段处于较低水平。30–40岁至41–50岁的变化最明显，二语网络尤为突出。</a:t>
            </a:r>
          </a:p>
        </p:txBody>
      </p:sp>
      <p:sp>
        <p:nvSpPr>
          <p:cNvPr id="5" name="">
            <a:extLst xmlns:a="http://schemas.openxmlformats.org/drawingml/2006/main">
              <a:ext uri="{FF2B5EF4-FFF2-40B4-BE49-F238E27FC236}">
                <a16:creationId xmlns:a16="http://schemas.microsoft.com/office/drawing/2014/main" id="{4796E431-BD9B-416E-814A-7BACA95FBFD8}"/>
              </a:ext>
            </a:extLst>
          </p:cNvPr>
          <p:cNvSpPr>
            <a:spLocks xmlns:a="http://schemas.openxmlformats.org/drawingml/2006/main" noGrp="1"/>
          </p:cNvSpPr>
          <p:nvPr/>
        </p:nvSpPr>
        <p:spPr>
          <a:xfrm xmlns:a="http://schemas.openxmlformats.org/drawingml/2006/main">
            <a:off x="609600" y="2857500"/>
            <a:ext cx="7924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老化、语言经验与补偿</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参与者均为高教育水平、持续使用英语的大学教师。持续的语言和认知活动可能延长词汇网络扩展，并支持中晚年阶段的补偿性重组。</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晚年模块度上升可能反映社群分隔增强或语义类别切换减少。研究结果同时体现年龄变化与终身学习的作用，现有数据尚不能完全区分表征丰富化和提取过程。</a:t>
            </a:r>
          </a:p>
        </p:txBody>
      </p:sp>
    </p:spTree>
    <p:extLst>
      <p:ext uri="{BB962C8B-B14F-4D97-AF65-F5344CB8AC3E}">
        <p14:creationId xmlns:p14="http://schemas.microsoft.com/office/powerpoint/2010/main" val="993789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997677-71AF-443E-B46F-14B29D7DC56B}"/>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52EF82-C21C-420F-8E29-3530218E57BE}"/>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54201D-8273-4BAA-B8C0-B3C15AE142CA}"/>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研究贡献</a:t>
            </a:r>
          </a:p>
        </p:txBody>
      </p:sp>
      <p:sp>
        <p:nvSpPr>
          <p:cNvPr id="4" name="">
            <a:extLst xmlns:a="http://schemas.openxmlformats.org/drawingml/2006/main">
              <a:ext uri="{FF2B5EF4-FFF2-40B4-BE49-F238E27FC236}">
                <a16:creationId xmlns:a16="http://schemas.microsoft.com/office/drawing/2014/main" id="{100DEC81-AFF2-4C11-8A24-2A64614AF090}"/>
              </a:ext>
            </a:extLst>
          </p:cNvPr>
          <p:cNvSpPr>
            <a:spLocks xmlns:a="http://schemas.openxmlformats.org/drawingml/2006/main" noGrp="1"/>
          </p:cNvSpPr>
          <p:nvPr/>
        </p:nvSpPr>
        <p:spPr>
          <a:xfrm xmlns:a="http://schemas.openxmlformats.org/drawingml/2006/main">
            <a:off x="609600" y="1123950"/>
            <a:ext cx="79248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研究设计</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在同一批汉英双语成人中直接比较母语与二语自由词汇联想网络，覆盖30至70岁的四个年龄阶段。</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采用反应词—反应词网络，并通过1000节点广度优先搜索子图控制网络规模，结合统计检验比较年龄、语言及其交互作用。</a:t>
            </a:r>
          </a:p>
        </p:txBody>
      </p:sp>
      <p:sp>
        <p:nvSpPr>
          <p:cNvPr id="5" name="">
            <a:extLst xmlns:a="http://schemas.openxmlformats.org/drawingml/2006/main">
              <a:ext uri="{FF2B5EF4-FFF2-40B4-BE49-F238E27FC236}">
                <a16:creationId xmlns:a16="http://schemas.microsoft.com/office/drawing/2014/main" id="{9E3D55C6-7988-4EF2-AE37-55439EABDB1C}"/>
              </a:ext>
            </a:extLst>
          </p:cNvPr>
          <p:cNvSpPr>
            <a:spLocks xmlns:a="http://schemas.openxmlformats.org/drawingml/2006/main" noGrp="1"/>
          </p:cNvSpPr>
          <p:nvPr/>
        </p:nvSpPr>
        <p:spPr>
          <a:xfrm xmlns:a="http://schemas.openxmlformats.org/drawingml/2006/main">
            <a:off x="609600" y="3181350"/>
            <a:ext cx="7924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理论价值</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研究识别出中年阶段的网络转折及二语更强的年龄波动，说明双语词汇老化包含阶段性变化，并受到语言经验、知识积累和补偿性重组的共同影响。</a:t>
            </a:r>
          </a:p>
        </p:txBody>
      </p:sp>
    </p:spTree>
    <p:extLst>
      <p:ext uri="{BB962C8B-B14F-4D97-AF65-F5344CB8AC3E}">
        <p14:creationId xmlns:p14="http://schemas.microsoft.com/office/powerpoint/2010/main" val="13183927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318EA0-5A2A-43C8-9E50-AE2BF0996627}"/>
              </a:ext>
            </a:extLst>
          </p:cNvPr>
          <p:cNvSpPr>
            <a:spLocks xmlns:a="http://schemas.openxmlformats.org/drawingml/2006/main" noGrp="1"/>
          </p:cNvSpPr>
          <p:nvPr/>
        </p:nvSpPr>
        <p:spPr>
          <a:xfrm xmlns:a="http://schemas.openxmlformats.org/drawingml/2006/main">
            <a:off x="0" y="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39CC42-4B92-445F-B53B-666CDBF47A3D}"/>
              </a:ext>
            </a:extLst>
          </p:cNvPr>
          <p:cNvSpPr>
            <a:spLocks xmlns:a="http://schemas.openxmlformats.org/drawingml/2006/main" noGrp="1"/>
          </p:cNvSpPr>
          <p:nvPr/>
        </p:nvSpPr>
        <p:spPr>
          <a:xfrm xmlns:a="http://schemas.openxmlformats.org/drawingml/2006/main">
            <a:off x="0" y="5105400"/>
            <a:ext cx="9144000" cy="38100"/>
          </a:xfrm>
          <a:prstGeom xmlns:a="http://schemas.openxmlformats.org/drawingml/2006/main" prst="rect">
            <a:avLst/>
          </a:prstGeom>
          <a:solidFill xmlns:a="http://schemas.openxmlformats.org/drawingml/2006/main">
            <a:srgbClr val="1B3A5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F2581A-75E1-4949-B871-3D7929E499F6}"/>
              </a:ext>
            </a:extLst>
          </p:cNvPr>
          <p:cNvSpPr>
            <a:spLocks xmlns:a="http://schemas.openxmlformats.org/drawingml/2006/main" noGrp="1"/>
          </p:cNvSpPr>
          <p:nvPr/>
        </p:nvSpPr>
        <p:spPr>
          <a:xfrm xmlns:a="http://schemas.openxmlformats.org/drawingml/2006/main">
            <a:off x="457200" y="457200"/>
            <a:ext cx="822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B3A5C"/>
                </a:solidFill>
                <a:latin typeface="Calibri"/>
                <a:ea typeface="Calibri"/>
                <a:cs typeface="Calibri"/>
              </a:defRPr>
            </a:defPPr>
          </a:lstStyle>
          <a:p xmlns:a="http://schemas.openxmlformats.org/drawingml/2006/main">
            <a:pPr algn="l">
              <a:lnSpc>
                <a:spcPct val="100000"/>
              </a:lnSpc>
              <a:buNone/>
              <a:defRPr sz="2250" b="1">
                <a:solidFill>
                  <a:srgbClr val="1B3A5C"/>
                </a:solidFill>
                <a:latin typeface="Calibri"/>
                <a:ea typeface="Calibri"/>
                <a:cs typeface="Calibri"/>
              </a:defRPr>
            </a:pPr>
            <a:r>
              <a:rPr sz="2250" b="1">
                <a:solidFill>
                  <a:srgbClr val="1B3A5C"/>
                </a:solidFill>
                <a:latin typeface="Calibri"/>
                <a:ea typeface="Calibri"/>
                <a:cs typeface="Calibri"/>
              </a:rPr>
              <a:t>结论与研究局限</a:t>
            </a:r>
          </a:p>
        </p:txBody>
      </p:sp>
      <p:sp>
        <p:nvSpPr>
          <p:cNvPr id="4" name="">
            <a:extLst xmlns:a="http://schemas.openxmlformats.org/drawingml/2006/main">
              <a:ext uri="{FF2B5EF4-FFF2-40B4-BE49-F238E27FC236}">
                <a16:creationId xmlns:a16="http://schemas.microsoft.com/office/drawing/2014/main" id="{EA46F713-97AC-42ED-9650-BCBB0648B931}"/>
              </a:ext>
            </a:extLst>
          </p:cNvPr>
          <p:cNvSpPr>
            <a:spLocks xmlns:a="http://schemas.openxmlformats.org/drawingml/2006/main" noGrp="1"/>
          </p:cNvSpPr>
          <p:nvPr/>
        </p:nvSpPr>
        <p:spPr>
          <a:xfrm xmlns:a="http://schemas.openxmlformats.org/drawingml/2006/main">
            <a:off x="609600" y="1066800"/>
            <a:ext cx="79248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主要结论</a:t>
            </a:r>
          </a:p>
          <a:p xmlns:a="http://schemas.openxmlformats.org/drawingml/2006/main">
            <a:pPr>
              <a:lnSpc>
                <a:spcPct val="135000"/>
              </a:lnSpc>
              <a:spcAft>
                <a:spcPts val="7"/>
              </a:spcAft>
              <a:buNone/>
              <a:defRPr sz="1575">
                <a:solidFill>
                  <a:srgbClr val="111111"/>
                </a:solidFill>
                <a:latin typeface="Calibri"/>
                <a:ea typeface="Calibri"/>
                <a:cs typeface="Calibri"/>
              </a:defRPr>
            </a:pPr>
            <a:r>
              <a:rPr sz="1575">
                <a:solidFill>
                  <a:srgbClr val="111111"/>
                </a:solidFill>
                <a:latin typeface="Calibri"/>
                <a:ea typeface="Calibri"/>
                <a:cs typeface="Calibri"/>
              </a:rPr>
              <a:t>母语与二语词汇联想网络具有系统性的结构差异，四项网络指标均随年龄呈非线性变化。母语网络整体更稳定，二语网络的年龄波动更明显。网络分析为观察双语成人词汇系统的生命周期变化提供了新的行为证据。</a:t>
            </a:r>
          </a:p>
        </p:txBody>
      </p:sp>
      <p:sp>
        <p:nvSpPr>
          <p:cNvPr id="5" name="">
            <a:extLst xmlns:a="http://schemas.openxmlformats.org/drawingml/2006/main">
              <a:ext uri="{FF2B5EF4-FFF2-40B4-BE49-F238E27FC236}">
                <a16:creationId xmlns:a16="http://schemas.microsoft.com/office/drawing/2014/main" id="{C0BB552F-0F2C-4399-B30A-CAC3676A0CF8}"/>
              </a:ext>
            </a:extLst>
          </p:cNvPr>
          <p:cNvSpPr>
            <a:spLocks xmlns:a="http://schemas.openxmlformats.org/drawingml/2006/main" noGrp="1"/>
          </p:cNvSpPr>
          <p:nvPr/>
        </p:nvSpPr>
        <p:spPr>
          <a:xfrm xmlns:a="http://schemas.openxmlformats.org/drawingml/2006/main">
            <a:off x="609600" y="2800350"/>
            <a:ext cx="79248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Calibri"/>
                <a:ea typeface="Calibri"/>
                <a:cs typeface="Calibri"/>
              </a:defRPr>
            </a:defPPr>
          </a:lstStyle>
          <a:p xmlns:a="http://schemas.openxmlformats.org/drawingml/2006/main">
            <a:pPr>
              <a:lnSpc>
                <a:spcPct val="135000"/>
              </a:lnSpc>
              <a:spcAft>
                <a:spcPts val="8"/>
              </a:spcAft>
              <a:buNone/>
              <a:defRPr sz="1575">
                <a:solidFill>
                  <a:srgbClr val="111111"/>
                </a:solidFill>
                <a:latin typeface="Calibri"/>
                <a:ea typeface="Calibri"/>
                <a:cs typeface="Calibri"/>
              </a:defRPr>
            </a:pPr>
            <a:r>
              <a:rPr sz="1575" b="1">
                <a:solidFill>
                  <a:srgbClr val="111111"/>
                </a:solidFill>
                <a:latin typeface="Calibri"/>
                <a:ea typeface="Calibri"/>
                <a:cs typeface="Calibri"/>
              </a:rPr>
              <a:t>研究局限</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反应词—反应词网络与刺激词—反应词或语义相似性网络的结果仍需进一步比较。</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样本来自高教育水平、语言活动频繁的大学英语教师，且61–70岁组为27人，结论的普适性有限。</a:t>
            </a:r>
          </a:p>
          <a:p xmlns:a="http://schemas.openxmlformats.org/drawingml/2006/main">
            <a:pPr>
              <a:lnSpc>
                <a:spcPct val="135000"/>
              </a:lnSpc>
              <a:spcAft>
                <a:spcPts val="6"/>
              </a:spcAft>
              <a:buNone/>
              <a:defRPr sz="1575">
                <a:solidFill>
                  <a:srgbClr val="111111"/>
                </a:solidFill>
                <a:latin typeface="Calibri"/>
                <a:ea typeface="Calibri"/>
                <a:cs typeface="Calibri"/>
              </a:defRPr>
            </a:pPr>
            <a:r>
              <a:rPr sz="1575">
                <a:solidFill>
                  <a:srgbClr val="111111"/>
                </a:solidFill>
                <a:latin typeface="Calibri"/>
                <a:ea typeface="Calibri"/>
                <a:cs typeface="Calibri"/>
              </a:rPr>
              <a:t>群体网络不能直接检验个体内部的母语—二语关系；认知健康仅依据自我报告。后续研究可结合个体网络和标准化认知测评。</a:t>
            </a:r>
          </a:p>
        </p:txBody>
      </p:sp>
    </p:spTree>
    <p:extLst>
      <p:ext uri="{BB962C8B-B14F-4D97-AF65-F5344CB8AC3E}">
        <p14:creationId xmlns:p14="http://schemas.microsoft.com/office/powerpoint/2010/main" val="1375044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2026-10-10T17:05:13.8050000Z</dcterms:created>
  <dcterms:modified xsi:type="dcterms:W3CDTF">2026-10-10T17:05:13.8050000Z</dcterms:modified>
</coreProperties>
</file>